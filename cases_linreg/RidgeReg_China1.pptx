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0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4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0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0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6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0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8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5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8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7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78BBA-95DC-40B7-B671-2B504BF409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37024-4018-4399-A32A-62DEB6A90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8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.xlsx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8458200" cy="2362200"/>
          </a:xfrm>
        </p:spPr>
        <p:txBody>
          <a:bodyPr/>
          <a:lstStyle/>
          <a:p>
            <a:r>
              <a:rPr lang="en-US" dirty="0"/>
              <a:t>Population Characteristics and Carbon Emissions in China (1978-2008)</a:t>
            </a:r>
          </a:p>
          <a:p>
            <a:endParaRPr lang="en-US" dirty="0"/>
          </a:p>
          <a:p>
            <a:pPr algn="l"/>
            <a:r>
              <a:rPr lang="en-US" sz="1400" b="1" dirty="0"/>
              <a:t>Q. Zhu and </a:t>
            </a:r>
            <a:r>
              <a:rPr lang="en-US" sz="1400" dirty="0"/>
              <a:t>X. </a:t>
            </a:r>
            <a:r>
              <a:rPr lang="en-US" sz="1400" dirty="0" err="1"/>
              <a:t>Peng</a:t>
            </a:r>
            <a:r>
              <a:rPr lang="en-US" sz="1400" dirty="0"/>
              <a:t> (2012). “The Impacts of Population Change on Carbon Emissions in  China During 1978-2008,” </a:t>
            </a:r>
            <a:r>
              <a:rPr lang="en-US" sz="1400" i="1" dirty="0"/>
              <a:t>Environmental Impact Assessment Review</a:t>
            </a:r>
            <a:r>
              <a:rPr lang="en-US" sz="1400" dirty="0"/>
              <a:t>, Vol. 36, pp. 1-8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6428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Description/Model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3886200"/>
          </a:xfrm>
        </p:spPr>
        <p:txBody>
          <a:bodyPr/>
          <a:lstStyle/>
          <a:p>
            <a:r>
              <a:rPr lang="en-US" dirty="0"/>
              <a:t>Data Years: 1978-2008 (n = 31 Years)</a:t>
            </a:r>
          </a:p>
          <a:p>
            <a:r>
              <a:rPr lang="en-US" dirty="0"/>
              <a:t>Dependent Variable – </a:t>
            </a:r>
            <a:r>
              <a:rPr lang="en-US" b="1" dirty="0"/>
              <a:t>C</a:t>
            </a:r>
            <a:r>
              <a:rPr lang="en-US" dirty="0"/>
              <a:t>arbon Emissions (million-tons)</a:t>
            </a:r>
          </a:p>
          <a:p>
            <a:r>
              <a:rPr lang="en-US" dirty="0"/>
              <a:t>Independent Variables</a:t>
            </a:r>
          </a:p>
          <a:p>
            <a:pPr lvl="1"/>
            <a:r>
              <a:rPr lang="en-US" b="1" dirty="0"/>
              <a:t>P</a:t>
            </a:r>
            <a:r>
              <a:rPr lang="en-US" dirty="0"/>
              <a:t>opulation (10,000s)</a:t>
            </a:r>
          </a:p>
          <a:p>
            <a:pPr lvl="1"/>
            <a:r>
              <a:rPr lang="en-US" b="1" dirty="0"/>
              <a:t>U</a:t>
            </a:r>
            <a:r>
              <a:rPr lang="en-US" dirty="0"/>
              <a:t>rbanization Rate (%) </a:t>
            </a:r>
          </a:p>
          <a:p>
            <a:pPr lvl="1"/>
            <a:r>
              <a:rPr lang="en-US" dirty="0"/>
              <a:t>Percentage of Population of </a:t>
            </a:r>
            <a:r>
              <a:rPr lang="en-US" b="1" dirty="0"/>
              <a:t>W</a:t>
            </a:r>
            <a:r>
              <a:rPr lang="en-US" dirty="0"/>
              <a:t>orking Age (%)</a:t>
            </a:r>
          </a:p>
          <a:p>
            <a:pPr lvl="1"/>
            <a:r>
              <a:rPr lang="en-US" dirty="0"/>
              <a:t>Average </a:t>
            </a:r>
            <a:r>
              <a:rPr lang="en-US" b="1" dirty="0"/>
              <a:t>H</a:t>
            </a:r>
            <a:r>
              <a:rPr lang="en-US" dirty="0"/>
              <a:t>ousehold Size (persons/</a:t>
            </a:r>
            <a:r>
              <a:rPr lang="en-US" dirty="0" err="1"/>
              <a:t>hhold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Per Capita </a:t>
            </a:r>
            <a:r>
              <a:rPr lang="en-US" b="1" dirty="0"/>
              <a:t>E</a:t>
            </a:r>
            <a:r>
              <a:rPr lang="en-US" dirty="0"/>
              <a:t>xpenditures (Adjusted to Year=2000)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 descr="Regression model fpr China carbon emission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573874"/>
              </p:ext>
            </p:extLst>
          </p:nvPr>
        </p:nvGraphicFramePr>
        <p:xfrm>
          <a:off x="381000" y="5053013"/>
          <a:ext cx="8432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120" imgH="482400" progId="Equation.DSMT4">
                  <p:embed/>
                </p:oleObj>
              </mc:Choice>
              <mc:Fallback>
                <p:oleObj name="Equation" r:id="rId2" imgW="4686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5053013"/>
                        <a:ext cx="8432800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952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Correlation Transformation</a:t>
            </a:r>
          </a:p>
        </p:txBody>
      </p:sp>
      <p:graphicFrame>
        <p:nvGraphicFramePr>
          <p:cNvPr id="3" name="Object 2" descr="Correlation transformation for Y and all predictor variabl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567700"/>
              </p:ext>
            </p:extLst>
          </p:nvPr>
        </p:nvGraphicFramePr>
        <p:xfrm>
          <a:off x="479425" y="1143000"/>
          <a:ext cx="8262938" cy="531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36880" imgH="3047760" progId="Equation.DSMT4">
                  <p:embed/>
                </p:oleObj>
              </mc:Choice>
              <mc:Fallback>
                <p:oleObj name="Equation" r:id="rId2" imgW="4736880" imgH="3047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9425" y="1143000"/>
                        <a:ext cx="8262938" cy="531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97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3" name="Object 2" descr="Correlation matrix among predictors and the vector of correlations between Y and each predicto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716913"/>
              </p:ext>
            </p:extLst>
          </p:nvPr>
        </p:nvGraphicFramePr>
        <p:xfrm>
          <a:off x="762000" y="1143000"/>
          <a:ext cx="7634484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276673" imgH="1152616" progId="Excel.Sheet.12">
                  <p:embed/>
                </p:oleObj>
              </mc:Choice>
              <mc:Fallback>
                <p:oleObj name="Worksheet" r:id="rId2" imgW="4276673" imgH="11526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143000"/>
                        <a:ext cx="7634484" cy="205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3362190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the X-variables are very highly correlated, causing problems when it is inverted and used to obtain the least squares estimate of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 and is variance-covariance matrix.</a:t>
            </a:r>
          </a:p>
          <a:p>
            <a:r>
              <a:rPr lang="en-US" dirty="0"/>
              <a:t>Eigenvalues of </a:t>
            </a:r>
            <a:r>
              <a:rPr lang="en-US" b="1" dirty="0"/>
              <a:t>X</a:t>
            </a:r>
            <a:r>
              <a:rPr lang="en-US" b="1" baseline="30000" dirty="0"/>
              <a:t>*</a:t>
            </a:r>
            <a:r>
              <a:rPr lang="en-US" b="1" dirty="0"/>
              <a:t>’X</a:t>
            </a:r>
            <a:r>
              <a:rPr lang="en-US" b="1" baseline="30000" dirty="0"/>
              <a:t>* </a:t>
            </a:r>
            <a:r>
              <a:rPr lang="en-US" b="1" dirty="0"/>
              <a:t> :                                                               (X’X)</a:t>
            </a:r>
            <a:r>
              <a:rPr lang="en-US" b="1" baseline="30000" dirty="0"/>
              <a:t>-1</a:t>
            </a:r>
            <a:r>
              <a:rPr lang="en-US" b="1" dirty="0"/>
              <a:t>: </a:t>
            </a:r>
          </a:p>
        </p:txBody>
      </p:sp>
      <p:graphicFrame>
        <p:nvGraphicFramePr>
          <p:cNvPr id="6" name="Object 5" descr="Eigenvalues of the correlation matrix among predictors along with proportion of variation accounted for by each predictor. Inverse of the correlation matrix among predict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156542"/>
              </p:ext>
            </p:extLst>
          </p:nvPr>
        </p:nvGraphicFramePr>
        <p:xfrm>
          <a:off x="342900" y="4495800"/>
          <a:ext cx="8229600" cy="1412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715049" imgH="1152616" progId="Excel.Sheet.12">
                  <p:embed/>
                </p:oleObj>
              </mc:Choice>
              <mc:Fallback>
                <p:oleObj name="Worksheet" r:id="rId4" imgW="6715049" imgH="11526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900" y="4495800"/>
                        <a:ext cx="8229600" cy="1412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0766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VIF</a:t>
            </a:r>
            <a:r>
              <a:rPr lang="en-US" b="1" baseline="-25000" dirty="0"/>
              <a:t>1</a:t>
            </a:r>
            <a:r>
              <a:rPr lang="en-US" b="1" dirty="0"/>
              <a:t> = 50.62     VIF</a:t>
            </a:r>
            <a:r>
              <a:rPr lang="en-US" b="1" baseline="-25000" dirty="0"/>
              <a:t>2</a:t>
            </a:r>
            <a:r>
              <a:rPr lang="en-US" b="1" dirty="0"/>
              <a:t> = 147.72     VIF</a:t>
            </a:r>
            <a:r>
              <a:rPr lang="en-US" b="1" baseline="-25000" dirty="0"/>
              <a:t>3</a:t>
            </a:r>
            <a:r>
              <a:rPr lang="en-US" b="1" dirty="0"/>
              <a:t> = 31.40         VIF</a:t>
            </a:r>
            <a:r>
              <a:rPr lang="en-US" b="1" baseline="-25000" dirty="0"/>
              <a:t>4</a:t>
            </a:r>
            <a:r>
              <a:rPr lang="en-US" b="1" dirty="0"/>
              <a:t> = 122.38      VIF</a:t>
            </a:r>
            <a:r>
              <a:rPr lang="en-US" b="1" baseline="-25000" dirty="0"/>
              <a:t>5</a:t>
            </a:r>
            <a:r>
              <a:rPr lang="en-US" b="1" dirty="0"/>
              <a:t> = 213.60</a:t>
            </a:r>
          </a:p>
        </p:txBody>
      </p:sp>
    </p:spTree>
    <p:extLst>
      <p:ext uri="{BB962C8B-B14F-4D97-AF65-F5344CB8AC3E}">
        <p14:creationId xmlns:p14="http://schemas.microsoft.com/office/powerpoint/2010/main" val="1246560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 -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/>
          <a:lstStyle/>
          <a:p>
            <a:r>
              <a:rPr lang="en-US" dirty="0"/>
              <a:t>Method of producing a biased estimator of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 that has a smaller Mean Square Error than OLS</a:t>
            </a:r>
          </a:p>
          <a:p>
            <a:r>
              <a:rPr lang="en-US" dirty="0"/>
              <a:t>Mean Square Error of Estimator = Variance + Bias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Ridge estimator trades of bias for large reduction of variance when the predictor variables are highly correlated</a:t>
            </a:r>
          </a:p>
          <a:p>
            <a:r>
              <a:rPr lang="en-US" dirty="0"/>
              <a:t>Problem: Choosing the shrinkage parameter </a:t>
            </a:r>
            <a:r>
              <a:rPr lang="en-US" i="1" dirty="0"/>
              <a:t>c</a:t>
            </a:r>
            <a:endParaRPr lang="en-US" dirty="0"/>
          </a:p>
          <a:p>
            <a:r>
              <a:rPr lang="en-US" dirty="0"/>
              <a:t>We will work with the standardized regression model based on the correlation transformed  variables, then “back transform” the regression coefficients to original scale</a:t>
            </a:r>
          </a:p>
        </p:txBody>
      </p:sp>
    </p:spTree>
    <p:extLst>
      <p:ext uri="{BB962C8B-B14F-4D97-AF65-F5344CB8AC3E}">
        <p14:creationId xmlns:p14="http://schemas.microsoft.com/office/powerpoint/2010/main" val="320829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Ridge Estimator (Standardized X, Y)</a:t>
            </a:r>
          </a:p>
        </p:txBody>
      </p:sp>
      <p:graphicFrame>
        <p:nvGraphicFramePr>
          <p:cNvPr id="3" name="Object 2" descr="Formulas used for obtaining the ridge estimators and sums of variances for OLS and ridge regression coefficien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61290"/>
              </p:ext>
            </p:extLst>
          </p:nvPr>
        </p:nvGraphicFramePr>
        <p:xfrm>
          <a:off x="242888" y="1082675"/>
          <a:ext cx="8686800" cy="492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22680" imgH="3073320" progId="Equation.DSMT4">
                  <p:embed/>
                </p:oleObj>
              </mc:Choice>
              <mc:Fallback>
                <p:oleObj name="Equation" r:id="rId2" imgW="5422680" imgH="3073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888" y="1082675"/>
                        <a:ext cx="8686800" cy="492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6172200"/>
            <a:ext cx="876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the unconventional notation of </a:t>
            </a:r>
            <a:r>
              <a:rPr lang="en-US" b="1" dirty="0">
                <a:latin typeface="Symbol" panose="05050102010706020507" pitchFamily="18" charset="2"/>
              </a:rPr>
              <a:t>g</a:t>
            </a:r>
            <a:r>
              <a:rPr lang="en-US" dirty="0"/>
              <a:t> as the standardized regression coefficient vector</a:t>
            </a:r>
          </a:p>
        </p:txBody>
      </p:sp>
    </p:spTree>
    <p:extLst>
      <p:ext uri="{BB962C8B-B14F-4D97-AF65-F5344CB8AC3E}">
        <p14:creationId xmlns:p14="http://schemas.microsoft.com/office/powerpoint/2010/main" val="417773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China Carbon Emissions Data  (c = 0.20)</a:t>
            </a:r>
          </a:p>
        </p:txBody>
      </p:sp>
      <p:graphicFrame>
        <p:nvGraphicFramePr>
          <p:cNvPr id="3" name="Object 2" descr="Calculations for OLS and Ridge estimates and their varianc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956732"/>
              </p:ext>
            </p:extLst>
          </p:nvPr>
        </p:nvGraphicFramePr>
        <p:xfrm>
          <a:off x="228600" y="1295400"/>
          <a:ext cx="8706028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762960" imgH="3057538" progId="Excel.Sheet.12">
                  <p:embed/>
                </p:oleObj>
              </mc:Choice>
              <mc:Fallback>
                <p:oleObj name="Worksheet" r:id="rId2" imgW="7762960" imgH="30575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8706028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Sums of variances of OLS and ridge estimates for carbon emissions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540716"/>
              </p:ext>
            </p:extLst>
          </p:nvPr>
        </p:nvGraphicFramePr>
        <p:xfrm>
          <a:off x="566738" y="4800600"/>
          <a:ext cx="78644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68600" imgH="634680" progId="Equation.DSMT4">
                  <p:embed/>
                </p:oleObj>
              </mc:Choice>
              <mc:Fallback>
                <p:oleObj name="Equation" r:id="rId4" imgW="43686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6738" y="4800600"/>
                        <a:ext cx="7864475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0960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estimated regression coefficients have changed  large amounts and in signs for Population and Urbanization rate</a:t>
            </a:r>
          </a:p>
        </p:txBody>
      </p:sp>
    </p:spTree>
    <p:extLst>
      <p:ext uri="{BB962C8B-B14F-4D97-AF65-F5344CB8AC3E}">
        <p14:creationId xmlns:p14="http://schemas.microsoft.com/office/powerpoint/2010/main" val="38355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Back-Transforming Coefficients to Original Scale</a:t>
            </a:r>
          </a:p>
        </p:txBody>
      </p:sp>
      <p:graphicFrame>
        <p:nvGraphicFramePr>
          <p:cNvPr id="3" name="Object 2" descr="Formulas for back-transforming ridge coefficient estimates to original scal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934900"/>
              </p:ext>
            </p:extLst>
          </p:nvPr>
        </p:nvGraphicFramePr>
        <p:xfrm>
          <a:off x="263323" y="1447800"/>
          <a:ext cx="8483761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59040" imgH="2006280" progId="Equation.DSMT4">
                  <p:embed/>
                </p:oleObj>
              </mc:Choice>
              <mc:Fallback>
                <p:oleObj name="Equation" r:id="rId2" imgW="4559040" imgH="2006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3323" y="1447800"/>
                        <a:ext cx="8483761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828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Choosing the Shrinkage Parameter, </a:t>
            </a:r>
            <a:r>
              <a:rPr lang="en-US" i="1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r>
              <a:rPr lang="en-US" dirty="0"/>
              <a:t>Ridge Trace – Plot of the standardized ridge regression coefficients versus </a:t>
            </a:r>
            <a:r>
              <a:rPr lang="en-US" i="1" dirty="0"/>
              <a:t>c</a:t>
            </a:r>
            <a:r>
              <a:rPr lang="en-US" dirty="0"/>
              <a:t> and observe where they flatten out</a:t>
            </a:r>
          </a:p>
          <a:p>
            <a:r>
              <a:rPr lang="en-US" i="1" dirty="0"/>
              <a:t>C</a:t>
            </a:r>
            <a:r>
              <a:rPr lang="en-US" i="1" baseline="-25000" dirty="0"/>
              <a:t>c</a:t>
            </a:r>
            <a:r>
              <a:rPr lang="en-US" i="1" dirty="0"/>
              <a:t> </a:t>
            </a:r>
            <a:r>
              <a:rPr lang="en-US" dirty="0"/>
              <a:t>Statistic – Similar to </a:t>
            </a:r>
            <a:r>
              <a:rPr lang="en-US" i="1" dirty="0" err="1"/>
              <a:t>C</a:t>
            </a:r>
            <a:r>
              <a:rPr lang="en-US" i="1" baseline="-25000" dirty="0" err="1"/>
              <a:t>p</a:t>
            </a:r>
            <a:r>
              <a:rPr lang="en-US" dirty="0"/>
              <a:t> used in regression model selection</a:t>
            </a:r>
            <a:endParaRPr lang="en-US" i="1" dirty="0"/>
          </a:p>
          <a:p>
            <a:r>
              <a:rPr lang="en-US" i="1" dirty="0"/>
              <a:t>PRESS</a:t>
            </a:r>
            <a:r>
              <a:rPr lang="en-US" dirty="0"/>
              <a:t> Statistic extended to Ridge Regression – Cross-Validation Sum of Squares for “left-out” residuals</a:t>
            </a:r>
          </a:p>
          <a:p>
            <a:r>
              <a:rPr lang="en-US" dirty="0"/>
              <a:t>Generalized Cross-Validation – Similar to </a:t>
            </a:r>
            <a:r>
              <a:rPr lang="en-US" i="1" dirty="0"/>
              <a:t>PRESS</a:t>
            </a:r>
            <a:r>
              <a:rPr lang="en-US" dirty="0"/>
              <a:t>, based on prediction</a:t>
            </a:r>
          </a:p>
          <a:p>
            <a:r>
              <a:rPr lang="en-US" dirty="0"/>
              <a:t>Plot of VIF</a:t>
            </a:r>
            <a:r>
              <a:rPr lang="en-US" baseline="30000" dirty="0"/>
              <a:t>s</a:t>
            </a:r>
            <a:r>
              <a:rPr lang="en-US" dirty="0"/>
              <a:t> versus </a:t>
            </a:r>
            <a:r>
              <a:rPr lang="en-US" i="1" dirty="0"/>
              <a:t>c</a:t>
            </a:r>
            <a:r>
              <a:rPr lang="en-US" dirty="0"/>
              <a:t> and observe where they all fall below 10 </a:t>
            </a:r>
          </a:p>
        </p:txBody>
      </p:sp>
    </p:spTree>
    <p:extLst>
      <p:ext uri="{BB962C8B-B14F-4D97-AF65-F5344CB8AC3E}">
        <p14:creationId xmlns:p14="http://schemas.microsoft.com/office/powerpoint/2010/main" val="2574460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F94F-F6EA-D064-5AF7-751B8BAC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Plot of the Ridge Trace</a:t>
            </a:r>
          </a:p>
        </p:txBody>
      </p:sp>
      <p:pic>
        <p:nvPicPr>
          <p:cNvPr id="3" name="Picture 2" descr="Plot of ridge trace. Coefficients stabilize by c = 0.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38200"/>
            <a:ext cx="6934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87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i="1" dirty="0"/>
              <a:t>C</a:t>
            </a:r>
            <a:r>
              <a:rPr lang="en-US" i="1" baseline="-25000" dirty="0"/>
              <a:t>c </a:t>
            </a:r>
            <a:r>
              <a:rPr lang="en-US" dirty="0"/>
              <a:t>- Statistic</a:t>
            </a:r>
          </a:p>
        </p:txBody>
      </p:sp>
      <p:graphicFrame>
        <p:nvGraphicFramePr>
          <p:cNvPr id="3" name="Object 2" descr="Formulas for computing the C_c statistic as a function of c. Goal is to minimize C_c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52662"/>
              </p:ext>
            </p:extLst>
          </p:nvPr>
        </p:nvGraphicFramePr>
        <p:xfrm>
          <a:off x="304800" y="1219200"/>
          <a:ext cx="8501543" cy="442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97480" imgH="2806560" progId="Equation.DSMT4">
                  <p:embed/>
                </p:oleObj>
              </mc:Choice>
              <mc:Fallback>
                <p:oleObj name="Equation" r:id="rId2" imgW="5397480" imgH="280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00" y="1219200"/>
                        <a:ext cx="8501543" cy="4421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5791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Choose </a:t>
            </a:r>
            <a:r>
              <a:rPr lang="en-US" i="1" dirty="0"/>
              <a:t>c</a:t>
            </a:r>
            <a:r>
              <a:rPr lang="en-US" dirty="0"/>
              <a:t> to minimize </a:t>
            </a:r>
            <a:r>
              <a:rPr lang="en-US" i="1" dirty="0"/>
              <a:t>C</a:t>
            </a:r>
            <a:r>
              <a:rPr lang="en-US" i="1" baseline="-25000" dirty="0"/>
              <a:t>c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1724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“PRESS” Statistic</a:t>
            </a:r>
          </a:p>
        </p:txBody>
      </p:sp>
      <p:graphicFrame>
        <p:nvGraphicFramePr>
          <p:cNvPr id="3" name="Object 2" descr="Formulas for the PRESS statistic as a function of c. Goal is to minimize i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882501"/>
              </p:ext>
            </p:extLst>
          </p:nvPr>
        </p:nvGraphicFramePr>
        <p:xfrm>
          <a:off x="1295400" y="914400"/>
          <a:ext cx="6781800" cy="5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25600" imgH="2476440" progId="Equation.DSMT4">
                  <p:embed/>
                </p:oleObj>
              </mc:Choice>
              <mc:Fallback>
                <p:oleObj name="Equation" r:id="rId2" imgW="3225600" imgH="2476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5400" y="914400"/>
                        <a:ext cx="6781800" cy="5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94225" y="6292334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Choose </a:t>
            </a:r>
            <a:r>
              <a:rPr lang="en-US" i="1" dirty="0"/>
              <a:t>c</a:t>
            </a:r>
            <a:r>
              <a:rPr lang="en-US" dirty="0"/>
              <a:t> to minimize </a:t>
            </a:r>
            <a:r>
              <a:rPr lang="en-US" i="1" dirty="0" err="1"/>
              <a:t>PR</a:t>
            </a:r>
            <a:r>
              <a:rPr lang="en-US" baseline="-25000" dirty="0" err="1"/>
              <a:t>Ridge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5039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Cross Validation</a:t>
            </a:r>
          </a:p>
        </p:txBody>
      </p:sp>
      <p:graphicFrame>
        <p:nvGraphicFramePr>
          <p:cNvPr id="3" name="Object 2" descr="Formulas for Generalized Cross Validation as a function of c. Goal is to minimize i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681146"/>
              </p:ext>
            </p:extLst>
          </p:nvPr>
        </p:nvGraphicFramePr>
        <p:xfrm>
          <a:off x="1676400" y="1029467"/>
          <a:ext cx="6400800" cy="5293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25600" imgH="2666880" progId="Equation.DSMT4">
                  <p:embed/>
                </p:oleObj>
              </mc:Choice>
              <mc:Fallback>
                <p:oleObj name="Equation" r:id="rId2" imgW="3225600" imgH="266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6400" y="1029467"/>
                        <a:ext cx="6400800" cy="5293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94225" y="6292334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Choose </a:t>
            </a:r>
            <a:r>
              <a:rPr lang="en-US" i="1" dirty="0"/>
              <a:t>c</a:t>
            </a:r>
            <a:r>
              <a:rPr lang="en-US" dirty="0"/>
              <a:t> to minimize </a:t>
            </a:r>
            <a:r>
              <a:rPr lang="en-US" i="1" dirty="0"/>
              <a:t>GCV</a:t>
            </a:r>
          </a:p>
        </p:txBody>
      </p:sp>
    </p:spTree>
    <p:extLst>
      <p:ext uri="{BB962C8B-B14F-4D97-AF65-F5344CB8AC3E}">
        <p14:creationId xmlns:p14="http://schemas.microsoft.com/office/powerpoint/2010/main" val="26048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i="1" dirty="0"/>
              <a:t>C</a:t>
            </a:r>
            <a:r>
              <a:rPr lang="en-US" baseline="-25000" dirty="0"/>
              <a:t>c</a:t>
            </a:r>
            <a:r>
              <a:rPr lang="en-US" dirty="0"/>
              <a:t> , PRESS, GCV for China Carbon Data</a:t>
            </a:r>
          </a:p>
        </p:txBody>
      </p:sp>
      <p:graphicFrame>
        <p:nvGraphicFramePr>
          <p:cNvPr id="5" name="Object 4" descr="Calculated C_c, PRESS, and GCV for c between 0 and 0.0016 for carbon emissions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859383"/>
              </p:ext>
            </p:extLst>
          </p:nvPr>
        </p:nvGraphicFramePr>
        <p:xfrm>
          <a:off x="2209800" y="1143000"/>
          <a:ext cx="3352800" cy="453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543243" imgH="3438457" progId="Excel.Sheet.12">
                  <p:embed/>
                </p:oleObj>
              </mc:Choice>
              <mc:Fallback>
                <p:oleObj name="Worksheet" r:id="rId2" imgW="2543243" imgH="3438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9800" y="1143000"/>
                        <a:ext cx="3352800" cy="4533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of these methods select very low values for </a:t>
            </a:r>
            <a:r>
              <a:rPr lang="en-US" i="1" dirty="0"/>
              <a:t>c</a:t>
            </a:r>
            <a:r>
              <a:rPr lang="en-US" dirty="0"/>
              <a:t>. The graphical methods tend to choose larger values for the stabilization of the regression coefficients and VIF</a:t>
            </a:r>
            <a:r>
              <a:rPr lang="en-US" baseline="30000" dirty="0"/>
              <a:t>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37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Variance Inflation Factors</a:t>
            </a:r>
          </a:p>
        </p:txBody>
      </p:sp>
      <p:graphicFrame>
        <p:nvGraphicFramePr>
          <p:cNvPr id="3" name="Object 2" descr="Formula for Variance Inflation factors for ridge estimator as a function of c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393942"/>
              </p:ext>
            </p:extLst>
          </p:nvPr>
        </p:nvGraphicFramePr>
        <p:xfrm>
          <a:off x="761999" y="1143000"/>
          <a:ext cx="7506821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51080" imgH="863280" progId="Equation.DSMT4">
                  <p:embed/>
                </p:oleObj>
              </mc:Choice>
              <mc:Fallback>
                <p:oleObj name="Equation" r:id="rId2" imgW="40510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1999" y="1143000"/>
                        <a:ext cx="7506821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Plot of VIF(c) versus c. All VIF's less than 10 when c &gt; 0.0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819400"/>
            <a:ext cx="7315199" cy="385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74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Final Model – Estimated Regression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5410200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Residual based measures </a:t>
            </a:r>
            <a:r>
              <a:rPr lang="en-US" i="1" dirty="0"/>
              <a:t>C</a:t>
            </a:r>
            <a:r>
              <a:rPr lang="en-US" i="1" baseline="-25000" dirty="0"/>
              <a:t>c</a:t>
            </a:r>
            <a:r>
              <a:rPr lang="en-US" dirty="0"/>
              <a:t>, PRESS, and GCV suggest very small values of </a:t>
            </a:r>
            <a:r>
              <a:rPr lang="en-US" i="1" dirty="0"/>
              <a:t>c</a:t>
            </a:r>
          </a:p>
          <a:p>
            <a:r>
              <a:rPr lang="en-US" dirty="0"/>
              <a:t>The Ridge Trace suggests larger value, with coefficients stabilizing above </a:t>
            </a:r>
            <a:r>
              <a:rPr lang="en-US" i="1" dirty="0"/>
              <a:t>c</a:t>
            </a:r>
            <a:r>
              <a:rPr lang="en-US" dirty="0"/>
              <a:t> = 0.15 or so</a:t>
            </a:r>
          </a:p>
          <a:p>
            <a:r>
              <a:rPr lang="en-US" dirty="0"/>
              <a:t>The VIF plot suggests values above </a:t>
            </a:r>
            <a:r>
              <a:rPr lang="en-US" i="1" dirty="0"/>
              <a:t>c</a:t>
            </a:r>
            <a:r>
              <a:rPr lang="en-US" dirty="0"/>
              <a:t> = 0.03 having all VIF values less than 10</a:t>
            </a:r>
          </a:p>
          <a:p>
            <a:r>
              <a:rPr lang="en-US" dirty="0"/>
              <a:t>The authors used </a:t>
            </a:r>
            <a:r>
              <a:rPr lang="en-US" i="1" dirty="0"/>
              <a:t>c</a:t>
            </a:r>
            <a:r>
              <a:rPr lang="en-US" dirty="0"/>
              <a:t> = 0.20, based on the ridge trace</a:t>
            </a:r>
          </a:p>
        </p:txBody>
      </p:sp>
      <p:graphicFrame>
        <p:nvGraphicFramePr>
          <p:cNvPr id="4" name="Object 3" descr="Final regression coefficient estimat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585022"/>
              </p:ext>
            </p:extLst>
          </p:nvPr>
        </p:nvGraphicFramePr>
        <p:xfrm>
          <a:off x="5989536" y="1676400"/>
          <a:ext cx="301557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476443" imgH="1342957" progId="Excel.Sheet.12">
                  <p:embed/>
                </p:oleObj>
              </mc:Choice>
              <mc:Fallback>
                <p:oleObj name="Worksheet" r:id="rId2" imgW="1476443" imgH="1342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9536" y="1676400"/>
                        <a:ext cx="3015575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185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511</Words>
  <Application>Microsoft Office PowerPoint</Application>
  <PresentationFormat>On-screen Show (4:3)</PresentationFormat>
  <Paragraphs>50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Symbol</vt:lpstr>
      <vt:lpstr>Wingdings</vt:lpstr>
      <vt:lpstr>Office Theme</vt:lpstr>
      <vt:lpstr>Equation</vt:lpstr>
      <vt:lpstr>Worksheet</vt:lpstr>
      <vt:lpstr>Ridge Regression</vt:lpstr>
      <vt:lpstr>Data Description/Model</vt:lpstr>
      <vt:lpstr>Correlation Transformation</vt:lpstr>
      <vt:lpstr>Data</vt:lpstr>
      <vt:lpstr>Ridge Regression - I</vt:lpstr>
      <vt:lpstr>Ridge Estimator (Standardized X, Y)</vt:lpstr>
      <vt:lpstr>China Carbon Emissions Data  (c = 0.20)</vt:lpstr>
      <vt:lpstr>Back-Transforming Coefficients to Original Scale</vt:lpstr>
      <vt:lpstr>Choosing the Shrinkage Parameter, c</vt:lpstr>
      <vt:lpstr>Plot of the Ridge Trace</vt:lpstr>
      <vt:lpstr>Cc - Statistic</vt:lpstr>
      <vt:lpstr>“PRESS” Statistic</vt:lpstr>
      <vt:lpstr>Generalized Cross Validation</vt:lpstr>
      <vt:lpstr>Cc , PRESS, GCV for China Carbon Data</vt:lpstr>
      <vt:lpstr>Variance Inflation Factors</vt:lpstr>
      <vt:lpstr>Final Model – Estimated Regression Coefficients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Larry</dc:creator>
  <cp:lastModifiedBy>Winner,Lawrence Herman</cp:lastModifiedBy>
  <cp:revision>42</cp:revision>
  <dcterms:created xsi:type="dcterms:W3CDTF">2013-09-19T13:10:16Z</dcterms:created>
  <dcterms:modified xsi:type="dcterms:W3CDTF">2025-12-18T13:39:40Z</dcterms:modified>
</cp:coreProperties>
</file>