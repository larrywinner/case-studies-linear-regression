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67" r:id="rId3"/>
    <p:sldId id="281" r:id="rId4"/>
    <p:sldId id="282" r:id="rId5"/>
    <p:sldId id="276" r:id="rId6"/>
    <p:sldId id="268" r:id="rId7"/>
    <p:sldId id="257" r:id="rId8"/>
    <p:sldId id="277" r:id="rId9"/>
    <p:sldId id="273" r:id="rId10"/>
    <p:sldId id="274" r:id="rId11"/>
    <p:sldId id="260" r:id="rId12"/>
    <p:sldId id="261" r:id="rId13"/>
    <p:sldId id="275" r:id="rId14"/>
    <p:sldId id="263" r:id="rId15"/>
    <p:sldId id="265" r:id="rId16"/>
    <p:sldId id="278" r:id="rId17"/>
    <p:sldId id="272" r:id="rId18"/>
    <p:sldId id="279" r:id="rId19"/>
    <p:sldId id="280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rgbClr val="A5002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rgbClr val="A5002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rgbClr val="A5002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rgbClr val="A5002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rgbClr val="A5002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rgbClr val="A5002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rgbClr val="A5002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rgbClr val="A5002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rgbClr val="A5002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99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6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2FB08B5E-2389-4EB5-81F9-7E09EE8B373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>
                <a:solidFill>
                  <a:srgbClr val="FFFF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FFFF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0AD9D6-6560-4313-BE22-82E71A0CEF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4700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96962"/>
          </a:xfrm>
        </p:spPr>
        <p:txBody>
          <a:bodyPr/>
          <a:lstStyle>
            <a:lvl1pPr>
              <a:defRPr sz="3600">
                <a:solidFill>
                  <a:srgbClr val="FFFF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800">
                <a:solidFill>
                  <a:srgbClr val="FFFF00"/>
                </a:solidFill>
              </a:defRPr>
            </a:lvl1pPr>
            <a:lvl2pPr>
              <a:buFont typeface="Wingdings" panose="05000000000000000000" pitchFamily="2" charset="2"/>
              <a:buChar char="§"/>
              <a:defRPr sz="2400">
                <a:solidFill>
                  <a:srgbClr val="FFFF00"/>
                </a:solidFill>
              </a:defRPr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BFCBA5-9BA1-42A5-BF05-2BC429980D1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5836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56AABA-3F79-40B7-A290-8F95F573B3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819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452FC6-4833-4761-909A-7B95D163C5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6269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492235-8519-4C5D-AAC2-1B176697CA5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2412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>
            <a:lvl1pPr>
              <a:defRPr sz="3600">
                <a:solidFill>
                  <a:srgbClr val="FFFF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7A08C9-A9B9-4233-B985-411C048206B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600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921D09-A7E0-4ACD-8172-158F8EF6811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2657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BF8600-572A-40C0-B688-304170A6AE0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0183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905B88-EA03-4726-AC1D-75BFEA3172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1858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7F020-E06A-46A5-8814-AB008424101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6413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0BA55D-470D-419F-888E-D88C83A9789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3336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08C3E9A-ECC5-4B7F-9D1E-87E78B464B5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80428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FE307207-6D04-4653-AC6D-9EB585E420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0822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1E5E9DA2-B12B-4FA3-BC77-F104BFB691D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en-US" sz="4400" dirty="0"/>
              <a:t>Bivariate Normal Distribution and Regression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3886200"/>
            <a:ext cx="7772400" cy="1752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dirty="0"/>
              <a:t>Women’s NBA Team Predicted and Actual Points 2010-2024 Regular Seasons </a:t>
            </a:r>
          </a:p>
          <a:p>
            <a:pPr algn="l">
              <a:lnSpc>
                <a:spcPct val="80000"/>
              </a:lnSpc>
            </a:pPr>
            <a:endParaRPr lang="en-US" altLang="en-US" sz="1600" dirty="0"/>
          </a:p>
          <a:p>
            <a:pPr algn="l">
              <a:lnSpc>
                <a:spcPct val="80000"/>
              </a:lnSpc>
            </a:pPr>
            <a:endParaRPr lang="en-US" altLang="en-US" sz="1200" dirty="0"/>
          </a:p>
          <a:p>
            <a:pPr algn="l">
              <a:lnSpc>
                <a:spcPct val="80000"/>
              </a:lnSpc>
            </a:pPr>
            <a:r>
              <a:rPr lang="en-US" altLang="en-US" sz="1200" dirty="0"/>
              <a:t>Source:  www.covers.com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91600" cy="639762"/>
          </a:xfrm>
        </p:spPr>
        <p:txBody>
          <a:bodyPr/>
          <a:lstStyle/>
          <a:p>
            <a:r>
              <a:rPr lang="en-US" altLang="en-US" sz="3600" dirty="0"/>
              <a:t>Data – Predicted and Actual Points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2514600"/>
          </a:xfrm>
        </p:spPr>
        <p:txBody>
          <a:bodyPr/>
          <a:lstStyle/>
          <a:p>
            <a:r>
              <a:rPr lang="en-US" altLang="en-US" sz="2400" dirty="0"/>
              <a:t>Actual Team Score – WNBA Team Games 2010-2024 Regular Season Games (Y)</a:t>
            </a:r>
          </a:p>
          <a:p>
            <a:r>
              <a:rPr lang="en-US" altLang="en-US" sz="2400" dirty="0"/>
              <a:t>Predicted Team Score based on Over/Under and Point Spread Betting Lines where Favored team has negative spread (X)</a:t>
            </a:r>
          </a:p>
          <a:p>
            <a:r>
              <a:rPr lang="en-US" altLang="en-US" sz="2400" dirty="0"/>
              <a:t>N = 6118 team games </a:t>
            </a:r>
            <a:endParaRPr lang="en-US" altLang="en-US" sz="2000" dirty="0"/>
          </a:p>
        </p:txBody>
      </p:sp>
      <p:graphicFrame>
        <p:nvGraphicFramePr>
          <p:cNvPr id="2" name="Object 1" descr="Poplation means, standrd deviations, and correlation for predicted (X) and actual (Y) points">
            <a:extLst>
              <a:ext uri="{FF2B5EF4-FFF2-40B4-BE49-F238E27FC236}">
                <a16:creationId xmlns:a16="http://schemas.microsoft.com/office/drawing/2014/main" id="{639B8480-0B3F-672A-EE69-EAC99F706D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1046026"/>
              </p:ext>
            </p:extLst>
          </p:nvPr>
        </p:nvGraphicFramePr>
        <p:xfrm>
          <a:off x="765175" y="3536950"/>
          <a:ext cx="8007350" cy="302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73240" imgH="1625400" progId="Equation.DSMT4">
                  <p:embed/>
                </p:oleObj>
              </mc:Choice>
              <mc:Fallback>
                <p:oleObj name="Equation" r:id="rId2" imgW="3873240" imgH="1625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5175" y="3536950"/>
                        <a:ext cx="8007350" cy="3028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3878A7A-9599-A765-5915-15DD75E71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Bivariate Plot with Marginal Histograms</a:t>
            </a:r>
          </a:p>
        </p:txBody>
      </p:sp>
      <p:pic>
        <p:nvPicPr>
          <p:cNvPr id="4" name="Picture 3" descr="Scatterplot of Predicted and actual points with marginal histograms at top and on the right">
            <a:extLst>
              <a:ext uri="{FF2B5EF4-FFF2-40B4-BE49-F238E27FC236}">
                <a16:creationId xmlns:a16="http://schemas.microsoft.com/office/drawing/2014/main" id="{6C90A0DD-3935-11DA-C63A-8628FEB69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47800"/>
            <a:ext cx="88392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66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D9274-CC86-A90B-984F-8EDBCAC13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Bivariate Plot with Marginal Densities</a:t>
            </a:r>
          </a:p>
        </p:txBody>
      </p:sp>
      <p:pic>
        <p:nvPicPr>
          <p:cNvPr id="5" name="Picture 4" descr="Scatterplot of Predicted and actual points with marginal densities at top and on the right">
            <a:extLst>
              <a:ext uri="{FF2B5EF4-FFF2-40B4-BE49-F238E27FC236}">
                <a16:creationId xmlns:a16="http://schemas.microsoft.com/office/drawing/2014/main" id="{54150539-F66D-4EB9-59CA-8CF3C096E3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371600"/>
            <a:ext cx="89154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598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CAEF4-5813-853E-FE97-0FF764534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sz="3600" dirty="0"/>
              <a:t>Scatterplot with Regression Line</a:t>
            </a:r>
          </a:p>
        </p:txBody>
      </p:sp>
      <p:pic>
        <p:nvPicPr>
          <p:cNvPr id="5" name="Picture 4" descr="Plot of Actual vs Predicted points with regression equation">
            <a:extLst>
              <a:ext uri="{FF2B5EF4-FFF2-40B4-BE49-F238E27FC236}">
                <a16:creationId xmlns:a16="http://schemas.microsoft.com/office/drawing/2014/main" id="{F13F6F31-6F08-D6E3-663F-E648D468E5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371600"/>
            <a:ext cx="86868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466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FDD536-5A16-B102-B748-B561712C5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 sz="3600" dirty="0"/>
              <a:t>Histograms with Normal Densities</a:t>
            </a:r>
          </a:p>
        </p:txBody>
      </p:sp>
      <p:pic>
        <p:nvPicPr>
          <p:cNvPr id="5" name="Picture 4" descr="Histograms of predicted and actual points">
            <a:extLst>
              <a:ext uri="{FF2B5EF4-FFF2-40B4-BE49-F238E27FC236}">
                <a16:creationId xmlns:a16="http://schemas.microsoft.com/office/drawing/2014/main" id="{D7E418A1-BCE1-7F64-B069-D628F1B345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43" y="1524000"/>
            <a:ext cx="853440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639763"/>
          </a:xfrm>
        </p:spPr>
        <p:txBody>
          <a:bodyPr/>
          <a:lstStyle/>
          <a:p>
            <a:r>
              <a:rPr lang="en-US" altLang="en-US" sz="3200" dirty="0">
                <a:solidFill>
                  <a:srgbClr val="FFFF00"/>
                </a:solidFill>
              </a:rPr>
              <a:t>Joint Density Function</a:t>
            </a:r>
          </a:p>
        </p:txBody>
      </p:sp>
      <p:graphicFrame>
        <p:nvGraphicFramePr>
          <p:cNvPr id="3076" name="Object 4" descr="Bivariate normal density function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38157701"/>
              </p:ext>
            </p:extLst>
          </p:nvPr>
        </p:nvGraphicFramePr>
        <p:xfrm>
          <a:off x="327025" y="1066800"/>
          <a:ext cx="848995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59520" imgH="609480" progId="Equation.DSMT4">
                  <p:embed/>
                </p:oleObj>
              </mc:Choice>
              <mc:Fallback>
                <p:oleObj name="Equation" r:id="rId2" imgW="6959520" imgH="609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025" y="1066800"/>
                        <a:ext cx="848995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 descr="Plot of Bivariate normal density function">
            <a:extLst>
              <a:ext uri="{FF2B5EF4-FFF2-40B4-BE49-F238E27FC236}">
                <a16:creationId xmlns:a16="http://schemas.microsoft.com/office/drawing/2014/main" id="{7508AD15-5734-F360-B4F3-F0794AEA3C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83" y="2286000"/>
            <a:ext cx="8741433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2A437-7077-0858-D558-A8C8D14CB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8763000" cy="563562"/>
          </a:xfrm>
        </p:spPr>
        <p:txBody>
          <a:bodyPr/>
          <a:lstStyle/>
          <a:p>
            <a:r>
              <a:rPr lang="en-US" sz="3200" dirty="0"/>
              <a:t>Bivariate Distribution of Actual/Predicted Points</a:t>
            </a:r>
          </a:p>
        </p:txBody>
      </p:sp>
      <p:pic>
        <p:nvPicPr>
          <p:cNvPr id="3" name="Picture 2" descr="Contour plot of Bivariate normal density function">
            <a:extLst>
              <a:ext uri="{FF2B5EF4-FFF2-40B4-BE49-F238E27FC236}">
                <a16:creationId xmlns:a16="http://schemas.microsoft.com/office/drawing/2014/main" id="{9393B624-3491-30B9-2819-D81FAC9C05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914400"/>
            <a:ext cx="8382000" cy="568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933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/>
          <a:lstStyle/>
          <a:p>
            <a:r>
              <a:rPr lang="en-US" sz="3600" dirty="0"/>
              <a:t>Marginal Distribution of </a:t>
            </a:r>
            <a:r>
              <a:rPr lang="en-US" sz="3600" i="1" dirty="0"/>
              <a:t>X</a:t>
            </a:r>
            <a:r>
              <a:rPr lang="en-US" sz="3600" dirty="0"/>
              <a:t> (p. 1)</a:t>
            </a:r>
          </a:p>
        </p:txBody>
      </p:sp>
      <p:graphicFrame>
        <p:nvGraphicFramePr>
          <p:cNvPr id="3" name="Object 2" descr="Derivation of marginal distribution of X (slide 1)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5443468"/>
              </p:ext>
            </p:extLst>
          </p:nvPr>
        </p:nvGraphicFramePr>
        <p:xfrm>
          <a:off x="635000" y="914400"/>
          <a:ext cx="8018463" cy="548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683480" imgH="5257800" progId="Equation.DSMT4">
                  <p:embed/>
                </p:oleObj>
              </mc:Choice>
              <mc:Fallback>
                <p:oleObj name="Equation" r:id="rId2" imgW="7683480" imgH="5257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35000" y="914400"/>
                        <a:ext cx="8018463" cy="548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590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1234"/>
          </a:xfrm>
        </p:spPr>
        <p:txBody>
          <a:bodyPr/>
          <a:lstStyle/>
          <a:p>
            <a:r>
              <a:rPr lang="en-US" sz="3600" dirty="0"/>
              <a:t>Marginal Distribution of </a:t>
            </a:r>
            <a:r>
              <a:rPr lang="en-US" sz="3600" i="1" dirty="0"/>
              <a:t>X</a:t>
            </a:r>
            <a:r>
              <a:rPr lang="en-US" sz="3600" dirty="0"/>
              <a:t> (p. 2) </a:t>
            </a:r>
          </a:p>
        </p:txBody>
      </p:sp>
      <p:graphicFrame>
        <p:nvGraphicFramePr>
          <p:cNvPr id="3" name="Object 2" descr="Derivation of marginal distribution of X (slide 2)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6861881"/>
              </p:ext>
            </p:extLst>
          </p:nvPr>
        </p:nvGraphicFramePr>
        <p:xfrm>
          <a:off x="407988" y="955675"/>
          <a:ext cx="8224837" cy="561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34240" imgH="5283000" progId="Equation.DSMT4">
                  <p:embed/>
                </p:oleObj>
              </mc:Choice>
              <mc:Fallback>
                <p:oleObj name="Equation" r:id="rId2" imgW="7734240" imgH="5283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7988" y="955675"/>
                        <a:ext cx="8224837" cy="5616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8352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839200" cy="563563"/>
          </a:xfrm>
        </p:spPr>
        <p:txBody>
          <a:bodyPr/>
          <a:lstStyle/>
          <a:p>
            <a:r>
              <a:rPr lang="en-US" altLang="en-US" sz="3200" dirty="0"/>
              <a:t>Conditional Distribution of </a:t>
            </a:r>
            <a:r>
              <a:rPr lang="en-US" altLang="en-US" sz="3200" i="1" dirty="0"/>
              <a:t>Y</a:t>
            </a:r>
            <a:r>
              <a:rPr lang="en-US" altLang="en-US" sz="3200" dirty="0"/>
              <a:t> Given </a:t>
            </a:r>
            <a:r>
              <a:rPr lang="en-US" altLang="en-US" sz="3200" i="1" dirty="0"/>
              <a:t>X=x </a:t>
            </a:r>
            <a:r>
              <a:rPr lang="en-US" altLang="en-US" sz="3200" dirty="0"/>
              <a:t>(P. 1)</a:t>
            </a:r>
          </a:p>
        </p:txBody>
      </p:sp>
      <p:graphicFrame>
        <p:nvGraphicFramePr>
          <p:cNvPr id="11268" name="Object 4" descr="Derivation of conditional distribution of Y given X (slide 1)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3629221"/>
              </p:ext>
            </p:extLst>
          </p:nvPr>
        </p:nvGraphicFramePr>
        <p:xfrm>
          <a:off x="512763" y="914400"/>
          <a:ext cx="7583487" cy="585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121080" imgH="4724280" progId="Equation.DSMT4">
                  <p:embed/>
                </p:oleObj>
              </mc:Choice>
              <mc:Fallback>
                <p:oleObj name="Equation" r:id="rId2" imgW="6121080" imgH="47242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63" y="914400"/>
                        <a:ext cx="7583487" cy="585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839200" cy="563563"/>
          </a:xfrm>
        </p:spPr>
        <p:txBody>
          <a:bodyPr/>
          <a:lstStyle/>
          <a:p>
            <a:r>
              <a:rPr lang="en-US" altLang="en-US" sz="3200" dirty="0"/>
              <a:t>Conditional Distribution of </a:t>
            </a:r>
            <a:r>
              <a:rPr lang="en-US" altLang="en-US" sz="3200" i="1" dirty="0"/>
              <a:t>Y</a:t>
            </a:r>
            <a:r>
              <a:rPr lang="en-US" altLang="en-US" sz="3200" dirty="0"/>
              <a:t> Given </a:t>
            </a:r>
            <a:r>
              <a:rPr lang="en-US" altLang="en-US" sz="3200" i="1" dirty="0"/>
              <a:t>X</a:t>
            </a:r>
            <a:r>
              <a:rPr lang="en-US" altLang="en-US" sz="3200" dirty="0"/>
              <a:t>=</a:t>
            </a:r>
            <a:r>
              <a:rPr lang="en-US" altLang="en-US" sz="3200" i="1" dirty="0"/>
              <a:t>x</a:t>
            </a:r>
            <a:r>
              <a:rPr lang="en-US" altLang="en-US" sz="3200" baseline="-25000" dirty="0"/>
              <a:t> </a:t>
            </a:r>
            <a:r>
              <a:rPr lang="en-US" altLang="en-US" sz="3200" dirty="0"/>
              <a:t>(P. 2)</a:t>
            </a:r>
          </a:p>
        </p:txBody>
      </p:sp>
      <p:graphicFrame>
        <p:nvGraphicFramePr>
          <p:cNvPr id="13315" name="Object 3" descr="Derivation of conditional distribution of Y given X (slide 2)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556873"/>
              </p:ext>
            </p:extLst>
          </p:nvPr>
        </p:nvGraphicFramePr>
        <p:xfrm>
          <a:off x="450850" y="1098550"/>
          <a:ext cx="8166100" cy="414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502320" imgH="3301920" progId="Equation.DSMT4">
                  <p:embed/>
                </p:oleObj>
              </mc:Choice>
              <mc:Fallback>
                <p:oleObj name="Equation" r:id="rId2" imgW="6502320" imgH="330192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" y="1098550"/>
                        <a:ext cx="8166100" cy="414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381000" y="5638800"/>
            <a:ext cx="830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>
                <a:solidFill>
                  <a:srgbClr val="FFFF00"/>
                </a:solidFill>
              </a:rPr>
              <a:t>This is referred to as the </a:t>
            </a:r>
            <a:r>
              <a:rPr lang="en-US" altLang="en-US" b="1" dirty="0">
                <a:solidFill>
                  <a:srgbClr val="FFFF00"/>
                </a:solidFill>
              </a:rPr>
              <a:t>REGRESSION </a:t>
            </a:r>
            <a:r>
              <a:rPr lang="en-US" altLang="en-US" dirty="0">
                <a:solidFill>
                  <a:srgbClr val="FFFF00"/>
                </a:solidFill>
              </a:rPr>
              <a:t>of </a:t>
            </a:r>
            <a:r>
              <a:rPr lang="en-US" altLang="en-US" i="1" dirty="0">
                <a:solidFill>
                  <a:srgbClr val="FFFF00"/>
                </a:solidFill>
              </a:rPr>
              <a:t>Y</a:t>
            </a:r>
            <a:r>
              <a:rPr lang="en-US" altLang="en-US" dirty="0">
                <a:solidFill>
                  <a:srgbClr val="FFFF00"/>
                </a:solidFill>
              </a:rPr>
              <a:t> on </a:t>
            </a:r>
            <a:r>
              <a:rPr lang="en-US" altLang="en-US" i="1" dirty="0">
                <a:solidFill>
                  <a:srgbClr val="FFFF00"/>
                </a:solidFill>
              </a:rPr>
              <a:t>X</a:t>
            </a:r>
            <a:endParaRPr lang="en-US" alt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sz="3600" dirty="0"/>
              <a:t>Summary of Results</a:t>
            </a:r>
          </a:p>
        </p:txBody>
      </p:sp>
      <p:graphicFrame>
        <p:nvGraphicFramePr>
          <p:cNvPr id="3" name="Object 2" descr="Summary of marginal and conditional distributions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2563683"/>
              </p:ext>
            </p:extLst>
          </p:nvPr>
        </p:nvGraphicFramePr>
        <p:xfrm>
          <a:off x="466725" y="1066800"/>
          <a:ext cx="8056563" cy="541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59520" imgH="4673520" progId="Equation.DSMT4">
                  <p:embed/>
                </p:oleObj>
              </mc:Choice>
              <mc:Fallback>
                <p:oleObj name="Equation" r:id="rId2" imgW="6959520" imgH="4673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6725" y="1066800"/>
                        <a:ext cx="8056563" cy="541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71764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63563"/>
          </a:xfrm>
        </p:spPr>
        <p:txBody>
          <a:bodyPr/>
          <a:lstStyle/>
          <a:p>
            <a:r>
              <a:rPr lang="en-US" altLang="en-US" sz="3200" dirty="0"/>
              <a:t> </a:t>
            </a:r>
            <a:r>
              <a:rPr lang="en-US" altLang="en-US" sz="3200" dirty="0">
                <a:solidFill>
                  <a:srgbClr val="FFFF00"/>
                </a:solidFill>
              </a:rPr>
              <a:t>Actual and Predicted Team Game Scores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914400"/>
            <a:ext cx="8382000" cy="2971800"/>
          </a:xfrm>
        </p:spPr>
        <p:txBody>
          <a:bodyPr/>
          <a:lstStyle/>
          <a:p>
            <a:r>
              <a:rPr lang="en-US" altLang="en-US" sz="2400" dirty="0">
                <a:solidFill>
                  <a:srgbClr val="FFFF00"/>
                </a:solidFill>
              </a:rPr>
              <a:t>Empirical Data Based on 6118 team games</a:t>
            </a:r>
            <a:endParaRPr lang="en-US" altLang="en-US" sz="2400" i="1" dirty="0">
              <a:solidFill>
                <a:srgbClr val="FFFF00"/>
              </a:solidFill>
            </a:endParaRPr>
          </a:p>
          <a:p>
            <a:r>
              <a:rPr lang="en-US" altLang="en-US" sz="2400" i="1" dirty="0">
                <a:solidFill>
                  <a:srgbClr val="FFFF00"/>
                </a:solidFill>
              </a:rPr>
              <a:t>Y</a:t>
            </a:r>
            <a:r>
              <a:rPr lang="en-US" altLang="en-US" sz="2400" dirty="0">
                <a:solidFill>
                  <a:srgbClr val="FFFF00"/>
                </a:solidFill>
              </a:rPr>
              <a:t> = Actual Score</a:t>
            </a:r>
          </a:p>
          <a:p>
            <a:pPr lvl="1"/>
            <a:r>
              <a:rPr lang="en-US" altLang="en-US" sz="2000" i="1" dirty="0">
                <a:solidFill>
                  <a:srgbClr val="FFFF00"/>
                </a:solidFill>
              </a:rPr>
              <a:t>Y</a:t>
            </a:r>
            <a:r>
              <a:rPr lang="en-US" altLang="en-US" sz="2000" dirty="0">
                <a:solidFill>
                  <a:srgbClr val="FFFF00"/>
                </a:solidFill>
              </a:rPr>
              <a:t> ~ </a:t>
            </a:r>
            <a:r>
              <a:rPr lang="en-US" altLang="en-US" sz="2000" i="1" dirty="0">
                <a:solidFill>
                  <a:srgbClr val="FFFF00"/>
                </a:solidFill>
              </a:rPr>
              <a:t>N</a:t>
            </a:r>
            <a:r>
              <a:rPr lang="en-US" altLang="en-US" sz="2000" dirty="0">
                <a:solidFill>
                  <a:srgbClr val="FFFF00"/>
                </a:solidFill>
              </a:rPr>
              <a:t>(79.8710,131.8455)  </a:t>
            </a:r>
            <a:r>
              <a:rPr lang="en-US" altLang="en-US" sz="2000" i="1" dirty="0" err="1">
                <a:solidFill>
                  <a:srgbClr val="FFFF00"/>
                </a:solidFill>
                <a:latin typeface="Symbol" panose="05050102010706020507" pitchFamily="18" charset="2"/>
              </a:rPr>
              <a:t>s</a:t>
            </a:r>
            <a:r>
              <a:rPr lang="en-US" altLang="en-US" sz="2000" i="1" baseline="-25000" dirty="0" err="1">
                <a:solidFill>
                  <a:srgbClr val="FFFF00"/>
                </a:solidFill>
              </a:rPr>
              <a:t>Y</a:t>
            </a:r>
            <a:r>
              <a:rPr lang="en-US" altLang="en-US" sz="2000" i="1" dirty="0">
                <a:solidFill>
                  <a:srgbClr val="FFFF00"/>
                </a:solidFill>
                <a:latin typeface="Symbol" panose="05050102010706020507" pitchFamily="18" charset="2"/>
              </a:rPr>
              <a:t> </a:t>
            </a:r>
            <a:r>
              <a:rPr lang="en-US" altLang="en-US" sz="2000" dirty="0">
                <a:solidFill>
                  <a:srgbClr val="FFFF00"/>
                </a:solidFill>
              </a:rPr>
              <a:t>= 11.4824</a:t>
            </a:r>
          </a:p>
          <a:p>
            <a:r>
              <a:rPr lang="en-US" altLang="en-US" sz="2400" i="1" dirty="0">
                <a:solidFill>
                  <a:srgbClr val="FFFF00"/>
                </a:solidFill>
              </a:rPr>
              <a:t>X</a:t>
            </a:r>
            <a:r>
              <a:rPr lang="en-US" altLang="en-US" sz="2400" dirty="0">
                <a:solidFill>
                  <a:srgbClr val="FFFF00"/>
                </a:solidFill>
              </a:rPr>
              <a:t> = Vegas Prediction</a:t>
            </a:r>
          </a:p>
          <a:p>
            <a:pPr lvl="1"/>
            <a:r>
              <a:rPr lang="en-US" altLang="en-US" sz="2000" i="1" dirty="0">
                <a:solidFill>
                  <a:srgbClr val="FFFF00"/>
                </a:solidFill>
              </a:rPr>
              <a:t>X</a:t>
            </a:r>
            <a:r>
              <a:rPr lang="en-US" altLang="en-US" sz="2000" dirty="0">
                <a:solidFill>
                  <a:srgbClr val="FFFF00"/>
                </a:solidFill>
              </a:rPr>
              <a:t> ~ </a:t>
            </a:r>
            <a:r>
              <a:rPr lang="en-US" altLang="en-US" sz="2000" i="1" dirty="0">
                <a:solidFill>
                  <a:srgbClr val="FFFF00"/>
                </a:solidFill>
              </a:rPr>
              <a:t>N</a:t>
            </a:r>
            <a:r>
              <a:rPr lang="en-US" altLang="en-US" sz="2000" dirty="0">
                <a:solidFill>
                  <a:srgbClr val="FFFF00"/>
                </a:solidFill>
              </a:rPr>
              <a:t>(79.7896,33.0755) </a:t>
            </a:r>
            <a:r>
              <a:rPr lang="en-US" altLang="en-US" sz="2000" i="1" dirty="0" err="1">
                <a:solidFill>
                  <a:srgbClr val="FFFF00"/>
                </a:solidFill>
                <a:latin typeface="Symbol" panose="05050102010706020507" pitchFamily="18" charset="2"/>
              </a:rPr>
              <a:t>s</a:t>
            </a:r>
            <a:r>
              <a:rPr lang="en-US" altLang="en-US" sz="2000" i="1" baseline="-25000" dirty="0" err="1">
                <a:solidFill>
                  <a:srgbClr val="FFFF00"/>
                </a:solidFill>
              </a:rPr>
              <a:t>X</a:t>
            </a:r>
            <a:r>
              <a:rPr lang="en-US" altLang="en-US" sz="2000" i="1" baseline="-25000" dirty="0">
                <a:solidFill>
                  <a:srgbClr val="FFFF00"/>
                </a:solidFill>
              </a:rPr>
              <a:t> </a:t>
            </a:r>
            <a:r>
              <a:rPr lang="en-US" altLang="en-US" sz="2000" dirty="0">
                <a:solidFill>
                  <a:srgbClr val="FFFF00"/>
                </a:solidFill>
              </a:rPr>
              <a:t>= 5.7513</a:t>
            </a:r>
          </a:p>
          <a:p>
            <a:r>
              <a:rPr lang="en-US" altLang="en-US" sz="2400" i="1" dirty="0">
                <a:solidFill>
                  <a:srgbClr val="FFFF00"/>
                </a:solidFill>
              </a:rPr>
              <a:t>COV(X,Y</a:t>
            </a:r>
            <a:r>
              <a:rPr lang="en-US" altLang="en-US" sz="2400" dirty="0">
                <a:solidFill>
                  <a:srgbClr val="FFFF00"/>
                </a:solidFill>
              </a:rPr>
              <a:t>) = 31.6524  </a:t>
            </a:r>
            <a:r>
              <a:rPr lang="en-US" altLang="en-US" sz="2400" dirty="0">
                <a:solidFill>
                  <a:srgbClr val="FFFF00"/>
                </a:solidFill>
                <a:sym typeface="Symbol" panose="05050102010706020507" pitchFamily="18" charset="2"/>
              </a:rPr>
              <a:t> </a:t>
            </a:r>
            <a:r>
              <a:rPr lang="en-US" altLang="en-US" sz="2400" i="1" dirty="0">
                <a:solidFill>
                  <a:srgbClr val="FFFF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r </a:t>
            </a:r>
            <a:r>
              <a:rPr lang="en-US" altLang="en-US" sz="2400" dirty="0">
                <a:solidFill>
                  <a:srgbClr val="FFFF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= 0.4793,  </a:t>
            </a:r>
            <a:r>
              <a:rPr lang="en-US" altLang="en-US" sz="2400" i="1" dirty="0">
                <a:solidFill>
                  <a:srgbClr val="FFFF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r</a:t>
            </a:r>
            <a:r>
              <a:rPr lang="en-US" altLang="en-US" sz="2400" baseline="30000" dirty="0">
                <a:solidFill>
                  <a:srgbClr val="FFFF00"/>
                </a:solidFill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solidFill>
                  <a:srgbClr val="FFFF00"/>
                </a:solidFill>
                <a:sym typeface="Symbol" panose="05050102010706020507" pitchFamily="18" charset="2"/>
              </a:rPr>
              <a:t> = 0.2297</a:t>
            </a:r>
          </a:p>
          <a:p>
            <a:r>
              <a:rPr lang="en-US" altLang="en-US" sz="2400" i="1" dirty="0">
                <a:solidFill>
                  <a:srgbClr val="FFFF00"/>
                </a:solidFill>
                <a:sym typeface="Symbol" panose="05050102010706020507" pitchFamily="18" charset="2"/>
              </a:rPr>
              <a:t>Y</a:t>
            </a:r>
            <a:r>
              <a:rPr lang="en-US" altLang="en-US" sz="2400" dirty="0">
                <a:solidFill>
                  <a:srgbClr val="FFFF00"/>
                </a:solidFill>
                <a:sym typeface="Symbol" panose="05050102010706020507" pitchFamily="18" charset="2"/>
              </a:rPr>
              <a:t>|</a:t>
            </a:r>
            <a:r>
              <a:rPr lang="en-US" altLang="en-US" sz="2400" i="1" dirty="0">
                <a:solidFill>
                  <a:srgbClr val="FFFF00"/>
                </a:solidFill>
                <a:sym typeface="Symbol" panose="05050102010706020507" pitchFamily="18" charset="2"/>
              </a:rPr>
              <a:t>X=x </a:t>
            </a:r>
            <a:r>
              <a:rPr lang="en-US" altLang="en-US" sz="2400" dirty="0">
                <a:solidFill>
                  <a:srgbClr val="FFFF00"/>
                </a:solidFill>
                <a:sym typeface="Symbol" panose="05050102010706020507" pitchFamily="18" charset="2"/>
              </a:rPr>
              <a:t>is Normal with conditional mean and variance:</a:t>
            </a:r>
          </a:p>
        </p:txBody>
      </p:sp>
      <p:graphicFrame>
        <p:nvGraphicFramePr>
          <p:cNvPr id="18436" name="Object 4" descr="Condititional Mean and variance of actual points given predicted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36042996"/>
              </p:ext>
            </p:extLst>
          </p:nvPr>
        </p:nvGraphicFramePr>
        <p:xfrm>
          <a:off x="484188" y="4054475"/>
          <a:ext cx="7718425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962840" imgH="761760" progId="Equation.DSMT4">
                  <p:embed/>
                </p:oleObj>
              </mc:Choice>
              <mc:Fallback>
                <p:oleObj name="Equation" r:id="rId2" imgW="7962840" imgH="7617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188" y="4054475"/>
                        <a:ext cx="7718425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27" name="Group 95"/>
          <p:cNvGraphicFramePr>
            <a:graphicFrameLocks noGrp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814237577"/>
              </p:ext>
            </p:extLst>
          </p:nvPr>
        </p:nvGraphicFramePr>
        <p:xfrm>
          <a:off x="914400" y="5105400"/>
          <a:ext cx="7086599" cy="1281430"/>
        </p:xfrm>
        <a:graphic>
          <a:graphicData uri="http://schemas.openxmlformats.org/drawingml/2006/table">
            <a:tbl>
              <a:tblPr firstRow="1"/>
              <a:tblGrid>
                <a:gridCol w="1483134">
                  <a:extLst>
                    <a:ext uri="{9D8B030D-6E8A-4147-A177-3AD203B41FA5}">
                      <a16:colId xmlns:a16="http://schemas.microsoft.com/office/drawing/2014/main" val="27493928"/>
                    </a:ext>
                  </a:extLst>
                </a:gridCol>
                <a:gridCol w="1516638">
                  <a:extLst>
                    <a:ext uri="{9D8B030D-6E8A-4147-A177-3AD203B41FA5}">
                      <a16:colId xmlns:a16="http://schemas.microsoft.com/office/drawing/2014/main" val="4260457892"/>
                    </a:ext>
                  </a:extLst>
                </a:gridCol>
                <a:gridCol w="1027863">
                  <a:extLst>
                    <a:ext uri="{9D8B030D-6E8A-4147-A177-3AD203B41FA5}">
                      <a16:colId xmlns:a16="http://schemas.microsoft.com/office/drawing/2014/main" val="1876567421"/>
                    </a:ext>
                  </a:extLst>
                </a:gridCol>
                <a:gridCol w="1089624">
                  <a:extLst>
                    <a:ext uri="{9D8B030D-6E8A-4147-A177-3AD203B41FA5}">
                      <a16:colId xmlns:a16="http://schemas.microsoft.com/office/drawing/2014/main" val="1686301433"/>
                    </a:ext>
                  </a:extLst>
                </a:gridCol>
                <a:gridCol w="826341">
                  <a:extLst>
                    <a:ext uri="{9D8B030D-6E8A-4147-A177-3AD203B41FA5}">
                      <a16:colId xmlns:a16="http://schemas.microsoft.com/office/drawing/2014/main" val="1358384920"/>
                    </a:ext>
                  </a:extLst>
                </a:gridCol>
                <a:gridCol w="1142999">
                  <a:extLst>
                    <a:ext uri="{9D8B030D-6E8A-4147-A177-3AD203B41FA5}">
                      <a16:colId xmlns:a16="http://schemas.microsoft.com/office/drawing/2014/main" val="549303493"/>
                    </a:ext>
                  </a:extLst>
                </a:gridCol>
              </a:tblGrid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</a:rPr>
                        <a:t>Unconditional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</a:rPr>
                        <a:t>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</a:rPr>
                        <a:t>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</a:rPr>
                        <a:t>105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671467"/>
                  </a:ext>
                </a:extLst>
              </a:tr>
              <a:tr h="3667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</a:rPr>
                        <a:t>E[</a:t>
                      </a: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</a:rPr>
                        <a:t>Y|x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</a:rPr>
                        <a:t>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</a:rPr>
                        <a:t>79.8710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</a:rPr>
                        <a:t>60.93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</a:rPr>
                        <a:t>75.29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</a:rPr>
                        <a:t>89.64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</a:rPr>
                        <a:t>103.99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205591"/>
                  </a:ext>
                </a:extLst>
              </a:tr>
              <a:tr h="488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Symbol" panose="05050102010706020507" pitchFamily="18" charset="2"/>
                        </a:rPr>
                        <a:t>s</a:t>
                      </a:r>
                      <a:r>
                        <a:rPr kumimoji="0" lang="en-US" altLang="en-US" sz="20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</a:rPr>
                        <a:t>Y|x</a:t>
                      </a:r>
                      <a:endParaRPr kumimoji="0" lang="en-US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</a:rPr>
                        <a:t>11.4824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</a:rPr>
                        <a:t>10.08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</a:rPr>
                        <a:t>10.08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</a:rPr>
                        <a:t>10.08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Arial" panose="020B0604020202020204" pitchFamily="34" charset="0"/>
                        </a:rPr>
                        <a:t>10.08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47479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C4ABA-7591-53E6-B82E-366BE73FF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" y="71160"/>
            <a:ext cx="8877300" cy="792162"/>
          </a:xfrm>
        </p:spPr>
        <p:txBody>
          <a:bodyPr/>
          <a:lstStyle/>
          <a:p>
            <a:r>
              <a:rPr lang="en-US" sz="3200" dirty="0"/>
              <a:t>Marginal and Conditional Distributions for Points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19203A-3354-FA83-13DA-74D03657EF97}"/>
              </a:ext>
            </a:extLst>
          </p:cNvPr>
          <p:cNvSpPr txBox="1"/>
          <p:nvPr/>
        </p:nvSpPr>
        <p:spPr>
          <a:xfrm>
            <a:off x="190500" y="6324600"/>
            <a:ext cx="876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Marginal Distribution (Black) and Conditional Distributions for X=60,70,…,100,110</a:t>
            </a:r>
          </a:p>
        </p:txBody>
      </p:sp>
      <p:pic>
        <p:nvPicPr>
          <p:cNvPr id="5" name="Picture 4" descr="Plot of marginal distribution Y and six conditional distributions">
            <a:extLst>
              <a:ext uri="{FF2B5EF4-FFF2-40B4-BE49-F238E27FC236}">
                <a16:creationId xmlns:a16="http://schemas.microsoft.com/office/drawing/2014/main" id="{E77302C7-892A-DBFC-3491-C00C572EB7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914400"/>
            <a:ext cx="8712678" cy="53080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FC16EF2-4649-6D7B-5504-4DCDB2EC7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1869"/>
            <a:ext cx="8229600" cy="380206"/>
          </a:xfrm>
        </p:spPr>
        <p:txBody>
          <a:bodyPr/>
          <a:lstStyle/>
          <a:p>
            <a:r>
              <a:rPr lang="en-US" sz="3200" dirty="0"/>
              <a:t>Plot of 3 Equations to Predict Points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EC3C0C-D204-4057-B91C-9F6113487C51}"/>
              </a:ext>
            </a:extLst>
          </p:cNvPr>
          <p:cNvSpPr txBox="1"/>
          <p:nvPr/>
        </p:nvSpPr>
        <p:spPr>
          <a:xfrm>
            <a:off x="185530" y="6019800"/>
            <a:ext cx="8729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Regression line is (slightly) above line of equality for predicted scores below mean and (slightly) below for predicted scores above mean. Regression to the mean</a:t>
            </a:r>
          </a:p>
        </p:txBody>
      </p:sp>
      <p:pic>
        <p:nvPicPr>
          <p:cNvPr id="5" name="Picture 4" descr="Plots of the regression equation, line of equality, and horizzontal line at mean of Y">
            <a:extLst>
              <a:ext uri="{FF2B5EF4-FFF2-40B4-BE49-F238E27FC236}">
                <a16:creationId xmlns:a16="http://schemas.microsoft.com/office/drawing/2014/main" id="{0B6F6EE6-282B-5574-D6F8-2560E2DCB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30" y="654844"/>
            <a:ext cx="8712678" cy="536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231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r>
              <a:rPr lang="en-US" altLang="en-US" sz="3200" dirty="0"/>
              <a:t>Expectations and Variances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990600"/>
            <a:ext cx="8915400" cy="5562600"/>
          </a:xfrm>
        </p:spPr>
        <p:txBody>
          <a:bodyPr/>
          <a:lstStyle/>
          <a:p>
            <a:r>
              <a:rPr lang="en-US" altLang="en-US" sz="2800" i="1" dirty="0"/>
              <a:t>E</a:t>
            </a:r>
            <a:r>
              <a:rPr lang="en-US" altLang="en-US" sz="2800" dirty="0"/>
              <a:t>{</a:t>
            </a:r>
            <a:r>
              <a:rPr lang="en-US" altLang="en-US" sz="2800" i="1" dirty="0"/>
              <a:t>X</a:t>
            </a:r>
            <a:r>
              <a:rPr lang="en-US" altLang="en-US" sz="2800" dirty="0"/>
              <a:t>} = 79.7896   </a:t>
            </a:r>
            <a:r>
              <a:rPr lang="en-US" altLang="en-US" sz="2800" i="1" dirty="0"/>
              <a:t>V</a:t>
            </a:r>
            <a:r>
              <a:rPr lang="en-US" altLang="en-US" sz="2800" dirty="0"/>
              <a:t> {</a:t>
            </a:r>
            <a:r>
              <a:rPr lang="en-US" altLang="en-US" sz="2800" i="1" dirty="0"/>
              <a:t>X</a:t>
            </a:r>
            <a:r>
              <a:rPr lang="en-US" altLang="en-US" sz="2800" dirty="0"/>
              <a:t>} = 33.0755</a:t>
            </a:r>
          </a:p>
          <a:p>
            <a:r>
              <a:rPr lang="en-US" altLang="en-US" sz="2800" i="1" dirty="0"/>
              <a:t>E</a:t>
            </a:r>
            <a:r>
              <a:rPr lang="en-US" altLang="en-US" sz="2800" dirty="0"/>
              <a:t>{</a:t>
            </a:r>
            <a:r>
              <a:rPr lang="en-US" altLang="en-US" sz="2800" i="1" dirty="0"/>
              <a:t>Y</a:t>
            </a:r>
            <a:r>
              <a:rPr lang="en-US" altLang="en-US" sz="2800" dirty="0"/>
              <a:t>} = 79.8710  </a:t>
            </a:r>
            <a:r>
              <a:rPr lang="en-US" altLang="en-US" sz="2800" i="1" dirty="0"/>
              <a:t>V</a:t>
            </a:r>
            <a:r>
              <a:rPr lang="en-US" altLang="en-US" sz="2800" dirty="0"/>
              <a:t> {</a:t>
            </a:r>
            <a:r>
              <a:rPr lang="en-US" altLang="en-US" sz="2800" i="1" dirty="0"/>
              <a:t>Y</a:t>
            </a:r>
            <a:r>
              <a:rPr lang="en-US" altLang="en-US" sz="2800" dirty="0"/>
              <a:t>} = 131.8455</a:t>
            </a:r>
          </a:p>
          <a:p>
            <a:r>
              <a:rPr lang="en-US" altLang="en-US" sz="2800" i="1" dirty="0"/>
              <a:t>E</a:t>
            </a:r>
            <a:r>
              <a:rPr lang="en-US" altLang="en-US" sz="2800" dirty="0"/>
              <a:t>{</a:t>
            </a:r>
            <a:r>
              <a:rPr lang="en-US" altLang="en-US" sz="2800" i="1" dirty="0"/>
              <a:t>Y|X=x</a:t>
            </a:r>
            <a:r>
              <a:rPr lang="en-US" altLang="en-US" sz="2800" dirty="0"/>
              <a:t>} = 3.5190+0.9569x</a:t>
            </a:r>
            <a:endParaRPr lang="en-US" altLang="en-US" sz="2800" i="1" dirty="0"/>
          </a:p>
          <a:p>
            <a:r>
              <a:rPr lang="en-US" altLang="en-US" sz="2800" i="1" dirty="0"/>
              <a:t>E</a:t>
            </a:r>
            <a:r>
              <a:rPr lang="en-US" altLang="en-US" sz="2800" i="1" baseline="-25000" dirty="0"/>
              <a:t>X</a:t>
            </a:r>
            <a:r>
              <a:rPr lang="en-US" altLang="en-US" sz="2800" dirty="0"/>
              <a:t>{</a:t>
            </a:r>
            <a:r>
              <a:rPr lang="en-US" altLang="en-US" sz="2800" i="1" dirty="0"/>
              <a:t>E</a:t>
            </a:r>
            <a:r>
              <a:rPr lang="en-US" altLang="en-US" sz="2800" dirty="0"/>
              <a:t>{</a:t>
            </a:r>
            <a:r>
              <a:rPr lang="en-US" altLang="en-US" sz="2800" i="1" dirty="0"/>
              <a:t>Y|X=x</a:t>
            </a:r>
            <a:r>
              <a:rPr lang="en-US" altLang="en-US" sz="2800" dirty="0"/>
              <a:t>}} = </a:t>
            </a:r>
            <a:r>
              <a:rPr lang="en-US" altLang="en-US" sz="2800" i="1" dirty="0"/>
              <a:t>E</a:t>
            </a:r>
            <a:r>
              <a:rPr lang="en-US" altLang="en-US" sz="2800" i="1" baseline="-25000" dirty="0"/>
              <a:t>X</a:t>
            </a:r>
            <a:r>
              <a:rPr lang="en-US" altLang="en-US" sz="2800" dirty="0"/>
              <a:t>{3.5190+0.9569</a:t>
            </a:r>
            <a:r>
              <a:rPr lang="en-US" altLang="en-US" sz="2800" i="1" dirty="0"/>
              <a:t>X</a:t>
            </a:r>
            <a:r>
              <a:rPr lang="en-US" altLang="en-US" sz="2800" dirty="0"/>
              <a:t>} = </a:t>
            </a:r>
          </a:p>
          <a:p>
            <a:pPr marL="0" indent="0">
              <a:buNone/>
            </a:pPr>
            <a:r>
              <a:rPr lang="en-US" altLang="en-US" sz="2800" dirty="0"/>
              <a:t> 3.5190+0.9569(79.7896) = 79.8697 = </a:t>
            </a:r>
            <a:r>
              <a:rPr lang="en-US" altLang="en-US" sz="2800" i="1" dirty="0"/>
              <a:t>E</a:t>
            </a:r>
            <a:r>
              <a:rPr lang="en-US" altLang="en-US" sz="2800" dirty="0"/>
              <a:t>{</a:t>
            </a:r>
            <a:r>
              <a:rPr lang="en-US" altLang="en-US" sz="2800" i="1" dirty="0"/>
              <a:t>Y</a:t>
            </a:r>
            <a:r>
              <a:rPr lang="en-US" altLang="en-US" sz="2800" dirty="0"/>
              <a:t>}  </a:t>
            </a:r>
            <a:r>
              <a:rPr lang="en-US" altLang="en-US" dirty="0"/>
              <a:t>(rounding)</a:t>
            </a:r>
            <a:endParaRPr lang="en-US" altLang="en-US" sz="2800" dirty="0"/>
          </a:p>
          <a:p>
            <a:r>
              <a:rPr lang="en-US" altLang="en-US" sz="2800" i="1" dirty="0"/>
              <a:t>V</a:t>
            </a:r>
            <a:r>
              <a:rPr lang="en-US" altLang="en-US" sz="2800" dirty="0"/>
              <a:t>{</a:t>
            </a:r>
            <a:r>
              <a:rPr lang="en-US" altLang="en-US" sz="2800" i="1" dirty="0"/>
              <a:t>Y|X=x</a:t>
            </a:r>
            <a:r>
              <a:rPr lang="en-US" altLang="en-US" sz="2800" dirty="0"/>
              <a:t>} = 10.0</a:t>
            </a:r>
            <a:r>
              <a:rPr lang="en-US" altLang="en-US" dirty="0"/>
              <a:t>777</a:t>
            </a:r>
            <a:r>
              <a:rPr lang="en-US" altLang="en-US" baseline="30000" dirty="0"/>
              <a:t>2</a:t>
            </a:r>
            <a:r>
              <a:rPr lang="en-US" altLang="en-US" sz="2800" dirty="0"/>
              <a:t>  </a:t>
            </a:r>
            <a:r>
              <a:rPr lang="en-US" altLang="en-US" sz="2800" dirty="0">
                <a:sym typeface="Symbol" panose="05050102010706020507" pitchFamily="18" charset="2"/>
              </a:rPr>
              <a:t> </a:t>
            </a:r>
            <a:r>
              <a:rPr lang="en-US" altLang="en-US" sz="2800" i="1" dirty="0"/>
              <a:t>E</a:t>
            </a:r>
            <a:r>
              <a:rPr lang="en-US" altLang="en-US" sz="2800" i="1" baseline="-25000" dirty="0"/>
              <a:t>X</a:t>
            </a:r>
            <a:r>
              <a:rPr lang="en-US" altLang="en-US" sz="2800" dirty="0"/>
              <a:t>{</a:t>
            </a:r>
            <a:r>
              <a:rPr lang="en-US" altLang="en-US" sz="2800" i="1" dirty="0"/>
              <a:t>V</a:t>
            </a:r>
            <a:r>
              <a:rPr lang="en-US" altLang="en-US" sz="2800" dirty="0"/>
              <a:t>{</a:t>
            </a:r>
            <a:r>
              <a:rPr lang="en-US" altLang="en-US" sz="2800" i="1" dirty="0"/>
              <a:t>Y|X=x</a:t>
            </a:r>
            <a:r>
              <a:rPr lang="en-US" altLang="en-US" sz="2800" dirty="0"/>
              <a:t>}} = 101.5606</a:t>
            </a:r>
          </a:p>
          <a:p>
            <a:r>
              <a:rPr lang="en-US" altLang="en-US" sz="2800" i="1" dirty="0"/>
              <a:t>V</a:t>
            </a:r>
            <a:r>
              <a:rPr lang="en-US" altLang="en-US" sz="2800" i="1" baseline="-25000" dirty="0"/>
              <a:t>X</a:t>
            </a:r>
            <a:r>
              <a:rPr lang="en-US" altLang="en-US" sz="2800" dirty="0"/>
              <a:t>{</a:t>
            </a:r>
            <a:r>
              <a:rPr lang="en-US" altLang="en-US" sz="2800" i="1" dirty="0"/>
              <a:t>E</a:t>
            </a:r>
            <a:r>
              <a:rPr lang="en-US" altLang="en-US" sz="2800" dirty="0"/>
              <a:t>{</a:t>
            </a:r>
            <a:r>
              <a:rPr lang="en-US" altLang="en-US" sz="2800" i="1" dirty="0"/>
              <a:t>Y|X=x</a:t>
            </a:r>
            <a:r>
              <a:rPr lang="en-US" altLang="en-US" sz="2800" dirty="0"/>
              <a:t>}} = </a:t>
            </a:r>
            <a:r>
              <a:rPr lang="en-US" altLang="en-US" sz="2800" i="1" dirty="0"/>
              <a:t>V</a:t>
            </a:r>
            <a:r>
              <a:rPr lang="en-US" altLang="en-US" sz="2800" i="1" baseline="-25000" dirty="0"/>
              <a:t>X</a:t>
            </a:r>
            <a:r>
              <a:rPr lang="en-US" altLang="en-US" sz="2800" dirty="0"/>
              <a:t>{3.5190+0.9569</a:t>
            </a:r>
            <a:r>
              <a:rPr lang="en-US" altLang="en-US" sz="2800" i="1" dirty="0"/>
              <a:t>X</a:t>
            </a:r>
            <a:r>
              <a:rPr lang="en-US" altLang="en-US" sz="2800" dirty="0"/>
              <a:t>} = </a:t>
            </a:r>
          </a:p>
          <a:p>
            <a:pPr marL="0" indent="0">
              <a:buNone/>
            </a:pPr>
            <a:r>
              <a:rPr lang="en-US" altLang="en-US" sz="2800" dirty="0"/>
              <a:t>      (0.9569)</a:t>
            </a:r>
            <a:r>
              <a:rPr lang="en-US" altLang="en-US" sz="2800" baseline="30000" dirty="0"/>
              <a:t>2 </a:t>
            </a:r>
            <a:r>
              <a:rPr lang="en-US" altLang="en-US" sz="2800" i="1" dirty="0"/>
              <a:t>V</a:t>
            </a:r>
            <a:r>
              <a:rPr lang="en-US" altLang="en-US" sz="2800" dirty="0"/>
              <a:t>(</a:t>
            </a:r>
            <a:r>
              <a:rPr lang="en-US" altLang="en-US" sz="2800" i="1" dirty="0"/>
              <a:t>X</a:t>
            </a:r>
            <a:r>
              <a:rPr lang="en-US" altLang="en-US" sz="2800" dirty="0"/>
              <a:t>) = (0.9157)33.0755 = 30.2858</a:t>
            </a:r>
          </a:p>
          <a:p>
            <a:r>
              <a:rPr lang="en-US" altLang="en-US" sz="2800" i="1" dirty="0"/>
              <a:t>E</a:t>
            </a:r>
            <a:r>
              <a:rPr lang="en-US" altLang="en-US" sz="2800" i="1" baseline="-25000" dirty="0"/>
              <a:t>X</a:t>
            </a:r>
            <a:r>
              <a:rPr lang="en-US" altLang="en-US" sz="2800" dirty="0"/>
              <a:t>{</a:t>
            </a:r>
            <a:r>
              <a:rPr lang="en-US" altLang="en-US" sz="2800" i="1" dirty="0"/>
              <a:t>V</a:t>
            </a:r>
            <a:r>
              <a:rPr lang="en-US" altLang="en-US" sz="2800" dirty="0"/>
              <a:t>{</a:t>
            </a:r>
            <a:r>
              <a:rPr lang="en-US" altLang="en-US" sz="2800" i="1" dirty="0"/>
              <a:t>Y|X=x</a:t>
            </a:r>
            <a:r>
              <a:rPr lang="en-US" altLang="en-US" sz="2800" dirty="0"/>
              <a:t>}}+</a:t>
            </a:r>
            <a:r>
              <a:rPr lang="en-US" altLang="en-US" sz="2800" i="1" dirty="0"/>
              <a:t>V</a:t>
            </a:r>
            <a:r>
              <a:rPr lang="en-US" altLang="en-US" sz="2800" i="1" baseline="-25000" dirty="0"/>
              <a:t>X</a:t>
            </a:r>
            <a:r>
              <a:rPr lang="en-US" altLang="en-US" sz="2800" dirty="0"/>
              <a:t>{</a:t>
            </a:r>
            <a:r>
              <a:rPr lang="en-US" altLang="en-US" sz="2800" i="1" dirty="0"/>
              <a:t>E</a:t>
            </a:r>
            <a:r>
              <a:rPr lang="en-US" altLang="en-US" sz="2800" dirty="0"/>
              <a:t>{</a:t>
            </a:r>
            <a:r>
              <a:rPr lang="en-US" altLang="en-US" sz="2800" i="1" dirty="0"/>
              <a:t>Y|X=x</a:t>
            </a:r>
            <a:r>
              <a:rPr lang="en-US" altLang="en-US" sz="2800" dirty="0"/>
              <a:t>}} = </a:t>
            </a:r>
          </a:p>
          <a:p>
            <a:pPr marL="0" indent="0">
              <a:buNone/>
            </a:pPr>
            <a:r>
              <a:rPr lang="en-US" altLang="en-US" sz="2800" dirty="0"/>
              <a:t>   101.5606+30.2858=131.8464 = </a:t>
            </a:r>
            <a:r>
              <a:rPr lang="en-US" altLang="en-US" sz="2800" i="1" dirty="0"/>
              <a:t>V</a:t>
            </a:r>
            <a:r>
              <a:rPr lang="en-US" altLang="en-US" sz="2800" dirty="0"/>
              <a:t>{</a:t>
            </a:r>
            <a:r>
              <a:rPr lang="en-US" altLang="en-US" sz="2800" i="1" dirty="0"/>
              <a:t>Y</a:t>
            </a:r>
            <a:r>
              <a:rPr lang="en-US" altLang="en-US" sz="2800" dirty="0"/>
              <a:t>}   (rounding)</a:t>
            </a:r>
            <a:r>
              <a:rPr lang="en-US" altLang="en-US" dirty="0"/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09B76-EB95-EB39-F04E-CCE07A4FA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87362"/>
          </a:xfrm>
        </p:spPr>
        <p:txBody>
          <a:bodyPr/>
          <a:lstStyle/>
          <a:p>
            <a:r>
              <a:rPr lang="en-US" sz="3200" dirty="0"/>
              <a:t>Normal Probability Plots for Points</a:t>
            </a:r>
          </a:p>
        </p:txBody>
      </p:sp>
      <p:pic>
        <p:nvPicPr>
          <p:cNvPr id="4" name="Picture 3" descr="Normal probability plots of predicted (left) and actual (right) points">
            <a:extLst>
              <a:ext uri="{FF2B5EF4-FFF2-40B4-BE49-F238E27FC236}">
                <a16:creationId xmlns:a16="http://schemas.microsoft.com/office/drawing/2014/main" id="{D588ABC9-B6C1-D6FE-3B2A-DA484AEEAD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838200"/>
            <a:ext cx="85344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9442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CCADD-7AE5-18DA-9615-21CDE8F3A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/>
          <a:lstStyle/>
          <a:p>
            <a:r>
              <a:rPr lang="en-US" sz="3200" dirty="0"/>
              <a:t>Ellipsoid Containing 95% of Games</a:t>
            </a:r>
          </a:p>
        </p:txBody>
      </p:sp>
      <p:pic>
        <p:nvPicPr>
          <p:cNvPr id="4" name="Picture 3" descr="Plot of ellipsoid containg 95% of the games">
            <a:extLst>
              <a:ext uri="{FF2B5EF4-FFF2-40B4-BE49-F238E27FC236}">
                <a16:creationId xmlns:a16="http://schemas.microsoft.com/office/drawing/2014/main" id="{9F3E0814-7B79-88AE-FB77-60625AA4C8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914400"/>
            <a:ext cx="8343900" cy="5804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28873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rgbClr val="A5002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rgbClr val="A5002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465</Words>
  <Application>Microsoft Office PowerPoint</Application>
  <PresentationFormat>On-screen Show (4:3)</PresentationFormat>
  <Paragraphs>64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Symbol</vt:lpstr>
      <vt:lpstr>Wingdings</vt:lpstr>
      <vt:lpstr>Default Design</vt:lpstr>
      <vt:lpstr>Equation</vt:lpstr>
      <vt:lpstr>Bivariate Normal Distribution and Regression</vt:lpstr>
      <vt:lpstr>Data – Predicted and Actual Points</vt:lpstr>
      <vt:lpstr>Bivariate Plot with Marginal Histograms</vt:lpstr>
      <vt:lpstr>Bivariate Plot with Marginal Densities</vt:lpstr>
      <vt:lpstr>Scatterplot with Regression Line</vt:lpstr>
      <vt:lpstr>Histograms with Normal Densities</vt:lpstr>
      <vt:lpstr>Joint Density Function</vt:lpstr>
      <vt:lpstr>Bivariate Distribution of Actual/Predicted Points</vt:lpstr>
      <vt:lpstr>Marginal Distribution of X (p. 1)</vt:lpstr>
      <vt:lpstr>Marginal Distribution of X (p. 2) </vt:lpstr>
      <vt:lpstr>Conditional Distribution of Y Given X=x (P. 1)</vt:lpstr>
      <vt:lpstr>Conditional Distribution of Y Given X=x (P. 2)</vt:lpstr>
      <vt:lpstr>Summary of Results</vt:lpstr>
      <vt:lpstr> Actual and Predicted Team Game Scores</vt:lpstr>
      <vt:lpstr>Marginal and Conditional Distributions for Points</vt:lpstr>
      <vt:lpstr>Plot of 3 Equations to Predict Points</vt:lpstr>
      <vt:lpstr>Expectations and Variances</vt:lpstr>
      <vt:lpstr>Normal Probability Plots for Points</vt:lpstr>
      <vt:lpstr>Ellipsoid Containing 95% of Games</vt:lpstr>
    </vt:vector>
  </TitlesOfParts>
  <Company>University of Florida, Department of Statistics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Bivariate Normal Distribution</dc:title>
  <dc:creator>winner</dc:creator>
  <cp:lastModifiedBy>Winner,Lawrence Herman</cp:lastModifiedBy>
  <cp:revision>71</cp:revision>
  <dcterms:created xsi:type="dcterms:W3CDTF">2007-03-28T15:01:17Z</dcterms:created>
  <dcterms:modified xsi:type="dcterms:W3CDTF">2025-12-17T14:54:51Z</dcterms:modified>
</cp:coreProperties>
</file>