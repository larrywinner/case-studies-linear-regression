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9" r:id="rId11"/>
    <p:sldId id="263" r:id="rId12"/>
    <p:sldId id="271" r:id="rId13"/>
    <p:sldId id="272" r:id="rId14"/>
    <p:sldId id="267" r:id="rId15"/>
    <p:sldId id="268" r:id="rId16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winner\Desktop\winepop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winner\Desktop\winepop.xls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winner\Desktop\winepop.xls" TargetMode="External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Residuals versus Time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rgbClr val="FFFF00"/>
              </a:solidFill>
            </a:ln>
          </c:spPr>
          <c:marker>
            <c:spPr>
              <a:solidFill>
                <a:srgbClr val="FFFF00"/>
              </a:solidFill>
            </c:spPr>
          </c:marker>
          <c:val>
            <c:numRef>
              <c:f>Sheet1!$C$25:$C$93</c:f>
              <c:numCache>
                <c:formatCode>General</c:formatCode>
                <c:ptCount val="69"/>
                <c:pt idx="0">
                  <c:v>-13.924243351267705</c:v>
                </c:pt>
                <c:pt idx="1">
                  <c:v>-6.2073022623434326</c:v>
                </c:pt>
                <c:pt idx="2">
                  <c:v>2.6216775963101213</c:v>
                </c:pt>
                <c:pt idx="3">
                  <c:v>4.5152952067303955</c:v>
                </c:pt>
                <c:pt idx="4">
                  <c:v>-0.87549329062335468</c:v>
                </c:pt>
                <c:pt idx="5">
                  <c:v>3.7035539278650202</c:v>
                </c:pt>
                <c:pt idx="6">
                  <c:v>10.58882261072273</c:v>
                </c:pt>
                <c:pt idx="7">
                  <c:v>16.060140242933056</c:v>
                </c:pt>
                <c:pt idx="8">
                  <c:v>22.574549709654605</c:v>
                </c:pt>
                <c:pt idx="9">
                  <c:v>2.0243214246093584</c:v>
                </c:pt>
                <c:pt idx="10">
                  <c:v>-2.4741966590224251</c:v>
                </c:pt>
                <c:pt idx="11">
                  <c:v>-11.99883928270067</c:v>
                </c:pt>
                <c:pt idx="12">
                  <c:v>29.903127255282186</c:v>
                </c:pt>
                <c:pt idx="13">
                  <c:v>-18.104143914921622</c:v>
                </c:pt>
                <c:pt idx="14">
                  <c:v>1.8972032817766831</c:v>
                </c:pt>
                <c:pt idx="15">
                  <c:v>7.7778933418435994</c:v>
                </c:pt>
                <c:pt idx="16">
                  <c:v>10.188612966398562</c:v>
                </c:pt>
                <c:pt idx="17">
                  <c:v>-7.5687255636402675</c:v>
                </c:pt>
                <c:pt idx="18">
                  <c:v>-1.265735525363312</c:v>
                </c:pt>
                <c:pt idx="19">
                  <c:v>-2.8636342677106144</c:v>
                </c:pt>
                <c:pt idx="20">
                  <c:v>-7.0346544090571683</c:v>
                </c:pt>
                <c:pt idx="21">
                  <c:v>-9.3047857697794711</c:v>
                </c:pt>
                <c:pt idx="22">
                  <c:v>-10.092019144636481</c:v>
                </c:pt>
                <c:pt idx="23">
                  <c:v>-14.456683101943852</c:v>
                </c:pt>
                <c:pt idx="24">
                  <c:v>-18.657328648768896</c:v>
                </c:pt>
                <c:pt idx="25">
                  <c:v>-26.448062889057859</c:v>
                </c:pt>
                <c:pt idx="26">
                  <c:v>-25.929074799545617</c:v>
                </c:pt>
                <c:pt idx="27">
                  <c:v>-23.578144864627024</c:v>
                </c:pt>
                <c:pt idx="28">
                  <c:v>-38.333866758627622</c:v>
                </c:pt>
                <c:pt idx="29">
                  <c:v>-39.564137710931462</c:v>
                </c:pt>
                <c:pt idx="30">
                  <c:v>-38.893519882610761</c:v>
                </c:pt>
                <c:pt idx="31">
                  <c:v>-43.994515331380569</c:v>
                </c:pt>
                <c:pt idx="32">
                  <c:v>-52.681559729503022</c:v>
                </c:pt>
                <c:pt idx="33">
                  <c:v>-50.816759206542244</c:v>
                </c:pt>
                <c:pt idx="34">
                  <c:v>-50.020905618799418</c:v>
                </c:pt>
                <c:pt idx="35">
                  <c:v>-38.345709167688021</c:v>
                </c:pt>
                <c:pt idx="36">
                  <c:v>-18.967576935364399</c:v>
                </c:pt>
                <c:pt idx="37">
                  <c:v>6.9106900166291894</c:v>
                </c:pt>
                <c:pt idx="38">
                  <c:v>26.319255972450492</c:v>
                </c:pt>
                <c:pt idx="39">
                  <c:v>23.822623964196222</c:v>
                </c:pt>
                <c:pt idx="40">
                  <c:v>13.317373589039843</c:v>
                </c:pt>
                <c:pt idx="41">
                  <c:v>19.55788139026739</c:v>
                </c:pt>
                <c:pt idx="42">
                  <c:v>14.42779941469832</c:v>
                </c:pt>
                <c:pt idx="43">
                  <c:v>26.577814363452248</c:v>
                </c:pt>
                <c:pt idx="44">
                  <c:v>47.69766502804822</c:v>
                </c:pt>
                <c:pt idx="45">
                  <c:v>43.899390178215455</c:v>
                </c:pt>
                <c:pt idx="46">
                  <c:v>69.837446819845411</c:v>
                </c:pt>
                <c:pt idx="47">
                  <c:v>86.021126918189282</c:v>
                </c:pt>
                <c:pt idx="48">
                  <c:v>84.885658001810313</c:v>
                </c:pt>
                <c:pt idx="49">
                  <c:v>90.310382934077268</c:v>
                </c:pt>
                <c:pt idx="50">
                  <c:v>108.61014154626166</c:v>
                </c:pt>
                <c:pt idx="51">
                  <c:v>124.78493383836377</c:v>
                </c:pt>
                <c:pt idx="52">
                  <c:v>122.27025677828607</c:v>
                </c:pt>
                <c:pt idx="53">
                  <c:v>108.37583269583028</c:v>
                </c:pt>
                <c:pt idx="54">
                  <c:v>71.399264688463859</c:v>
                </c:pt>
                <c:pt idx="55">
                  <c:v>37.728648706126663</c:v>
                </c:pt>
                <c:pt idx="56">
                  <c:v>14.627383818017108</c:v>
                </c:pt>
                <c:pt idx="57">
                  <c:v>-38.107061598067567</c:v>
                </c:pt>
                <c:pt idx="58">
                  <c:v>-39.194590617804813</c:v>
                </c:pt>
                <c:pt idx="59">
                  <c:v>-77.027877813925585</c:v>
                </c:pt>
                <c:pt idx="60">
                  <c:v>-77.800836441731178</c:v>
                </c:pt>
                <c:pt idx="61">
                  <c:v>-84.362375641091788</c:v>
                </c:pt>
                <c:pt idx="62">
                  <c:v>-59.928224023903546</c:v>
                </c:pt>
                <c:pt idx="63">
                  <c:v>-52.291271345172923</c:v>
                </c:pt>
                <c:pt idx="64">
                  <c:v>-58.421622760081604</c:v>
                </c:pt>
                <c:pt idx="65">
                  <c:v>-45.103819096073785</c:v>
                </c:pt>
                <c:pt idx="66">
                  <c:v>-50.384991931771495</c:v>
                </c:pt>
                <c:pt idx="67">
                  <c:v>-59.885933123476889</c:v>
                </c:pt>
                <c:pt idx="68">
                  <c:v>-38.326545746866486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11-4F7F-922D-70255ECFBB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926784"/>
        <c:axId val="80333056"/>
      </c:lineChart>
      <c:catAx>
        <c:axId val="79926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80333056"/>
        <c:crossesAt val="-100"/>
        <c:auto val="1"/>
        <c:lblAlgn val="ctr"/>
        <c:lblOffset val="100"/>
        <c:noMultiLvlLbl val="0"/>
      </c:catAx>
      <c:valAx>
        <c:axId val="8033305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9926784"/>
        <c:crosses val="autoZero"/>
        <c:crossBetween val="between"/>
      </c:valAx>
      <c:spPr>
        <a:solidFill>
          <a:srgbClr val="006666"/>
        </a:solidFill>
      </c:spPr>
    </c:plotArea>
    <c:plotVisOnly val="1"/>
    <c:dispBlanksAs val="gap"/>
    <c:showDLblsOverMax val="0"/>
  </c:chart>
  <c:spPr>
    <a:solidFill>
      <a:srgbClr val="FFCC00"/>
    </a:solidFill>
  </c:sp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Transformed residuals versus Year - EGLS (q=1)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8535409184730301E-2"/>
          <c:y val="8.7539579834027922E-2"/>
          <c:w val="0.9024410269751596"/>
          <c:h val="0.85519326964564391"/>
        </c:manualLayout>
      </c:layout>
      <c:lineChart>
        <c:grouping val="standard"/>
        <c:varyColors val="0"/>
        <c:ser>
          <c:idx val="0"/>
          <c:order val="0"/>
          <c:spPr>
            <a:ln>
              <a:solidFill>
                <a:srgbClr val="FF0000"/>
              </a:solidFill>
            </a:ln>
          </c:spPr>
          <c:marker>
            <c:spPr>
              <a:solidFill>
                <a:srgbClr val="FF0000"/>
              </a:solidFill>
            </c:spPr>
          </c:marker>
          <c:val>
            <c:numRef>
              <c:f>winepop_dat!$L$101:$L$169</c:f>
              <c:numCache>
                <c:formatCode>General</c:formatCode>
                <c:ptCount val="69"/>
                <c:pt idx="0">
                  <c:v>-3.4138634383949387</c:v>
                </c:pt>
                <c:pt idx="1">
                  <c:v>7.1579242757871997</c:v>
                </c:pt>
                <c:pt idx="2">
                  <c:v>8.7760324012675888</c:v>
                </c:pt>
                <c:pt idx="3">
                  <c:v>2.4197505351229398</c:v>
                </c:pt>
                <c:pt idx="4">
                  <c:v>-4.7333006128121076</c:v>
                </c:pt>
                <c:pt idx="5">
                  <c:v>4.8899766784174048</c:v>
                </c:pt>
                <c:pt idx="6">
                  <c:v>7.508129367416255</c:v>
                </c:pt>
                <c:pt idx="7">
                  <c:v>6.5406534475586584</c:v>
                </c:pt>
                <c:pt idx="8">
                  <c:v>7.9445024091161693</c:v>
                </c:pt>
                <c:pt idx="9">
                  <c:v>-18.690032138337649</c:v>
                </c:pt>
                <c:pt idx="10">
                  <c:v>-3.9740919675406992</c:v>
                </c:pt>
                <c:pt idx="11">
                  <c:v>-9.301369623816969</c:v>
                </c:pt>
                <c:pt idx="12">
                  <c:v>41.502609764663944</c:v>
                </c:pt>
                <c:pt idx="13">
                  <c:v>-45.659831871050855</c:v>
                </c:pt>
                <c:pt idx="14">
                  <c:v>19.223095155328387</c:v>
                </c:pt>
                <c:pt idx="15">
                  <c:v>6.4121122404600914</c:v>
                </c:pt>
                <c:pt idx="16">
                  <c:v>3.3230113373164962</c:v>
                </c:pt>
                <c:pt idx="17">
                  <c:v>-16.681901411428314</c:v>
                </c:pt>
                <c:pt idx="18">
                  <c:v>6.2239631435243314</c:v>
                </c:pt>
                <c:pt idx="19">
                  <c:v>-1.2633603022883964</c:v>
                </c:pt>
                <c:pt idx="20">
                  <c:v>-3.9294787699094513</c:v>
                </c:pt>
                <c:pt idx="21">
                  <c:v>-2.2949281874652385</c:v>
                </c:pt>
                <c:pt idx="22">
                  <c:v>-0.94900856895454666</c:v>
                </c:pt>
                <c:pt idx="23">
                  <c:v>-4.5655382517319669</c:v>
                </c:pt>
                <c:pt idx="24">
                  <c:v>-4.6700518239905895</c:v>
                </c:pt>
                <c:pt idx="25">
                  <c:v>-8.5076268934210777</c:v>
                </c:pt>
                <c:pt idx="26">
                  <c:v>-0.72804369576255823</c:v>
                </c:pt>
                <c:pt idx="27">
                  <c:v>1.1452940043390418</c:v>
                </c:pt>
                <c:pt idx="28">
                  <c:v>-15.74996487830367</c:v>
                </c:pt>
                <c:pt idx="29">
                  <c:v>-3.1970435323067288</c:v>
                </c:pt>
                <c:pt idx="30">
                  <c:v>-1.3673871469731591</c:v>
                </c:pt>
                <c:pt idx="31">
                  <c:v>-7.0904175493011881</c:v>
                </c:pt>
                <c:pt idx="32">
                  <c:v>-10.993918439312367</c:v>
                </c:pt>
                <c:pt idx="33">
                  <c:v>-0.99458872913974905</c:v>
                </c:pt>
                <c:pt idx="34">
                  <c:v>-1.9326204912113027</c:v>
                </c:pt>
                <c:pt idx="35">
                  <c:v>9.0086687873059983</c:v>
                </c:pt>
                <c:pt idx="36">
                  <c:v>17.497975423383735</c:v>
                </c:pt>
                <c:pt idx="37">
                  <c:v>25.277538108659044</c:v>
                </c:pt>
                <c:pt idx="38">
                  <c:v>20.511062428053599</c:v>
                </c:pt>
                <c:pt idx="39">
                  <c:v>-0.11952779514100342</c:v>
                </c:pt>
                <c:pt idx="40">
                  <c:v>-8.2803692540351239</c:v>
                </c:pt>
                <c:pt idx="41">
                  <c:v>7.7942081649059105</c:v>
                </c:pt>
                <c:pt idx="42">
                  <c:v>-3.1541465096231796</c:v>
                </c:pt>
                <c:pt idx="43">
                  <c:v>13.798875867011819</c:v>
                </c:pt>
                <c:pt idx="44">
                  <c:v>23.571924978953376</c:v>
                </c:pt>
                <c:pt idx="45">
                  <c:v>4.0378285810213355E-2</c:v>
                </c:pt>
                <c:pt idx="46">
                  <c:v>29.504736004876687</c:v>
                </c:pt>
                <c:pt idx="47">
                  <c:v>21.4466050486234</c:v>
                </c:pt>
                <c:pt idx="48">
                  <c:v>5.182002719356646</c:v>
                </c:pt>
                <c:pt idx="49">
                  <c:v>11.66862437361902</c:v>
                </c:pt>
                <c:pt idx="50">
                  <c:v>24.906072228661138</c:v>
                </c:pt>
                <c:pt idx="51">
                  <c:v>23.982992476033864</c:v>
                </c:pt>
                <c:pt idx="52">
                  <c:v>6.3642074600549279</c:v>
                </c:pt>
                <c:pt idx="53">
                  <c:v>-5.1922826352793106</c:v>
                </c:pt>
                <c:pt idx="54">
                  <c:v>-29.185414334581175</c:v>
                </c:pt>
                <c:pt idx="55">
                  <c:v>-28.288186926907542</c:v>
                </c:pt>
                <c:pt idx="56">
                  <c:v>-19.890055485369814</c:v>
                </c:pt>
                <c:pt idx="57">
                  <c:v>-51.001615860267329</c:v>
                </c:pt>
                <c:pt idx="58">
                  <c:v>-2.7671920200131002</c:v>
                </c:pt>
                <c:pt idx="59">
                  <c:v>-39.577850549302333</c:v>
                </c:pt>
                <c:pt idx="60">
                  <c:v>-4.975735234524393</c:v>
                </c:pt>
                <c:pt idx="61">
                  <c:v>-10.795619438524525</c:v>
                </c:pt>
                <c:pt idx="62">
                  <c:v>19.782007220246225</c:v>
                </c:pt>
                <c:pt idx="63">
                  <c:v>4.5976157132299695</c:v>
                </c:pt>
                <c:pt idx="64">
                  <c:v>-8.664469020655801</c:v>
                </c:pt>
                <c:pt idx="65">
                  <c:v>10.388414360662305</c:v>
                </c:pt>
                <c:pt idx="66">
                  <c:v>-7.3249087201077483</c:v>
                </c:pt>
                <c:pt idx="67">
                  <c:v>-11.875910505477842</c:v>
                </c:pt>
                <c:pt idx="68">
                  <c:v>18.57468063278742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FB-4BD6-9F3C-135939B684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5834880"/>
        <c:axId val="95856128"/>
      </c:lineChart>
      <c:catAx>
        <c:axId val="95834880"/>
        <c:scaling>
          <c:orientation val="minMax"/>
        </c:scaling>
        <c:delete val="0"/>
        <c:axPos val="b"/>
        <c:majorTickMark val="none"/>
        <c:minorTickMark val="none"/>
        <c:tickLblPos val="nextTo"/>
        <c:crossAx val="95856128"/>
        <c:crossesAt val="-60"/>
        <c:auto val="1"/>
        <c:lblAlgn val="ctr"/>
        <c:lblOffset val="100"/>
        <c:noMultiLvlLbl val="0"/>
      </c:catAx>
      <c:valAx>
        <c:axId val="95856128"/>
        <c:scaling>
          <c:orientation val="minMax"/>
        </c:scaling>
        <c:delete val="0"/>
        <c:axPos val="l"/>
        <c:majorGridlines>
          <c:spPr>
            <a:ln>
              <a:solidFill>
                <a:srgbClr val="92D05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5834880"/>
        <c:crosses val="autoZero"/>
        <c:crossBetween val="between"/>
      </c:valAx>
      <c:spPr>
        <a:solidFill>
          <a:schemeClr val="accent4">
            <a:lumMod val="50000"/>
          </a:schemeClr>
        </a:solidFill>
      </c:spPr>
    </c:plotArea>
    <c:plotVisOnly val="1"/>
    <c:dispBlanksAs val="gap"/>
    <c:showDLblsOverMax val="0"/>
  </c:chart>
  <c:spPr>
    <a:solidFill>
      <a:schemeClr val="accent6">
        <a:lumMod val="60000"/>
        <a:lumOff val="40000"/>
      </a:schemeClr>
    </a:solidFill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Untransformed data and</a:t>
            </a:r>
            <a:r>
              <a:rPr lang="en-US" baseline="0"/>
              <a:t> Fitted Equation from EGLS</a:t>
            </a:r>
            <a:endParaRPr lang="en-US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winepop_dat!$CK$81</c:f>
              <c:strCache>
                <c:ptCount val="1"/>
                <c:pt idx="0">
                  <c:v>Y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FFFF00"/>
              </a:solidFill>
            </c:spPr>
          </c:marker>
          <c:xVal>
            <c:numRef>
              <c:f>winepop_dat!$CJ$82:$CJ$150</c:f>
              <c:numCache>
                <c:formatCode>General</c:formatCode>
                <c:ptCount val="69"/>
                <c:pt idx="0">
                  <c:v>91.641000000000005</c:v>
                </c:pt>
                <c:pt idx="1">
                  <c:v>92.867000000000004</c:v>
                </c:pt>
                <c:pt idx="2">
                  <c:v>94.066999999999993</c:v>
                </c:pt>
                <c:pt idx="3">
                  <c:v>95.251999999999995</c:v>
                </c:pt>
                <c:pt idx="4">
                  <c:v>96.503</c:v>
                </c:pt>
                <c:pt idx="5">
                  <c:v>97.760999999999996</c:v>
                </c:pt>
                <c:pt idx="6">
                  <c:v>99.179999999999993</c:v>
                </c:pt>
                <c:pt idx="7">
                  <c:v>100.46299999999999</c:v>
                </c:pt>
                <c:pt idx="8">
                  <c:v>101.736</c:v>
                </c:pt>
                <c:pt idx="9">
                  <c:v>103.024</c:v>
                </c:pt>
                <c:pt idx="10">
                  <c:v>104.3</c:v>
                </c:pt>
                <c:pt idx="11">
                  <c:v>105.35</c:v>
                </c:pt>
                <c:pt idx="12">
                  <c:v>106.301</c:v>
                </c:pt>
                <c:pt idx="13">
                  <c:v>107.46299999999999</c:v>
                </c:pt>
                <c:pt idx="14">
                  <c:v>108.62299999999999</c:v>
                </c:pt>
                <c:pt idx="15">
                  <c:v>109.81100000000002</c:v>
                </c:pt>
                <c:pt idx="16">
                  <c:v>110.87599999999999</c:v>
                </c:pt>
                <c:pt idx="17">
                  <c:v>111.98</c:v>
                </c:pt>
                <c:pt idx="18">
                  <c:v>113.07</c:v>
                </c:pt>
                <c:pt idx="19">
                  <c:v>114.137</c:v>
                </c:pt>
                <c:pt idx="20">
                  <c:v>115.337</c:v>
                </c:pt>
                <c:pt idx="21">
                  <c:v>116.56</c:v>
                </c:pt>
                <c:pt idx="22">
                  <c:v>117.90300000000002</c:v>
                </c:pt>
                <c:pt idx="23">
                  <c:v>119.38</c:v>
                </c:pt>
                <c:pt idx="24">
                  <c:v>121.051</c:v>
                </c:pt>
                <c:pt idx="25">
                  <c:v>123.09099999999999</c:v>
                </c:pt>
                <c:pt idx="26">
                  <c:v>124.595</c:v>
                </c:pt>
                <c:pt idx="27">
                  <c:v>126.13800000000001</c:v>
                </c:pt>
                <c:pt idx="28">
                  <c:v>128.63399999999999</c:v>
                </c:pt>
                <c:pt idx="29">
                  <c:v>130.77599999999998</c:v>
                </c:pt>
                <c:pt idx="30">
                  <c:v>132.941</c:v>
                </c:pt>
                <c:pt idx="31">
                  <c:v>135.053</c:v>
                </c:pt>
                <c:pt idx="32">
                  <c:v>137.30100000000002</c:v>
                </c:pt>
                <c:pt idx="33">
                  <c:v>139.65300000000002</c:v>
                </c:pt>
                <c:pt idx="34">
                  <c:v>142.02100000000002</c:v>
                </c:pt>
                <c:pt idx="35">
                  <c:v>144.417</c:v>
                </c:pt>
                <c:pt idx="36">
                  <c:v>147.11399999999998</c:v>
                </c:pt>
                <c:pt idx="37">
                  <c:v>149.92700000000002</c:v>
                </c:pt>
                <c:pt idx="38">
                  <c:v>152.84900000000002</c:v>
                </c:pt>
                <c:pt idx="39">
                  <c:v>155.74899999999997</c:v>
                </c:pt>
                <c:pt idx="40">
                  <c:v>158.65100000000001</c:v>
                </c:pt>
                <c:pt idx="41">
                  <c:v>161.61199999999999</c:v>
                </c:pt>
                <c:pt idx="42">
                  <c:v>164.65900000000002</c:v>
                </c:pt>
                <c:pt idx="43">
                  <c:v>167.64099999999999</c:v>
                </c:pt>
                <c:pt idx="44">
                  <c:v>170.63</c:v>
                </c:pt>
                <c:pt idx="45">
                  <c:v>173.6</c:v>
                </c:pt>
                <c:pt idx="46">
                  <c:v>175.935</c:v>
                </c:pt>
                <c:pt idx="47">
                  <c:v>178.21299999999999</c:v>
                </c:pt>
                <c:pt idx="48">
                  <c:v>180.333</c:v>
                </c:pt>
                <c:pt idx="49">
                  <c:v>182.32300000000001</c:v>
                </c:pt>
                <c:pt idx="50">
                  <c:v>184.34200000000001</c:v>
                </c:pt>
                <c:pt idx="51">
                  <c:v>186.39000000000001</c:v>
                </c:pt>
                <c:pt idx="52">
                  <c:v>188.59800000000001</c:v>
                </c:pt>
                <c:pt idx="53">
                  <c:v>190.43</c:v>
                </c:pt>
                <c:pt idx="54">
                  <c:v>192.04899999999998</c:v>
                </c:pt>
                <c:pt idx="55">
                  <c:v>193.59700000000001</c:v>
                </c:pt>
                <c:pt idx="56">
                  <c:v>195.477</c:v>
                </c:pt>
                <c:pt idx="57">
                  <c:v>197.73599999999999</c:v>
                </c:pt>
                <c:pt idx="58">
                  <c:v>200.309</c:v>
                </c:pt>
                <c:pt idx="59">
                  <c:v>202.82300000000001</c:v>
                </c:pt>
                <c:pt idx="60">
                  <c:v>205.32300000000001</c:v>
                </c:pt>
                <c:pt idx="61">
                  <c:v>208.006</c:v>
                </c:pt>
                <c:pt idx="62">
                  <c:v>210.69</c:v>
                </c:pt>
                <c:pt idx="63">
                  <c:v>213.559</c:v>
                </c:pt>
                <c:pt idx="64">
                  <c:v>216.374</c:v>
                </c:pt>
                <c:pt idx="65">
                  <c:v>219.08500000000001</c:v>
                </c:pt>
                <c:pt idx="66">
                  <c:v>221.935</c:v>
                </c:pt>
                <c:pt idx="67">
                  <c:v>224.83600000000001</c:v>
                </c:pt>
                <c:pt idx="68">
                  <c:v>227.72299999999998</c:v>
                </c:pt>
              </c:numCache>
            </c:numRef>
          </c:xVal>
          <c:yVal>
            <c:numRef>
              <c:f>winepop_dat!$CK$82:$CK$150</c:f>
              <c:numCache>
                <c:formatCode>General</c:formatCode>
                <c:ptCount val="69"/>
                <c:pt idx="0">
                  <c:v>33</c:v>
                </c:pt>
                <c:pt idx="1">
                  <c:v>46</c:v>
                </c:pt>
                <c:pt idx="2">
                  <c:v>60</c:v>
                </c:pt>
                <c:pt idx="3">
                  <c:v>67</c:v>
                </c:pt>
                <c:pt idx="4">
                  <c:v>67</c:v>
                </c:pt>
                <c:pt idx="5">
                  <c:v>77</c:v>
                </c:pt>
                <c:pt idx="6">
                  <c:v>90</c:v>
                </c:pt>
                <c:pt idx="7">
                  <c:v>101</c:v>
                </c:pt>
                <c:pt idx="8">
                  <c:v>113</c:v>
                </c:pt>
                <c:pt idx="9">
                  <c:v>98</c:v>
                </c:pt>
                <c:pt idx="10">
                  <c:v>99</c:v>
                </c:pt>
                <c:pt idx="11">
                  <c:v>94</c:v>
                </c:pt>
                <c:pt idx="12">
                  <c:v>140</c:v>
                </c:pt>
                <c:pt idx="13">
                  <c:v>97</c:v>
                </c:pt>
                <c:pt idx="14">
                  <c:v>122</c:v>
                </c:pt>
                <c:pt idx="15">
                  <c:v>133</c:v>
                </c:pt>
                <c:pt idx="16">
                  <c:v>140</c:v>
                </c:pt>
                <c:pt idx="17">
                  <c:v>127</c:v>
                </c:pt>
                <c:pt idx="18">
                  <c:v>138</c:v>
                </c:pt>
                <c:pt idx="19">
                  <c:v>141</c:v>
                </c:pt>
                <c:pt idx="20">
                  <c:v>142</c:v>
                </c:pt>
                <c:pt idx="21">
                  <c:v>145</c:v>
                </c:pt>
                <c:pt idx="22">
                  <c:v>150</c:v>
                </c:pt>
                <c:pt idx="23">
                  <c:v>152</c:v>
                </c:pt>
                <c:pt idx="24">
                  <c:v>155</c:v>
                </c:pt>
                <c:pt idx="25">
                  <c:v>156</c:v>
                </c:pt>
                <c:pt idx="26">
                  <c:v>163</c:v>
                </c:pt>
                <c:pt idx="27">
                  <c:v>172</c:v>
                </c:pt>
                <c:pt idx="28">
                  <c:v>168</c:v>
                </c:pt>
                <c:pt idx="29">
                  <c:v>176</c:v>
                </c:pt>
                <c:pt idx="30">
                  <c:v>186</c:v>
                </c:pt>
                <c:pt idx="31">
                  <c:v>190</c:v>
                </c:pt>
                <c:pt idx="32">
                  <c:v>191</c:v>
                </c:pt>
                <c:pt idx="33">
                  <c:v>203</c:v>
                </c:pt>
                <c:pt idx="34">
                  <c:v>214</c:v>
                </c:pt>
                <c:pt idx="35">
                  <c:v>236</c:v>
                </c:pt>
                <c:pt idx="36">
                  <c:v>267</c:v>
                </c:pt>
                <c:pt idx="37">
                  <c:v>305</c:v>
                </c:pt>
                <c:pt idx="38">
                  <c:v>337</c:v>
                </c:pt>
                <c:pt idx="39">
                  <c:v>347</c:v>
                </c:pt>
                <c:pt idx="40">
                  <c:v>349</c:v>
                </c:pt>
                <c:pt idx="41">
                  <c:v>368</c:v>
                </c:pt>
                <c:pt idx="42">
                  <c:v>376</c:v>
                </c:pt>
                <c:pt idx="43">
                  <c:v>401</c:v>
                </c:pt>
                <c:pt idx="44">
                  <c:v>435</c:v>
                </c:pt>
                <c:pt idx="45">
                  <c:v>444</c:v>
                </c:pt>
                <c:pt idx="46">
                  <c:v>480</c:v>
                </c:pt>
                <c:pt idx="47">
                  <c:v>506</c:v>
                </c:pt>
                <c:pt idx="48">
                  <c:v>514</c:v>
                </c:pt>
                <c:pt idx="49">
                  <c:v>528</c:v>
                </c:pt>
                <c:pt idx="50">
                  <c:v>555</c:v>
                </c:pt>
                <c:pt idx="51">
                  <c:v>580</c:v>
                </c:pt>
                <c:pt idx="52">
                  <c:v>587</c:v>
                </c:pt>
                <c:pt idx="53">
                  <c:v>581</c:v>
                </c:pt>
                <c:pt idx="54">
                  <c:v>551</c:v>
                </c:pt>
                <c:pt idx="55">
                  <c:v>524</c:v>
                </c:pt>
                <c:pt idx="56">
                  <c:v>509</c:v>
                </c:pt>
                <c:pt idx="57">
                  <c:v>466</c:v>
                </c:pt>
                <c:pt idx="58">
                  <c:v>476</c:v>
                </c:pt>
                <c:pt idx="59">
                  <c:v>449</c:v>
                </c:pt>
                <c:pt idx="60">
                  <c:v>459</c:v>
                </c:pt>
                <c:pt idx="61">
                  <c:v>464</c:v>
                </c:pt>
                <c:pt idx="62">
                  <c:v>500</c:v>
                </c:pt>
                <c:pt idx="63">
                  <c:v>520</c:v>
                </c:pt>
                <c:pt idx="64">
                  <c:v>526</c:v>
                </c:pt>
                <c:pt idx="65">
                  <c:v>551</c:v>
                </c:pt>
                <c:pt idx="66">
                  <c:v>558</c:v>
                </c:pt>
                <c:pt idx="67">
                  <c:v>561</c:v>
                </c:pt>
                <c:pt idx="68">
                  <c:v>595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37F-4968-A0C9-CDB6E9E514ED}"/>
            </c:ext>
          </c:extLst>
        </c:ser>
        <c:ser>
          <c:idx val="1"/>
          <c:order val="1"/>
          <c:tx>
            <c:strRef>
              <c:f>winepop_dat!$CL$81</c:f>
              <c:strCache>
                <c:ptCount val="1"/>
                <c:pt idx="0">
                  <c:v>Yhat_w</c:v>
                </c:pt>
              </c:strCache>
            </c:strRef>
          </c:tx>
          <c:spPr>
            <a:ln w="31750">
              <a:solidFill>
                <a:srgbClr val="66FF33"/>
              </a:solidFill>
            </a:ln>
          </c:spPr>
          <c:marker>
            <c:symbol val="none"/>
          </c:marker>
          <c:xVal>
            <c:numRef>
              <c:f>winepop_dat!$CJ$82:$CJ$150</c:f>
              <c:numCache>
                <c:formatCode>General</c:formatCode>
                <c:ptCount val="69"/>
                <c:pt idx="0">
                  <c:v>91.641000000000005</c:v>
                </c:pt>
                <c:pt idx="1">
                  <c:v>92.867000000000004</c:v>
                </c:pt>
                <c:pt idx="2">
                  <c:v>94.066999999999993</c:v>
                </c:pt>
                <c:pt idx="3">
                  <c:v>95.251999999999995</c:v>
                </c:pt>
                <c:pt idx="4">
                  <c:v>96.503</c:v>
                </c:pt>
                <c:pt idx="5">
                  <c:v>97.760999999999996</c:v>
                </c:pt>
                <c:pt idx="6">
                  <c:v>99.179999999999993</c:v>
                </c:pt>
                <c:pt idx="7">
                  <c:v>100.46299999999999</c:v>
                </c:pt>
                <c:pt idx="8">
                  <c:v>101.736</c:v>
                </c:pt>
                <c:pt idx="9">
                  <c:v>103.024</c:v>
                </c:pt>
                <c:pt idx="10">
                  <c:v>104.3</c:v>
                </c:pt>
                <c:pt idx="11">
                  <c:v>105.35</c:v>
                </c:pt>
                <c:pt idx="12">
                  <c:v>106.301</c:v>
                </c:pt>
                <c:pt idx="13">
                  <c:v>107.46299999999999</c:v>
                </c:pt>
                <c:pt idx="14">
                  <c:v>108.62299999999999</c:v>
                </c:pt>
                <c:pt idx="15">
                  <c:v>109.81100000000002</c:v>
                </c:pt>
                <c:pt idx="16">
                  <c:v>110.87599999999999</c:v>
                </c:pt>
                <c:pt idx="17">
                  <c:v>111.98</c:v>
                </c:pt>
                <c:pt idx="18">
                  <c:v>113.07</c:v>
                </c:pt>
                <c:pt idx="19">
                  <c:v>114.137</c:v>
                </c:pt>
                <c:pt idx="20">
                  <c:v>115.337</c:v>
                </c:pt>
                <c:pt idx="21">
                  <c:v>116.56</c:v>
                </c:pt>
                <c:pt idx="22">
                  <c:v>117.90300000000002</c:v>
                </c:pt>
                <c:pt idx="23">
                  <c:v>119.38</c:v>
                </c:pt>
                <c:pt idx="24">
                  <c:v>121.051</c:v>
                </c:pt>
                <c:pt idx="25">
                  <c:v>123.09099999999999</c:v>
                </c:pt>
                <c:pt idx="26">
                  <c:v>124.595</c:v>
                </c:pt>
                <c:pt idx="27">
                  <c:v>126.13800000000001</c:v>
                </c:pt>
                <c:pt idx="28">
                  <c:v>128.63399999999999</c:v>
                </c:pt>
                <c:pt idx="29">
                  <c:v>130.77599999999998</c:v>
                </c:pt>
                <c:pt idx="30">
                  <c:v>132.941</c:v>
                </c:pt>
                <c:pt idx="31">
                  <c:v>135.053</c:v>
                </c:pt>
                <c:pt idx="32">
                  <c:v>137.30100000000002</c:v>
                </c:pt>
                <c:pt idx="33">
                  <c:v>139.65300000000002</c:v>
                </c:pt>
                <c:pt idx="34">
                  <c:v>142.02100000000002</c:v>
                </c:pt>
                <c:pt idx="35">
                  <c:v>144.417</c:v>
                </c:pt>
                <c:pt idx="36">
                  <c:v>147.11399999999998</c:v>
                </c:pt>
                <c:pt idx="37">
                  <c:v>149.92700000000002</c:v>
                </c:pt>
                <c:pt idx="38">
                  <c:v>152.84900000000002</c:v>
                </c:pt>
                <c:pt idx="39">
                  <c:v>155.74899999999997</c:v>
                </c:pt>
                <c:pt idx="40">
                  <c:v>158.65100000000001</c:v>
                </c:pt>
                <c:pt idx="41">
                  <c:v>161.61199999999999</c:v>
                </c:pt>
                <c:pt idx="42">
                  <c:v>164.65900000000002</c:v>
                </c:pt>
                <c:pt idx="43">
                  <c:v>167.64099999999999</c:v>
                </c:pt>
                <c:pt idx="44">
                  <c:v>170.63</c:v>
                </c:pt>
                <c:pt idx="45">
                  <c:v>173.6</c:v>
                </c:pt>
                <c:pt idx="46">
                  <c:v>175.935</c:v>
                </c:pt>
                <c:pt idx="47">
                  <c:v>178.21299999999999</c:v>
                </c:pt>
                <c:pt idx="48">
                  <c:v>180.333</c:v>
                </c:pt>
                <c:pt idx="49">
                  <c:v>182.32300000000001</c:v>
                </c:pt>
                <c:pt idx="50">
                  <c:v>184.34200000000001</c:v>
                </c:pt>
                <c:pt idx="51">
                  <c:v>186.39000000000001</c:v>
                </c:pt>
                <c:pt idx="52">
                  <c:v>188.59800000000001</c:v>
                </c:pt>
                <c:pt idx="53">
                  <c:v>190.43</c:v>
                </c:pt>
                <c:pt idx="54">
                  <c:v>192.04899999999998</c:v>
                </c:pt>
                <c:pt idx="55">
                  <c:v>193.59700000000001</c:v>
                </c:pt>
                <c:pt idx="56">
                  <c:v>195.477</c:v>
                </c:pt>
                <c:pt idx="57">
                  <c:v>197.73599999999999</c:v>
                </c:pt>
                <c:pt idx="58">
                  <c:v>200.309</c:v>
                </c:pt>
                <c:pt idx="59">
                  <c:v>202.82300000000001</c:v>
                </c:pt>
                <c:pt idx="60">
                  <c:v>205.32300000000001</c:v>
                </c:pt>
                <c:pt idx="61">
                  <c:v>208.006</c:v>
                </c:pt>
                <c:pt idx="62">
                  <c:v>210.69</c:v>
                </c:pt>
                <c:pt idx="63">
                  <c:v>213.559</c:v>
                </c:pt>
                <c:pt idx="64">
                  <c:v>216.374</c:v>
                </c:pt>
                <c:pt idx="65">
                  <c:v>219.08500000000001</c:v>
                </c:pt>
                <c:pt idx="66">
                  <c:v>221.935</c:v>
                </c:pt>
                <c:pt idx="67">
                  <c:v>224.83600000000001</c:v>
                </c:pt>
                <c:pt idx="68">
                  <c:v>227.72299999999998</c:v>
                </c:pt>
              </c:numCache>
            </c:numRef>
          </c:xVal>
          <c:yVal>
            <c:numRef>
              <c:f>winepop_dat!$CL$82:$CL$150</c:f>
              <c:numCache>
                <c:formatCode>General</c:formatCode>
                <c:ptCount val="69"/>
                <c:pt idx="0">
                  <c:v>42.612256084652365</c:v>
                </c:pt>
                <c:pt idx="1">
                  <c:v>47.827675507250483</c:v>
                </c:pt>
                <c:pt idx="2">
                  <c:v>52.932490602778799</c:v>
                </c:pt>
                <c:pt idx="3">
                  <c:v>57.973495509613024</c:v>
                </c:pt>
                <c:pt idx="4">
                  <c:v>63.295265246701369</c:v>
                </c:pt>
                <c:pt idx="5">
                  <c:v>68.646813071846893</c:v>
                </c:pt>
                <c:pt idx="6">
                  <c:v>74.683256922309255</c:v>
                </c:pt>
                <c:pt idx="7">
                  <c:v>80.141155061944929</c:v>
                </c:pt>
                <c:pt idx="8">
                  <c:v>85.55651307578465</c:v>
                </c:pt>
                <c:pt idx="9">
                  <c:v>91.035681278318393</c:v>
                </c:pt>
                <c:pt idx="10">
                  <c:v>96.463801329896839</c:v>
                </c:pt>
                <c:pt idx="11">
                  <c:v>100.93051453848412</c:v>
                </c:pt>
                <c:pt idx="12">
                  <c:v>104.97608050169039</c:v>
                </c:pt>
                <c:pt idx="13">
                  <c:v>109.91924311919368</c:v>
                </c:pt>
                <c:pt idx="14">
                  <c:v>114.85389771153778</c:v>
                </c:pt>
                <c:pt idx="15">
                  <c:v>119.9076646561109</c:v>
                </c:pt>
                <c:pt idx="16">
                  <c:v>124.43818805339227</c:v>
                </c:pt>
                <c:pt idx="17">
                  <c:v>129.13461794127835</c:v>
                </c:pt>
                <c:pt idx="18">
                  <c:v>133.77149165304988</c:v>
                </c:pt>
                <c:pt idx="19">
                  <c:v>138.31052307549058</c:v>
                </c:pt>
                <c:pt idx="20">
                  <c:v>143.4153381710189</c:v>
                </c:pt>
                <c:pt idx="21">
                  <c:v>148.61799555587817</c:v>
                </c:pt>
                <c:pt idx="22">
                  <c:v>154.33113445029042</c:v>
                </c:pt>
                <c:pt idx="23">
                  <c:v>160.61431103036978</c:v>
                </c:pt>
                <c:pt idx="24">
                  <c:v>167.72276605089309</c:v>
                </c:pt>
                <c:pt idx="25">
                  <c:v>176.40095171329128</c:v>
                </c:pt>
                <c:pt idx="26">
                  <c:v>182.79898663302009</c:v>
                </c:pt>
                <c:pt idx="27">
                  <c:v>189.36292804335378</c:v>
                </c:pt>
                <c:pt idx="28">
                  <c:v>199.98094344205265</c:v>
                </c:pt>
                <c:pt idx="29">
                  <c:v>209.09303838757086</c:v>
                </c:pt>
                <c:pt idx="30">
                  <c:v>218.30297562241986</c:v>
                </c:pt>
                <c:pt idx="31">
                  <c:v>227.28745019054978</c:v>
                </c:pt>
                <c:pt idx="32">
                  <c:v>236.85047046950623</c:v>
                </c:pt>
                <c:pt idx="33">
                  <c:v>246.85590805674178</c:v>
                </c:pt>
                <c:pt idx="34">
                  <c:v>256.92940984525092</c:v>
                </c:pt>
                <c:pt idx="35">
                  <c:v>267.12202398598936</c:v>
                </c:pt>
                <c:pt idx="36">
                  <c:v>278.5950959131892</c:v>
                </c:pt>
                <c:pt idx="37">
                  <c:v>290.56163329962368</c:v>
                </c:pt>
                <c:pt idx="38">
                  <c:v>302.99185805723505</c:v>
                </c:pt>
                <c:pt idx="39">
                  <c:v>315.3284945380953</c:v>
                </c:pt>
                <c:pt idx="40">
                  <c:v>327.67363904411491</c:v>
                </c:pt>
                <c:pt idx="41">
                  <c:v>340.26977029233109</c:v>
                </c:pt>
                <c:pt idx="42">
                  <c:v>353.23174662239353</c:v>
                </c:pt>
                <c:pt idx="43">
                  <c:v>365.91721213478161</c:v>
                </c:pt>
                <c:pt idx="44">
                  <c:v>378.6324557352267</c:v>
                </c:pt>
                <c:pt idx="45">
                  <c:v>391.26687309665937</c:v>
                </c:pt>
                <c:pt idx="46">
                  <c:v>401.19999247004176</c:v>
                </c:pt>
                <c:pt idx="47">
                  <c:v>410.89063312638649</c:v>
                </c:pt>
                <c:pt idx="48">
                  <c:v>419.90913979515301</c:v>
                </c:pt>
                <c:pt idx="49">
                  <c:v>428.37462482857109</c:v>
                </c:pt>
                <c:pt idx="50">
                  <c:v>436.96347622679735</c:v>
                </c:pt>
                <c:pt idx="51">
                  <c:v>445.67569398983233</c:v>
                </c:pt>
                <c:pt idx="52">
                  <c:v>455.06855376560458</c:v>
                </c:pt>
                <c:pt idx="53">
                  <c:v>462.86190481144456</c:v>
                </c:pt>
                <c:pt idx="54">
                  <c:v>469.7491511778282</c:v>
                </c:pt>
                <c:pt idx="55">
                  <c:v>476.33436265105979</c:v>
                </c:pt>
                <c:pt idx="56">
                  <c:v>484.33190630072079</c:v>
                </c:pt>
                <c:pt idx="57">
                  <c:v>493.94172071805275</c:v>
                </c:pt>
                <c:pt idx="58">
                  <c:v>504.8872950853816</c:v>
                </c:pt>
                <c:pt idx="59">
                  <c:v>515.58188271051358</c:v>
                </c:pt>
                <c:pt idx="60">
                  <c:v>526.21691415953092</c:v>
                </c:pt>
                <c:pt idx="61">
                  <c:v>537.6304299106165</c:v>
                </c:pt>
                <c:pt idx="62">
                  <c:v>549.04819967428159</c:v>
                </c:pt>
                <c:pt idx="63">
                  <c:v>561.25296176517406</c:v>
                </c:pt>
                <c:pt idx="64">
                  <c:v>573.22800717676773</c:v>
                </c:pt>
                <c:pt idx="65">
                  <c:v>584.76063528008228</c:v>
                </c:pt>
                <c:pt idx="66">
                  <c:v>596.88457113196193</c:v>
                </c:pt>
                <c:pt idx="67">
                  <c:v>609.22546162540164</c:v>
                </c:pt>
                <c:pt idx="68">
                  <c:v>621.50679594272731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7F-4968-A0C9-CDB6E9E51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234112"/>
        <c:axId val="96237440"/>
      </c:scatterChart>
      <c:valAx>
        <c:axId val="96234112"/>
        <c:scaling>
          <c:orientation val="minMax"/>
          <c:min val="5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Population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6237440"/>
        <c:crosses val="autoZero"/>
        <c:crossBetween val="midCat"/>
      </c:valAx>
      <c:valAx>
        <c:axId val="96237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Wine Sales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6234112"/>
        <c:crosses val="autoZero"/>
        <c:crossBetween val="midCat"/>
      </c:valAx>
      <c:spPr>
        <a:solidFill>
          <a:srgbClr val="7030A0"/>
        </a:solidFill>
      </c:spPr>
    </c:plotArea>
    <c:legend>
      <c:legendPos val="r"/>
      <c:overlay val="0"/>
      <c:spPr>
        <a:solidFill>
          <a:srgbClr val="7030A0"/>
        </a:solidFill>
      </c:spPr>
      <c:txPr>
        <a:bodyPr/>
        <a:lstStyle/>
        <a:p>
          <a:pPr>
            <a:defRPr baseline="0">
              <a:solidFill>
                <a:srgbClr val="FFFF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99FF"/>
    </a:solidFill>
  </c:sp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C36A4C-EE3C-492B-AB95-393D7B5B96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2AFDAC-CAC8-4927-8D28-B07E865711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2E6A2E6-E069-414D-8757-42134D34E434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06D77-DF6C-46AE-9291-E7946467EE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C4DD3-EC68-427E-B47E-2122C8B1F8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96507A-4321-4EF9-808B-5CEC87FAE33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solidFill>
                  <a:srgbClr val="FFFFC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rgbClr val="FFFFC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70550-5541-4AC8-8592-DE7B3FD2A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11204-0557-4D81-866B-49BB0020A74A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7B88E-F308-496B-8AFD-B2F548B4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7F609-0BD6-4ABD-9B90-744C4D6C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E2F76F-FF0D-4AE3-99D3-EE4F9811B8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16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3EF6-5002-46FF-B34A-63E0669D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DF72E-701E-42B1-ABAC-8C72253CCB4A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9D88E-0627-4365-A3A3-0E8DCA4D4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8BF43-375C-494C-B252-26347F38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F09574-A1F6-4267-A5E8-F77FB47A1C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745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54FE7-6D96-4BDF-967A-E8A7069CF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BCC0F-07DA-47F6-93D2-2AA55ED88479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17B27-054D-4CE5-8820-355A5DC1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E53C1-6B7A-4855-AEE3-CB2F8BFA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AE68E-5F14-4D7A-A8EE-78E0D5FC97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63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1292494-DF07-48A2-9EB1-B7AF9B75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9442C-E540-4E2C-B575-AF67ECFD67FA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DCE6922-6B01-45DA-83EB-79D81754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91042E-A2C5-404C-B4CB-69D59D2D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6818FA-4A2E-49E3-A6F2-879B9AC130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31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A52BA1A-EFD6-465B-99BC-96204F33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2ECAC5-4171-46A2-BC8E-7DE71D53FC77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77A89FE-0742-4E06-ADB1-65111A12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080DE38-4B18-4870-9BE2-F21FEDD4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38920A-144A-40F9-A109-7E9E58C2A5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27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8AE15AB-6947-4B2A-A038-20F69CCB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13FB2-7ED1-4354-8C57-526382303DB1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9886B0F-FA9B-4B3A-9E33-558CCC0C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5E2C62-F3AA-4FE1-ABE9-20B18034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17DA6-0BFC-4515-ACE7-02DD53B8A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73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CFDE4BF-B737-44CF-83A7-3AA181B0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12A11-23CD-478C-8431-F6BBDBB247D5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58F90C-9F7C-4FEA-955A-E0297DB9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2AA00F-CF2B-40CE-8BB5-D3A26F0D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05D67-BFEC-4915-B19C-CD76B7CB01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50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132595-9073-4FBF-A152-47A4D27B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3A592-1B1C-4BE4-A05E-02B3A3D16DDC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B0837D-4B5B-4C76-A352-42884BC76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FCDF6D-283D-4CFE-89C7-70BFD551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744A89-BA8F-4B70-918D-9C602FDF0B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79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A96A9DB-B83B-4C04-9F1F-97F6C0DE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CB771-644E-4434-A83F-F7B37ED51EC7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C07BAC5-3786-484A-9EEB-6EC9BCAE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8A6A3B-F8F4-42AC-8F4A-4A6A55FE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8EE2B-DECD-4704-9437-62E0E5A34E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5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CE05F-1384-4AB1-AFFF-9C0EE7D9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B3E62-AB58-47E7-AE9B-872F2DBF418C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B7331-099C-4D1F-B259-DD30E6D6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EDA63-EBEA-46FE-8838-8521A2F2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1DD2B6-6CD7-4AB3-91A1-3E1C38FC6F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95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C12C2-4A0A-4DEB-91B5-7BD8BD9E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18BAF-6ACF-4079-9828-176C8B6189E7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F8BAC-F579-4154-8EA0-67C1113A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473FF-60EC-4CA3-89CD-509FC656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CBE325-527D-4E71-A475-59DDE3D333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93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>
            <a:extLst>
              <a:ext uri="{FF2B5EF4-FFF2-40B4-BE49-F238E27FC236}">
                <a16:creationId xmlns:a16="http://schemas.microsoft.com/office/drawing/2014/main" id="{DADE0594-0F7A-4590-B631-1F2304A78D0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43" name="Text Placeholder 2">
            <a:extLst>
              <a:ext uri="{FF2B5EF4-FFF2-40B4-BE49-F238E27FC236}">
                <a16:creationId xmlns:a16="http://schemas.microsoft.com/office/drawing/2014/main" id="{3A8C2DF5-0B1A-4619-8A50-4C15F1B70C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719EB-AEC2-4E57-86EF-11D8887B8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A8DB19-C8E7-43C8-9025-9AB0B5096926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46C77-01AF-4FB5-8B16-C9CFA0724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405D0-75EE-40F8-9EB2-F9587FE89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Franklin Gothic Book" panose="020B0503020102020204" pitchFamily="34" charset="0"/>
              </a:defRPr>
            </a:lvl1pPr>
          </a:lstStyle>
          <a:p>
            <a:fld id="{A17E6B6F-830E-4AA4-8282-C4FD533E408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 kern="1200">
          <a:solidFill>
            <a:srgbClr val="FFFFCC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6.w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D956EF5-8726-407D-8D59-C9FAB7D13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Regression with Autocorrelated Errors</a:t>
            </a:r>
          </a:p>
        </p:txBody>
      </p:sp>
      <p:sp>
        <p:nvSpPr>
          <p:cNvPr id="11267" name="Subtitle 2">
            <a:extLst>
              <a:ext uri="{FF2B5EF4-FFF2-40B4-BE49-F238E27FC236}">
                <a16:creationId xmlns:a16="http://schemas.microsoft.com/office/drawing/2014/main" id="{844F7E94-FFF2-4B90-8002-AE3B59CC0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7056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U.S. Wine Consumption and Adult Population – 1934-2002</a:t>
            </a:r>
          </a:p>
          <a:p>
            <a:pPr algn="l" eaLnBrk="1" hangingPunct="1"/>
            <a:endParaRPr lang="en-US" altLang="en-US" sz="1200" dirty="0"/>
          </a:p>
          <a:p>
            <a:pPr algn="l" eaLnBrk="1" hangingPunct="1"/>
            <a:endParaRPr lang="en-US" altLang="en-US" sz="1200" dirty="0"/>
          </a:p>
          <a:p>
            <a:pPr algn="l" eaLnBrk="1" hangingPunct="1"/>
            <a:r>
              <a:rPr lang="en-US" altLang="en-US" sz="1000" dirty="0"/>
              <a:t>A.R. Gallant and J.J. Goebel (1976). “Nonlinear Regression with Autocorrelated Errors,” </a:t>
            </a:r>
            <a:r>
              <a:rPr lang="en-US" altLang="en-US" sz="1000" i="1" dirty="0"/>
              <a:t>JASA, </a:t>
            </a:r>
            <a:r>
              <a:rPr lang="en-US" altLang="en-US" sz="1000" dirty="0"/>
              <a:t>Vol. 71, #356, pp.961-967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>
            <a:extLst>
              <a:ext uri="{FF2B5EF4-FFF2-40B4-BE49-F238E27FC236}">
                <a16:creationId xmlns:a16="http://schemas.microsoft.com/office/drawing/2014/main" id="{27D01743-ABB5-4FA6-8844-E91199D5B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 Description</a:t>
            </a:r>
          </a:p>
        </p:txBody>
      </p:sp>
      <p:sp>
        <p:nvSpPr>
          <p:cNvPr id="1028" name="Content Placeholder 2">
            <a:extLst>
              <a:ext uri="{FF2B5EF4-FFF2-40B4-BE49-F238E27FC236}">
                <a16:creationId xmlns:a16="http://schemas.microsoft.com/office/drawing/2014/main" id="{3886A10B-EA85-4624-B433-62B98BF64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2514600"/>
          </a:xfrm>
        </p:spPr>
        <p:txBody>
          <a:bodyPr/>
          <a:lstStyle/>
          <a:p>
            <a:pPr eaLnBrk="1" hangingPunct="1"/>
            <a:r>
              <a:rPr lang="en-US" altLang="en-US"/>
              <a:t>Y=U.S. Annual Wine Consumption (Millions of Gallons)</a:t>
            </a:r>
          </a:p>
          <a:p>
            <a:pPr eaLnBrk="1" hangingPunct="1"/>
            <a:r>
              <a:rPr lang="en-US" altLang="en-US"/>
              <a:t>X=U.S. Adult Population (Millions of People)</a:t>
            </a:r>
          </a:p>
          <a:p>
            <a:pPr eaLnBrk="1" hangingPunct="1"/>
            <a:r>
              <a:rPr lang="en-US" altLang="en-US"/>
              <a:t>Years – 1934-2002 (Post Prohibition)</a:t>
            </a:r>
          </a:p>
          <a:p>
            <a:pPr eaLnBrk="1" hangingPunct="1"/>
            <a:r>
              <a:rPr lang="en-US" altLang="en-US"/>
              <a:t>Model:</a:t>
            </a:r>
          </a:p>
        </p:txBody>
      </p:sp>
      <p:graphicFrame>
        <p:nvGraphicFramePr>
          <p:cNvPr id="2" name="Object 1" descr="Simple Regression model with correlated errors">
            <a:extLst>
              <a:ext uri="{FF2B5EF4-FFF2-40B4-BE49-F238E27FC236}">
                <a16:creationId xmlns:a16="http://schemas.microsoft.com/office/drawing/2014/main" id="{77D95A89-3D1D-4624-90AA-9CDA3750E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624516"/>
              </p:ext>
            </p:extLst>
          </p:nvPr>
        </p:nvGraphicFramePr>
        <p:xfrm>
          <a:off x="838200" y="4078288"/>
          <a:ext cx="6918325" cy="224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680" imgH="787320" progId="Equation.DSMT4">
                  <p:embed/>
                </p:oleObj>
              </mc:Choice>
              <mc:Fallback>
                <p:oleObj name="Equation" r:id="rId2" imgW="24256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4078288"/>
                        <a:ext cx="6918325" cy="224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itle 1">
            <a:extLst>
              <a:ext uri="{FF2B5EF4-FFF2-40B4-BE49-F238E27FC236}">
                <a16:creationId xmlns:a16="http://schemas.microsoft.com/office/drawing/2014/main" id="{7F58D960-416F-4C1D-B660-D7BE1AE7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Ordinary Least Squares Regression</a:t>
            </a:r>
          </a:p>
        </p:txBody>
      </p:sp>
      <p:graphicFrame>
        <p:nvGraphicFramePr>
          <p:cNvPr id="2051" name="Object 5" descr="Regression Statistics">
            <a:extLst>
              <a:ext uri="{FF2B5EF4-FFF2-40B4-BE49-F238E27FC236}">
                <a16:creationId xmlns:a16="http://schemas.microsoft.com/office/drawing/2014/main" id="{504B65FB-A7C3-4211-AF3A-F8D1D7CFD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446647"/>
              </p:ext>
            </p:extLst>
          </p:nvPr>
        </p:nvGraphicFramePr>
        <p:xfrm>
          <a:off x="228600" y="1066800"/>
          <a:ext cx="257016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266950" imgH="1209675" progId="Excel.Sheet.8">
                  <p:embed/>
                </p:oleObj>
              </mc:Choice>
              <mc:Fallback>
                <p:oleObj name="Worksheet" r:id="rId2" imgW="2266950" imgH="120967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2570163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 descr="ANOVA table">
            <a:extLst>
              <a:ext uri="{FF2B5EF4-FFF2-40B4-BE49-F238E27FC236}">
                <a16:creationId xmlns:a16="http://schemas.microsoft.com/office/drawing/2014/main" id="{D5238B23-D121-4F74-87E0-F2EF29AB57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316906"/>
              </p:ext>
            </p:extLst>
          </p:nvPr>
        </p:nvGraphicFramePr>
        <p:xfrm>
          <a:off x="3048000" y="1295400"/>
          <a:ext cx="56959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391150" imgH="1009650" progId="Excel.Sheet.8">
                  <p:embed/>
                </p:oleObj>
              </mc:Choice>
              <mc:Fallback>
                <p:oleObj name="Worksheet" r:id="rId4" imgW="5391150" imgH="100965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295400"/>
                        <a:ext cx="56959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7" descr="Regression coefficients, standard errors, t-tests, 95% Confidence Intervals">
            <a:extLst>
              <a:ext uri="{FF2B5EF4-FFF2-40B4-BE49-F238E27FC236}">
                <a16:creationId xmlns:a16="http://schemas.microsoft.com/office/drawing/2014/main" id="{7C04FFFF-F471-44F8-8C04-4EE714045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856220"/>
              </p:ext>
            </p:extLst>
          </p:nvPr>
        </p:nvGraphicFramePr>
        <p:xfrm>
          <a:off x="533400" y="2667000"/>
          <a:ext cx="78216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257925" imgH="609600" progId="Excel.Sheet.8">
                  <p:embed/>
                </p:oleObj>
              </mc:Choice>
              <mc:Fallback>
                <p:oleObj name="Worksheet" r:id="rId6" imgW="6257925" imgH="60960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67000"/>
                        <a:ext cx="78216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" name="Object 3" descr="Drgression equation and residual standard error">
            <a:extLst>
              <a:ext uri="{FF2B5EF4-FFF2-40B4-BE49-F238E27FC236}">
                <a16:creationId xmlns:a16="http://schemas.microsoft.com/office/drawing/2014/main" id="{25498E53-B25A-422C-B8AC-168CACAB2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4586"/>
              </p:ext>
            </p:extLst>
          </p:nvPr>
        </p:nvGraphicFramePr>
        <p:xfrm>
          <a:off x="685800" y="3657600"/>
          <a:ext cx="71326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71800" imgH="317160" progId="Equation.3">
                  <p:embed/>
                </p:oleObj>
              </mc:Choice>
              <mc:Fallback>
                <p:oleObj name="Equation" r:id="rId8" imgW="2971800" imgH="3171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57600"/>
                        <a:ext cx="7132638" cy="7620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8" descr="Durbin-Watson test for autocorrelation">
            <a:extLst>
              <a:ext uri="{FF2B5EF4-FFF2-40B4-BE49-F238E27FC236}">
                <a16:creationId xmlns:a16="http://schemas.microsoft.com/office/drawing/2014/main" id="{FD946259-4E53-470D-8FDF-40B8259AC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671687"/>
              </p:ext>
            </p:extLst>
          </p:nvPr>
        </p:nvGraphicFramePr>
        <p:xfrm>
          <a:off x="609600" y="4648200"/>
          <a:ext cx="746760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84600" imgH="1307880" progId="Equation.3">
                  <p:embed/>
                </p:oleObj>
              </mc:Choice>
              <mc:Fallback>
                <p:oleObj name="Equation" r:id="rId10" imgW="4584600" imgH="13078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648200"/>
                        <a:ext cx="7467600" cy="21304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D2E4-90F6-9BDF-3944-3B709AE5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3200" dirty="0"/>
              <a:t>Plot of Residuals versus Year</a:t>
            </a:r>
          </a:p>
        </p:txBody>
      </p:sp>
      <p:graphicFrame>
        <p:nvGraphicFramePr>
          <p:cNvPr id="3" name="Chart 2" descr="Plot of residuals versus time order">
            <a:extLst>
              <a:ext uri="{FF2B5EF4-FFF2-40B4-BE49-F238E27FC236}">
                <a16:creationId xmlns:a16="http://schemas.microsoft.com/office/drawing/2014/main" id="{7EDD1F22-7182-4176-B268-A20DCE6FD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803519"/>
              </p:ext>
            </p:extLst>
          </p:nvPr>
        </p:nvGraphicFramePr>
        <p:xfrm>
          <a:off x="381000" y="990600"/>
          <a:ext cx="8515350" cy="5686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3F5F-A291-4BDA-BF50-E1E262930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6397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Covariance Structure (p</a:t>
            </a:r>
            <a:r>
              <a:rPr lang="en-US" baseline="30000" dirty="0"/>
              <a:t>*</a:t>
            </a:r>
            <a:r>
              <a:rPr lang="en-US" dirty="0"/>
              <a:t>=1) </a:t>
            </a:r>
          </a:p>
        </p:txBody>
      </p:sp>
      <p:graphicFrame>
        <p:nvGraphicFramePr>
          <p:cNvPr id="3" name="Object 2" descr="Nodel structre with AR(1) error terms with Variance-covariance matrix of error terms">
            <a:extLst>
              <a:ext uri="{FF2B5EF4-FFF2-40B4-BE49-F238E27FC236}">
                <a16:creationId xmlns:a16="http://schemas.microsoft.com/office/drawing/2014/main" id="{4A454EF3-9235-4A4A-DD09-40EA0E9F2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285441"/>
              </p:ext>
            </p:extLst>
          </p:nvPr>
        </p:nvGraphicFramePr>
        <p:xfrm>
          <a:off x="380999" y="1219199"/>
          <a:ext cx="8382001" cy="537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63880" imgH="3632040" progId="Equation.DSMT4">
                  <p:embed/>
                </p:oleObj>
              </mc:Choice>
              <mc:Fallback>
                <p:oleObj name="Equation" r:id="rId2" imgW="5663880" imgH="3632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0999" y="1219199"/>
                        <a:ext cx="8382001" cy="537500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2680-A150-47A2-BF04-67FAAE83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Generalized Least Squares (p</a:t>
            </a:r>
            <a:r>
              <a:rPr lang="en-US" baseline="30000" dirty="0"/>
              <a:t>*</a:t>
            </a:r>
            <a:r>
              <a:rPr lang="en-US" dirty="0"/>
              <a:t>=1)</a:t>
            </a:r>
          </a:p>
        </p:txBody>
      </p:sp>
      <p:graphicFrame>
        <p:nvGraphicFramePr>
          <p:cNvPr id="3" name="Object 2" descr="Transformations of Y and X that create independent errors">
            <a:extLst>
              <a:ext uri="{FF2B5EF4-FFF2-40B4-BE49-F238E27FC236}">
                <a16:creationId xmlns:a16="http://schemas.microsoft.com/office/drawing/2014/main" id="{00B457C2-B98A-21D9-0B01-BA1529FE8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295718"/>
              </p:ext>
            </p:extLst>
          </p:nvPr>
        </p:nvGraphicFramePr>
        <p:xfrm>
          <a:off x="228600" y="914400"/>
          <a:ext cx="866775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24680" imgH="4876560" progId="Equation.DSMT4">
                  <p:embed/>
                </p:oleObj>
              </mc:Choice>
              <mc:Fallback>
                <p:oleObj name="Equation" r:id="rId2" imgW="7924680" imgH="487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" y="914400"/>
                        <a:ext cx="8667750" cy="5334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>
            <a:extLst>
              <a:ext uri="{FF2B5EF4-FFF2-40B4-BE49-F238E27FC236}">
                <a16:creationId xmlns:a16="http://schemas.microsoft.com/office/drawing/2014/main" id="{27360F0F-EE21-449E-A261-93D55C28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/>
          <a:lstStyle/>
          <a:p>
            <a:r>
              <a:rPr lang="en-US" altLang="en-US" dirty="0"/>
              <a:t>Estimated GLS (p</a:t>
            </a:r>
            <a:r>
              <a:rPr lang="en-US" altLang="en-US" baseline="30000" dirty="0"/>
              <a:t>*</a:t>
            </a:r>
            <a:r>
              <a:rPr lang="en-US" altLang="en-US" dirty="0"/>
              <a:t>=1)</a:t>
            </a:r>
          </a:p>
        </p:txBody>
      </p:sp>
      <p:graphicFrame>
        <p:nvGraphicFramePr>
          <p:cNvPr id="3" name="Object 2" descr="Parameter estimates for estimated generalized least squares">
            <a:extLst>
              <a:ext uri="{FF2B5EF4-FFF2-40B4-BE49-F238E27FC236}">
                <a16:creationId xmlns:a16="http://schemas.microsoft.com/office/drawing/2014/main" id="{D5965639-AE3B-406D-02FC-C5EE20E89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880548"/>
              </p:ext>
            </p:extLst>
          </p:nvPr>
        </p:nvGraphicFramePr>
        <p:xfrm>
          <a:off x="914400" y="954088"/>
          <a:ext cx="6629400" cy="568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78360" imgH="4952880" progId="Equation.DSMT4">
                  <p:embed/>
                </p:oleObj>
              </mc:Choice>
              <mc:Fallback>
                <p:oleObj name="Equation" r:id="rId2" imgW="5778360" imgH="4952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954088"/>
                        <a:ext cx="6629400" cy="56816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>
            <a:extLst>
              <a:ext uri="{FF2B5EF4-FFF2-40B4-BE49-F238E27FC236}">
                <a16:creationId xmlns:a16="http://schemas.microsoft.com/office/drawing/2014/main" id="{E8C75FE1-E3A4-4267-9DAD-746589EC9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411162"/>
          </a:xfrm>
        </p:spPr>
        <p:txBody>
          <a:bodyPr/>
          <a:lstStyle/>
          <a:p>
            <a:r>
              <a:rPr lang="en-US" altLang="en-US" sz="3200" dirty="0"/>
              <a:t>Estimated GLS (p</a:t>
            </a:r>
            <a:r>
              <a:rPr lang="en-US" altLang="en-US" sz="3200" baseline="30000" dirty="0"/>
              <a:t>*</a:t>
            </a:r>
            <a:r>
              <a:rPr lang="en-US" altLang="en-US" sz="3200" dirty="0"/>
              <a:t>=1) – Wine/Population Data</a:t>
            </a:r>
          </a:p>
        </p:txBody>
      </p:sp>
      <p:graphicFrame>
        <p:nvGraphicFramePr>
          <p:cNvPr id="2" name="Object 1" descr="Computation of estimates for wine data">
            <a:extLst>
              <a:ext uri="{FF2B5EF4-FFF2-40B4-BE49-F238E27FC236}">
                <a16:creationId xmlns:a16="http://schemas.microsoft.com/office/drawing/2014/main" id="{A2A8E52A-0551-ECC6-DEAF-28C349327E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433251"/>
              </p:ext>
            </p:extLst>
          </p:nvPr>
        </p:nvGraphicFramePr>
        <p:xfrm>
          <a:off x="457200" y="1295400"/>
          <a:ext cx="7999412" cy="492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72120" imgH="4292280" progId="Equation.DSMT4">
                  <p:embed/>
                </p:oleObj>
              </mc:Choice>
              <mc:Fallback>
                <p:oleObj name="Equation" r:id="rId2" imgW="6972120" imgH="42922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5965639-AE3B-406D-02FC-C5EE20E89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1295400"/>
                        <a:ext cx="7999412" cy="49212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EAD0FD-542A-3C98-AD0A-38F177C0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sz="3200" dirty="0"/>
              <a:t>Plot of Transformed Residuals versus Year</a:t>
            </a:r>
          </a:p>
        </p:txBody>
      </p:sp>
      <p:graphicFrame>
        <p:nvGraphicFramePr>
          <p:cNvPr id="2" name="Chart 1" descr="Plot of transformed residuals versus year">
            <a:extLst>
              <a:ext uri="{FF2B5EF4-FFF2-40B4-BE49-F238E27FC236}">
                <a16:creationId xmlns:a16="http://schemas.microsoft.com/office/drawing/2014/main" id="{74D9E12B-7093-428B-BC57-F94465FD6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406910"/>
              </p:ext>
            </p:extLst>
          </p:nvPr>
        </p:nvGraphicFramePr>
        <p:xfrm>
          <a:off x="304800" y="914399"/>
          <a:ext cx="8595519" cy="5029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170" name="Object 2" descr="Durbin-Watson test based on transformed residuals">
            <a:extLst>
              <a:ext uri="{FF2B5EF4-FFF2-40B4-BE49-F238E27FC236}">
                <a16:creationId xmlns:a16="http://schemas.microsoft.com/office/drawing/2014/main" id="{D8B7BD88-B531-4DB9-AB8C-1C0CEAAE31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458907"/>
              </p:ext>
            </p:extLst>
          </p:nvPr>
        </p:nvGraphicFramePr>
        <p:xfrm>
          <a:off x="1524000" y="6019800"/>
          <a:ext cx="58674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84320" imgH="457200" progId="Equation.3">
                  <p:embed/>
                </p:oleObj>
              </mc:Choice>
              <mc:Fallback>
                <p:oleObj name="Equation" r:id="rId3" imgW="378432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019800"/>
                        <a:ext cx="5867400" cy="7080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5F659E-5AA5-8DCB-5AD2-8E3ABD34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Data with EGLS Fitted Equation</a:t>
            </a:r>
          </a:p>
        </p:txBody>
      </p:sp>
      <p:graphicFrame>
        <p:nvGraphicFramePr>
          <p:cNvPr id="2" name="Chart 1" descr="Plot of untransformed wine sales versus population with EGLS regression line">
            <a:extLst>
              <a:ext uri="{FF2B5EF4-FFF2-40B4-BE49-F238E27FC236}">
                <a16:creationId xmlns:a16="http://schemas.microsoft.com/office/drawing/2014/main" id="{D31A3933-548A-485D-941C-8C6568DD0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76587"/>
              </p:ext>
            </p:extLst>
          </p:nvPr>
        </p:nvGraphicFramePr>
        <p:xfrm>
          <a:off x="422870" y="1143000"/>
          <a:ext cx="8298259" cy="5434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1">
            <a:extLst>
              <a:ext uri="{FF2B5EF4-FFF2-40B4-BE49-F238E27FC236}">
                <a16:creationId xmlns:a16="http://schemas.microsoft.com/office/drawing/2014/main" id="{6F25AECA-F625-489D-80D1-7EAD1DE1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/>
          <a:lstStyle/>
          <a:p>
            <a:pPr eaLnBrk="1" hangingPunct="1"/>
            <a:r>
              <a:rPr lang="en-US" altLang="en-US" dirty="0"/>
              <a:t>Estimated GLS (General p</a:t>
            </a:r>
            <a:r>
              <a:rPr lang="en-US" altLang="en-US" baseline="30000" dirty="0"/>
              <a:t>*</a:t>
            </a:r>
            <a:r>
              <a:rPr lang="en-US" altLang="en-US" dirty="0"/>
              <a:t>) - I</a:t>
            </a:r>
          </a:p>
        </p:txBody>
      </p:sp>
      <p:graphicFrame>
        <p:nvGraphicFramePr>
          <p:cNvPr id="2" name="Object 1" descr="Formula for general AR(p*) errors (part 1)">
            <a:extLst>
              <a:ext uri="{FF2B5EF4-FFF2-40B4-BE49-F238E27FC236}">
                <a16:creationId xmlns:a16="http://schemas.microsoft.com/office/drawing/2014/main" id="{C355E206-7160-D0AB-F6D3-24D5390CD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247196"/>
              </p:ext>
            </p:extLst>
          </p:nvPr>
        </p:nvGraphicFramePr>
        <p:xfrm>
          <a:off x="252413" y="1039813"/>
          <a:ext cx="8639175" cy="560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40400" imgH="4762440" progId="Equation.DSMT4">
                  <p:embed/>
                </p:oleObj>
              </mc:Choice>
              <mc:Fallback>
                <p:oleObj name="Equation" r:id="rId2" imgW="7340400" imgH="4762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413" y="1039813"/>
                        <a:ext cx="8639175" cy="56038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15CA406-9EB9-1D6B-6268-01216516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/>
          <a:lstStyle/>
          <a:p>
            <a:pPr eaLnBrk="1" hangingPunct="1"/>
            <a:r>
              <a:rPr lang="en-US" altLang="en-US" dirty="0"/>
              <a:t>Estimated GLS (General p</a:t>
            </a:r>
            <a:r>
              <a:rPr lang="en-US" altLang="en-US" baseline="30000" dirty="0"/>
              <a:t>*</a:t>
            </a:r>
            <a:r>
              <a:rPr lang="en-US" altLang="en-US" dirty="0"/>
              <a:t>) - II</a:t>
            </a:r>
          </a:p>
        </p:txBody>
      </p:sp>
      <p:graphicFrame>
        <p:nvGraphicFramePr>
          <p:cNvPr id="13315" name="Object 2" descr="Formula for general AR(p*) errors (part 2)">
            <a:extLst>
              <a:ext uri="{FF2B5EF4-FFF2-40B4-BE49-F238E27FC236}">
                <a16:creationId xmlns:a16="http://schemas.microsoft.com/office/drawing/2014/main" id="{03C6FDF5-0B0D-3425-B53B-69D9B3933B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861921"/>
              </p:ext>
            </p:extLst>
          </p:nvPr>
        </p:nvGraphicFramePr>
        <p:xfrm>
          <a:off x="452511" y="992187"/>
          <a:ext cx="8401380" cy="525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54600" imgH="4165560" progId="Equation.DSMT4">
                  <p:embed/>
                </p:oleObj>
              </mc:Choice>
              <mc:Fallback>
                <p:oleObj name="Equation" r:id="rId2" imgW="6654600" imgH="4165560" progId="Equation.DSMT4">
                  <p:embed/>
                  <p:pic>
                    <p:nvPicPr>
                      <p:cNvPr id="13315" name="Object 2">
                        <a:extLst>
                          <a:ext uri="{FF2B5EF4-FFF2-40B4-BE49-F238E27FC236}">
                            <a16:creationId xmlns:a16="http://schemas.microsoft.com/office/drawing/2014/main" id="{03C6FDF5-0B0D-3425-B53B-69D9B3933B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11" y="992187"/>
                        <a:ext cx="8401380" cy="52562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5010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E682E74-DF3B-C5C3-128B-94F7A46B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3"/>
          </a:xfrm>
        </p:spPr>
        <p:txBody>
          <a:bodyPr/>
          <a:lstStyle/>
          <a:p>
            <a:pPr eaLnBrk="1" hangingPunct="1"/>
            <a:r>
              <a:rPr lang="en-US" altLang="en-US" dirty="0"/>
              <a:t>Estimated GLS (General p</a:t>
            </a:r>
            <a:r>
              <a:rPr lang="en-US" altLang="en-US" baseline="30000" dirty="0"/>
              <a:t>*</a:t>
            </a:r>
            <a:r>
              <a:rPr lang="en-US" altLang="en-US" dirty="0"/>
              <a:t>) - III</a:t>
            </a:r>
          </a:p>
        </p:txBody>
      </p:sp>
      <p:graphicFrame>
        <p:nvGraphicFramePr>
          <p:cNvPr id="14339" name="Object 2" descr="Formula for general AR(p*) errors (part 3)">
            <a:extLst>
              <a:ext uri="{FF2B5EF4-FFF2-40B4-BE49-F238E27FC236}">
                <a16:creationId xmlns:a16="http://schemas.microsoft.com/office/drawing/2014/main" id="{793AF86C-3507-3AFB-6CCC-A35623E0F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839329"/>
              </p:ext>
            </p:extLst>
          </p:nvPr>
        </p:nvGraphicFramePr>
        <p:xfrm>
          <a:off x="480646" y="1447800"/>
          <a:ext cx="8304668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89440" imgH="2819160" progId="Equation.DSMT4">
                  <p:embed/>
                </p:oleObj>
              </mc:Choice>
              <mc:Fallback>
                <p:oleObj name="Equation" r:id="rId2" imgW="5689440" imgH="2819160" progId="Equation.DSMT4">
                  <p:embed/>
                  <p:pic>
                    <p:nvPicPr>
                      <p:cNvPr id="14339" name="Object 2">
                        <a:extLst>
                          <a:ext uri="{FF2B5EF4-FFF2-40B4-BE49-F238E27FC236}">
                            <a16:creationId xmlns:a16="http://schemas.microsoft.com/office/drawing/2014/main" id="{793AF86C-3507-3AFB-6CCC-A35623E0F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46" y="1447800"/>
                        <a:ext cx="8304668" cy="4114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003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5842A5D-66E7-4CE5-BD53-1DEBB6E8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altLang="en-US" dirty="0"/>
              <a:t>SAS Proc </a:t>
            </a:r>
            <a:r>
              <a:rPr lang="en-US" altLang="en-US" dirty="0" err="1"/>
              <a:t>Autoreg</a:t>
            </a:r>
            <a:r>
              <a:rPr lang="en-US" altLang="en-US" dirty="0"/>
              <a:t> Output - I</a:t>
            </a:r>
          </a:p>
        </p:txBody>
      </p:sp>
      <p:sp>
        <p:nvSpPr>
          <p:cNvPr id="14339" name="TextBox 2">
            <a:extLst>
              <a:ext uri="{FF2B5EF4-FFF2-40B4-BE49-F238E27FC236}">
                <a16:creationId xmlns:a16="http://schemas.microsoft.com/office/drawing/2014/main" id="{B0B3A1D0-C51B-4737-80F0-1C84AE750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066800"/>
            <a:ext cx="89154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The AUTOREG Procedure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   Dependent Variable    wine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Ordinary Least Squares Estimates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SSE                 158540.525    DFE                       67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MSE                       2366    Root MSE            48.64439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SBC                 738.318203    AIC                733.84999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Regress R-Square        0.9324    Total R-Square        0.9324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Durbin-Watson           0.1199                                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                  Standard                 Approx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Variable        DF     Estimate        Error    t Value    Pr &gt; |t|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Intercept        1    -347.9736      21.9895     -15.82      &lt;.0001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adpop            1       4.3092       0.1417      30.40      &lt;.0001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 Estimates of Autocorrelations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Lag   Covariance    Correlation   -1 9 8 7 6 5 4 3 2 1 0 1 2 3 4 5 6 7 8 9 1 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0       2297.7       1.000000   |                    |********************|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1       2147.9       0.934807   |                |******************* |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endParaRPr lang="en-US" altLang="en-US" sz="1400" b="1">
              <a:solidFill>
                <a:srgbClr val="FF00FF"/>
              </a:solidFill>
              <a:latin typeface="Lucida Sans Typewriter" panose="020B05090305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FF1953E-2CAA-455A-BC1F-E7704C5B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SAS Proc </a:t>
            </a:r>
            <a:r>
              <a:rPr lang="en-US" altLang="en-US" dirty="0" err="1"/>
              <a:t>Autoreg</a:t>
            </a:r>
            <a:r>
              <a:rPr lang="en-US" altLang="en-US" dirty="0"/>
              <a:t> Output - II </a:t>
            </a:r>
          </a:p>
        </p:txBody>
      </p:sp>
      <p:sp>
        <p:nvSpPr>
          <p:cNvPr id="15363" name="TextBox 2">
            <a:extLst>
              <a:ext uri="{FF2B5EF4-FFF2-40B4-BE49-F238E27FC236}">
                <a16:creationId xmlns:a16="http://schemas.microsoft.com/office/drawing/2014/main" id="{99F06173-957A-4566-9F21-3C7F3361A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66800"/>
            <a:ext cx="84582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br>
              <a:rPr lang="en-US" altLang="en-US" sz="1400">
                <a:latin typeface="Lucida Sans Typewriter" panose="020B0509030504030204" pitchFamily="49" charset="0"/>
              </a:rPr>
            </a:br>
            <a:br>
              <a:rPr lang="en-US" altLang="en-US" sz="1400"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  Preliminary MSE       289.8</a:t>
            </a:r>
          </a:p>
          <a:p>
            <a:pPr eaLnBrk="1" hangingPunct="1"/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Estimates of Autoregressive Parameters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                      Standard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Lag     Coefficient           Error    t Value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1       -0.934807        0.043717     -21.38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     Yule-Walker Estimates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SSE                 18516.1612    DFE                       66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MSE                  280.54790    Root MSE            16.74956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SBC                 596.454422    AIC               589.752103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Regress R-Square        0.5702    Total R-Square        0.9921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Durbin-Watson           1.6728                                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                                    Standard                 Approx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Variable        DF     Estimate        Error    t Value    Pr &gt; |t|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Intercept        1    -347.2297      74.0420      -4.69      &lt;.0001</a:t>
            </a:r>
            <a:b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</a:br>
            <a:r>
              <a:rPr lang="en-US" altLang="en-US" sz="1400" b="1">
                <a:solidFill>
                  <a:srgbClr val="FF00FF"/>
                </a:solidFill>
                <a:latin typeface="Lucida Sans Typewriter" panose="020B0509030504030204" pitchFamily="49" charset="0"/>
              </a:rPr>
              <a:t>      adpop            1       4.2540       0.4546       9.36      &lt;.0001</a:t>
            </a:r>
            <a:br>
              <a:rPr lang="en-US" altLang="en-US" sz="1400">
                <a:latin typeface="Lucida Sans Typewriter" panose="020B0509030504030204" pitchFamily="49" charset="0"/>
              </a:rPr>
            </a:br>
            <a:r>
              <a:rPr lang="en-US" altLang="en-US" sz="1400">
                <a:latin typeface="Lucida Sans Typewriter" panose="020B0509030504030204" pitchFamily="49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Trek">
    <a:majorFont>
      <a:latin typeface="Franklin Gothic Medium"/>
      <a:ea typeface=""/>
      <a:cs typeface=""/>
      <a:font script="Jpan" typeface="HG創英角ｺﾞｼｯｸUB"/>
      <a:font script="Hang" typeface="돋움"/>
      <a:font script="Hans" typeface="隶书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ajorFont>
    <a:minorFont>
      <a:latin typeface="Franklin Gothic Book"/>
      <a:ea typeface=""/>
      <a:cs typeface=""/>
      <a:font script="Jpan" typeface="HGｺﾞｼｯｸE"/>
      <a:font script="Hang" typeface="돋움"/>
      <a:font script="Hans" typeface="华文楷体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Trek">
    <a:majorFont>
      <a:latin typeface="Franklin Gothic Medium"/>
      <a:ea typeface=""/>
      <a:cs typeface=""/>
      <a:font script="Jpan" typeface="HG創英角ｺﾞｼｯｸUB"/>
      <a:font script="Hang" typeface="돋움"/>
      <a:font script="Hans" typeface="隶书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ajorFont>
    <a:minorFont>
      <a:latin typeface="Franklin Gothic Book"/>
      <a:ea typeface=""/>
      <a:cs typeface=""/>
      <a:font script="Jpan" typeface="HGｺﾞｼｯｸE"/>
      <a:font script="Hang" typeface="돋움"/>
      <a:font script="Hans" typeface="华文楷体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Trek">
    <a:majorFont>
      <a:latin typeface="Franklin Gothic Medium"/>
      <a:ea typeface=""/>
      <a:cs typeface=""/>
      <a:font script="Jpan" typeface="HG創英角ｺﾞｼｯｸUB"/>
      <a:font script="Hang" typeface="돋움"/>
      <a:font script="Hans" typeface="隶书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ajorFont>
    <a:minorFont>
      <a:latin typeface="Franklin Gothic Book"/>
      <a:ea typeface=""/>
      <a:cs typeface=""/>
      <a:font script="Jpan" typeface="HGｺﾞｼｯｸE"/>
      <a:font script="Hang" typeface="돋움"/>
      <a:font script="Hans" typeface="华文楷体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448</Words>
  <Application>Microsoft Office PowerPoint</Application>
  <PresentationFormat>On-screen Show (4:3)</PresentationFormat>
  <Paragraphs>33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Franklin Gothic Book</vt:lpstr>
      <vt:lpstr>Franklin Gothic Medium</vt:lpstr>
      <vt:lpstr>Lucida Sans Typewriter</vt:lpstr>
      <vt:lpstr>Wingdings</vt:lpstr>
      <vt:lpstr>Office Theme</vt:lpstr>
      <vt:lpstr>Equation</vt:lpstr>
      <vt:lpstr>Worksheet</vt:lpstr>
      <vt:lpstr>Regression with Autocorrelated Errors</vt:lpstr>
      <vt:lpstr>Data Description</vt:lpstr>
      <vt:lpstr>Ordinary Least Squares Regression</vt:lpstr>
      <vt:lpstr>Plot of Residuals versus Year</vt:lpstr>
      <vt:lpstr>Covariance Structure (p*=1) </vt:lpstr>
      <vt:lpstr>Generalized Least Squares (p*=1)</vt:lpstr>
      <vt:lpstr>Estimated GLS (p*=1)</vt:lpstr>
      <vt:lpstr>Estimated GLS (p*=1) – Wine/Population Data</vt:lpstr>
      <vt:lpstr>Plot of Transformed Residuals versus Year</vt:lpstr>
      <vt:lpstr>Data with EGLS Fitted Equation</vt:lpstr>
      <vt:lpstr>Estimated GLS (General p*) - I</vt:lpstr>
      <vt:lpstr>Estimated GLS (General p*) - II</vt:lpstr>
      <vt:lpstr>Estimated GLS (General p*) - III</vt:lpstr>
      <vt:lpstr>SAS Proc Autoreg Output - I</vt:lpstr>
      <vt:lpstr>SAS Proc Autoreg Output - II 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with Autocorrelated Errors</dc:title>
  <dc:creator>winner</dc:creator>
  <cp:lastModifiedBy>Winner,Lawrence Herman</cp:lastModifiedBy>
  <cp:revision>80</cp:revision>
  <dcterms:created xsi:type="dcterms:W3CDTF">2009-11-19T15:31:34Z</dcterms:created>
  <dcterms:modified xsi:type="dcterms:W3CDTF">2025-12-16T17:57:41Z</dcterms:modified>
</cp:coreProperties>
</file>