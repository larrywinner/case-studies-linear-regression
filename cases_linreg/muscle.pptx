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8080"/>
    <a:srgbClr val="FFFF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6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78A2-7B72-4675-9156-73C7AE98F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B670D-9E5E-4C7C-9E4A-58EA04B71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4B875-D838-4A1D-B8D1-6E0AF9FE4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84AF1-0502-454C-B396-0DE1AA202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B2C70-D5F7-4FD0-AFF6-F98EF427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52F1DA-E203-4962-8DE8-6F21D28103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4788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6455-7B07-4EBA-B26A-21E906165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129FC-EE95-4AA3-B9BD-AE5308A97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6FA14-EDFD-49FA-8505-C9AE2171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5ECA7-51FC-4E2E-81B9-A0E1CC23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B73AC-E929-4450-BECF-B46108F2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BA31D2-0AA3-4D96-8C7B-4B8E98C352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794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304D-1E91-456D-B867-FA4628E1E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56BA4-1CC8-4E79-B08C-E6C769AEA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4DE19-7B9A-4713-9BBF-2EA9E9A8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B5529-C004-4787-8E30-FE5209807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35E8F-F0CB-4DC0-BACB-98BD1104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4399CB-0915-49BD-9BF3-3276EF1F98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562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452FC-B344-4FC0-A0BF-E4695747D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3DCA2-D98F-42A2-898B-63067E6A0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DFAE1-81FA-4746-90CC-909E959BD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2D96E-0BEC-44E6-834F-D9D7971AF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7F255-449B-43AE-A090-B9BDCE300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99659-F53D-4ADD-9F3D-B800646A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462D51-D013-4BC9-8FE2-757BEFB269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4611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06A79-ED17-416A-96A5-6B366D172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D8951-AF3E-40F0-BF36-3C49A4299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AD79E-8FD0-4752-AC0A-F39B3C8C0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255C6E-F90F-4730-81BB-A5986CCF5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B9B7E9-2A4E-4C74-9BD7-3C64BA855C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8A89E-AE62-4813-BDA1-D117EAB87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47D39B-7FFF-4E4B-9836-4DE900DE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D77EC0-018A-4234-8D4D-ED9F6882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461743-27B5-480E-BBD8-2A329C0FCA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8313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CC23-2428-4182-93D7-114EF7D3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8CDDE8-5682-4A5D-84EF-17E17D23D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C4DC6E-0B0E-4447-8AC6-43C9C28D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F6FAE-9EBA-4488-A787-FD86114E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635A2B-2A14-44CD-9512-22997F3245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4934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6C873-44B1-46A7-B3F6-EBA938A6E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A3866A-DF05-4F78-AF5F-2AFEE0B8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C9F76-8C24-4589-A95E-FA4EC762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563DBD-AC6B-477C-8A36-16B0B18B5D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2819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ED9A6-86F1-4446-971A-A2EF5769F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7083F-694F-4D51-A99F-F8278B64E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55FA3-67AC-4F5A-BA00-1B40DA6E7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CF317-FBAB-4AB1-BCFC-A7053D63D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C310E-942D-4993-BEEB-8715F4E02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7ACAC-B1D6-4071-B1C3-C7BB9344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0AFDBD-D1CF-4971-A7D5-54BF7BD096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2027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D332E-E85B-4F8C-9362-316FFE5CA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311EBE-D8FF-40D5-BF93-35EB5F4B6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11D90-8289-435A-B93F-AAB4C6ED3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1CBC1-5189-401B-8201-FBD99F804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C215D-E2C5-40FB-8C6D-9591E4B62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1B7DA-B9AE-43B5-90CC-ED746DE1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A6FBE3-3794-4719-9A7B-534D82B404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9674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84DF3-DC26-4A7B-8E7A-4B75202A0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BE017-1670-41FC-A7F9-A714A1106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4909D-DFC7-4EA1-B90E-18E9AF80C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E9CCF-909D-4928-989D-0EDEFBA8D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8AC96-2D1B-4BB9-9457-56CCA494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14FBB8-E8C3-46C2-A262-F1183271F0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818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356A-94F9-4076-AB6F-0854D24D6D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66E6B-27F3-4CAB-B3F5-D2D958E6D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25FB1-97CE-4FD1-AC80-A7163D8A5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CA5DC-F61C-447E-B6B7-4AD3C1B95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FA0AA-FE25-45F8-B71E-BBD3DEA85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AA75C5-4B6C-4A62-B4A6-73E81B9AA9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8447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95116DC-7290-4834-B59A-7030BA7DBC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0A61A7D-4998-41CB-861A-52FD847113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DE5C8F4-8330-4838-AF33-D81BD2A31AC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B336407-E6E2-4B21-8711-152830604EF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1944C60-EB81-4B2D-B6E8-C951E3E98D8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842B012-BD1D-4D7B-8CA7-6CF0F9554C9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600" kern="1200">
          <a:solidFill>
            <a:srgbClr val="FFFFCC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ootlight MT Light" panose="0204060206030A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ootlight MT Light" panose="0204060206030A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ootlight MT Light" panose="0204060206030A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ootlight MT Light" panose="0204060206030A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ootlight MT Light" panose="0204060206030A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ootlight MT Light" panose="0204060206030A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ootlight MT Light" panose="0204060206030A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FFFFCC"/>
          </a:solidFill>
          <a:latin typeface="Footlight MT Light" panose="0204060206030A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 kern="1200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kern="1200">
          <a:solidFill>
            <a:srgbClr val="FFFFCC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2DB7EC9-CF2D-4CC3-885B-79C32F9D05C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en-US" sz="3600"/>
              <a:t>Influential Observations in Regression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474E4BD-3B3B-4283-808A-ED264B7B105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Measurements on Heat Production as a Function of Body Mass and Work Effort.</a:t>
            </a:r>
          </a:p>
          <a:p>
            <a:pPr algn="l">
              <a:lnSpc>
                <a:spcPct val="90000"/>
              </a:lnSpc>
            </a:pPr>
            <a:r>
              <a:rPr lang="en-US" altLang="en-US" sz="1400"/>
              <a:t>M. Greenwood (1918). “On the Efficiency of Muscular Work,” </a:t>
            </a:r>
            <a:r>
              <a:rPr lang="en-US" altLang="en-US" sz="1400" i="1"/>
              <a:t>Proc. Roy. Soc. Of London, Series B</a:t>
            </a:r>
            <a:r>
              <a:rPr lang="en-US" altLang="en-US" sz="1400"/>
              <a:t>, Vol. 90, #627, pp. 199-214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F34CBA3-EA1F-47EB-BD6B-AB5578B883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792163"/>
          </a:xfrm>
        </p:spPr>
        <p:txBody>
          <a:bodyPr/>
          <a:lstStyle/>
          <a:p>
            <a:r>
              <a:rPr lang="en-US" altLang="en-US"/>
              <a:t>Data Description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BBE0088-CDE1-47A8-9D27-BB6929CBEB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r>
              <a:rPr lang="en-US" altLang="en-US"/>
              <a:t>Study involved Algerians accustomed to heavy labor. Experiment consisted of several hours on stationary bicycle.</a:t>
            </a:r>
          </a:p>
          <a:p>
            <a:r>
              <a:rPr lang="en-US" altLang="en-US"/>
              <a:t>Dependent (Response) Variable:</a:t>
            </a:r>
          </a:p>
          <a:p>
            <a:pPr lvl="1"/>
            <a:r>
              <a:rPr lang="en-US" altLang="en-US" b="1"/>
              <a:t>H</a:t>
            </a:r>
            <a:r>
              <a:rPr lang="en-US" altLang="en-US"/>
              <a:t>eat Production (Calories) </a:t>
            </a:r>
          </a:p>
          <a:p>
            <a:r>
              <a:rPr lang="en-US" altLang="en-US"/>
              <a:t>Independent (Explanatory/Predictor) Variables:</a:t>
            </a:r>
          </a:p>
          <a:p>
            <a:pPr lvl="1"/>
            <a:r>
              <a:rPr lang="en-US" altLang="en-US" b="1"/>
              <a:t>W</a:t>
            </a:r>
            <a:r>
              <a:rPr lang="en-US" altLang="en-US"/>
              <a:t>ork Effort (Calories)</a:t>
            </a:r>
          </a:p>
          <a:p>
            <a:pPr lvl="1"/>
            <a:r>
              <a:rPr lang="en-US" altLang="en-US"/>
              <a:t>Body </a:t>
            </a:r>
            <a:r>
              <a:rPr lang="en-US" altLang="en-US" b="1"/>
              <a:t>M</a:t>
            </a:r>
            <a:r>
              <a:rPr lang="en-US" altLang="en-US"/>
              <a:t>ass (kg)</a:t>
            </a:r>
          </a:p>
          <a:p>
            <a:r>
              <a:rPr lang="en-US" altLang="en-US"/>
              <a:t>Model:</a:t>
            </a:r>
          </a:p>
          <a:p>
            <a:pPr lvl="1"/>
            <a:r>
              <a:rPr lang="en-US" altLang="en-US"/>
              <a:t>H = </a:t>
            </a:r>
            <a:r>
              <a:rPr lang="en-US" altLang="en-US">
                <a:latin typeface="Symbol" panose="05050102010706020507" pitchFamily="18" charset="2"/>
              </a:rPr>
              <a:t>b</a:t>
            </a:r>
            <a:r>
              <a:rPr lang="en-US" altLang="en-US" baseline="-25000">
                <a:latin typeface="Symbol" panose="05050102010706020507" pitchFamily="18" charset="2"/>
              </a:rPr>
              <a:t>0</a:t>
            </a:r>
            <a:r>
              <a:rPr lang="en-US" altLang="en-US">
                <a:latin typeface="Symbol" panose="05050102010706020507" pitchFamily="18" charset="2"/>
              </a:rPr>
              <a:t> + b</a:t>
            </a:r>
            <a:r>
              <a:rPr lang="en-US" altLang="en-US" baseline="-25000">
                <a:latin typeface="Symbol" panose="05050102010706020507" pitchFamily="18" charset="2"/>
              </a:rPr>
              <a:t>1</a:t>
            </a:r>
            <a:r>
              <a:rPr lang="en-US" altLang="en-US"/>
              <a:t>W</a:t>
            </a:r>
            <a:r>
              <a:rPr lang="en-US" altLang="en-US">
                <a:latin typeface="Symbol" panose="05050102010706020507" pitchFamily="18" charset="2"/>
              </a:rPr>
              <a:t> + b</a:t>
            </a:r>
            <a:r>
              <a:rPr lang="en-US" altLang="en-US" baseline="-25000">
                <a:latin typeface="Symbol" panose="05050102010706020507" pitchFamily="18" charset="2"/>
              </a:rPr>
              <a:t>2</a:t>
            </a:r>
            <a:r>
              <a:rPr lang="en-US" altLang="en-US"/>
              <a:t>M </a:t>
            </a:r>
            <a:r>
              <a:rPr lang="en-US" altLang="en-US">
                <a:latin typeface="Symbol" panose="05050102010706020507" pitchFamily="18" charset="2"/>
              </a:rPr>
              <a:t>+ e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B9402B75-40B1-4E3F-AD8D-2B5BB1584A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en-US"/>
              <a:t>Raw Data (Table III, p.203)</a:t>
            </a:r>
          </a:p>
        </p:txBody>
      </p:sp>
      <p:graphicFrame>
        <p:nvGraphicFramePr>
          <p:cNvPr id="4101" name="Object 5" descr="Table with the dataset">
            <a:extLst>
              <a:ext uri="{FF2B5EF4-FFF2-40B4-BE49-F238E27FC236}">
                <a16:creationId xmlns:a16="http://schemas.microsoft.com/office/drawing/2014/main" id="{3E4E38D4-4ECB-48E7-B055-1E564A68EAC9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8594688"/>
              </p:ext>
            </p:extLst>
          </p:nvPr>
        </p:nvGraphicFramePr>
        <p:xfrm>
          <a:off x="1219200" y="1447800"/>
          <a:ext cx="6248400" cy="516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852736" imgH="3182276" progId="Excel.Sheet.8">
                  <p:embed/>
                </p:oleObj>
              </mc:Choice>
              <mc:Fallback>
                <p:oleObj name="Worksheet" r:id="rId2" imgW="3852736" imgH="3182276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447800"/>
                        <a:ext cx="6248400" cy="516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5FFB1030-4016-4095-B9AE-9B81227BC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792163"/>
          </a:xfrm>
        </p:spPr>
        <p:txBody>
          <a:bodyPr/>
          <a:lstStyle/>
          <a:p>
            <a:r>
              <a:rPr lang="en-US" altLang="en-US"/>
              <a:t>Estimated Regression Coefficients</a:t>
            </a:r>
          </a:p>
        </p:txBody>
      </p:sp>
      <p:graphicFrame>
        <p:nvGraphicFramePr>
          <p:cNvPr id="7173" name="Object 5" descr="Regression coefficients, standard errors, t-tests, 95% Confidence Intervals">
            <a:extLst>
              <a:ext uri="{FF2B5EF4-FFF2-40B4-BE49-F238E27FC236}">
                <a16:creationId xmlns:a16="http://schemas.microsoft.com/office/drawing/2014/main" id="{2DD07F31-1FD8-4FD2-93F9-5B7DB210E77A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97201198"/>
              </p:ext>
            </p:extLst>
          </p:nvPr>
        </p:nvGraphicFramePr>
        <p:xfrm>
          <a:off x="228600" y="1295400"/>
          <a:ext cx="86106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547191" imgH="682818" progId="Excel.Sheet.8">
                  <p:embed/>
                </p:oleObj>
              </mc:Choice>
              <mc:Fallback>
                <p:oleObj name="Worksheet" r:id="rId2" imgW="5547191" imgH="682818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295400"/>
                        <a:ext cx="861060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 descr="Fitted equation">
            <a:extLst>
              <a:ext uri="{FF2B5EF4-FFF2-40B4-BE49-F238E27FC236}">
                <a16:creationId xmlns:a16="http://schemas.microsoft.com/office/drawing/2014/main" id="{45095B82-CE0E-4CB2-8E0F-054F9122B77A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34111913"/>
              </p:ext>
            </p:extLst>
          </p:nvPr>
        </p:nvGraphicFramePr>
        <p:xfrm>
          <a:off x="381000" y="2667000"/>
          <a:ext cx="845820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520" imgH="279360" progId="Equation.3">
                  <p:embed/>
                </p:oleObj>
              </mc:Choice>
              <mc:Fallback>
                <p:oleObj name="Equation" r:id="rId4" imgW="1955520" imgH="2793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667000"/>
                        <a:ext cx="8458200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Text Box 9">
            <a:extLst>
              <a:ext uri="{FF2B5EF4-FFF2-40B4-BE49-F238E27FC236}">
                <a16:creationId xmlns:a16="http://schemas.microsoft.com/office/drawing/2014/main" id="{E7F5FEBB-0464-4F6D-9B16-F602D96AC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267200"/>
            <a:ext cx="86868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rgbClr val="FFFFCC"/>
                </a:solidFill>
              </a:rPr>
              <a:t>Note that that we can conclude, controlling for the other factor: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sz="2000">
                <a:solidFill>
                  <a:srgbClr val="FFFFCC"/>
                </a:solidFill>
              </a:rPr>
              <a:t> Work Effort increase </a:t>
            </a:r>
            <a:r>
              <a:rPr lang="en-US" altLang="en-US" sz="2000">
                <a:solidFill>
                  <a:srgbClr val="FFFFCC"/>
                </a:solidFill>
                <a:sym typeface="Symbol" panose="05050102010706020507" pitchFamily="18" charset="2"/>
              </a:rPr>
              <a:t> </a:t>
            </a:r>
            <a:r>
              <a:rPr lang="en-US" altLang="en-US" sz="2000">
                <a:solidFill>
                  <a:srgbClr val="FFFFCC"/>
                </a:solidFill>
              </a:rPr>
              <a:t>Heat Production increases  (p = .0136)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sz="2000">
                <a:solidFill>
                  <a:srgbClr val="FFFFCC"/>
                </a:solidFill>
              </a:rPr>
              <a:t> Body Mass increase </a:t>
            </a:r>
            <a:r>
              <a:rPr lang="en-US" altLang="en-US" sz="2000" b="1">
                <a:solidFill>
                  <a:srgbClr val="FFFFCC"/>
                </a:solidFill>
              </a:rPr>
              <a:t>does not </a:t>
            </a:r>
            <a:r>
              <a:rPr lang="en-US" altLang="en-US" sz="2000" b="1">
                <a:solidFill>
                  <a:srgbClr val="FFFFCC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000">
                <a:solidFill>
                  <a:srgbClr val="FFFFCC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>
                <a:solidFill>
                  <a:srgbClr val="FFFFCC"/>
                </a:solidFill>
              </a:rPr>
              <a:t>Heat Production increases  (p = .1957)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C88B5F02-3E84-40F5-A9BA-4FFFF8DE1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15963"/>
          </a:xfrm>
        </p:spPr>
        <p:txBody>
          <a:bodyPr/>
          <a:lstStyle/>
          <a:p>
            <a:r>
              <a:rPr lang="en-US" altLang="en-US" dirty="0"/>
              <a:t>Plot of Residuals versus Fitted Values - I</a:t>
            </a:r>
          </a:p>
        </p:txBody>
      </p:sp>
      <p:sp>
        <p:nvSpPr>
          <p:cNvPr id="11271" name="Text Box 7">
            <a:extLst>
              <a:ext uri="{FF2B5EF4-FFF2-40B4-BE49-F238E27FC236}">
                <a16:creationId xmlns:a16="http://schemas.microsoft.com/office/drawing/2014/main" id="{93642534-6102-46FA-A2FE-803DA3A8E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905000"/>
            <a:ext cx="12954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CC"/>
                </a:solidFill>
              </a:rPr>
              <a:t>Huge, Positive, Residual</a:t>
            </a:r>
          </a:p>
        </p:txBody>
      </p:sp>
      <p:graphicFrame>
        <p:nvGraphicFramePr>
          <p:cNvPr id="11269" name="Object 5" descr="Plot of residuals versus fitted values (with large outlier)">
            <a:extLst>
              <a:ext uri="{FF2B5EF4-FFF2-40B4-BE49-F238E27FC236}">
                <a16:creationId xmlns:a16="http://schemas.microsoft.com/office/drawing/2014/main" id="{EDB97180-96FC-4D8D-B80A-E0773ADAEB78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9570348"/>
              </p:ext>
            </p:extLst>
          </p:nvPr>
        </p:nvGraphicFramePr>
        <p:xfrm>
          <a:off x="1752600" y="1143000"/>
          <a:ext cx="7086600" cy="544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11791950" imgH="9058275" progId="Excel.Chart.8">
                  <p:embed/>
                </p:oleObj>
              </mc:Choice>
              <mc:Fallback>
                <p:oleObj name="Chart" r:id="rId2" imgW="11791950" imgH="9058275" progId="Excel.Char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143000"/>
                        <a:ext cx="7086600" cy="544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272A997-9854-470A-91FE-75BB45042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44563"/>
          </a:xfrm>
        </p:spPr>
        <p:txBody>
          <a:bodyPr/>
          <a:lstStyle/>
          <a:p>
            <a:r>
              <a:rPr lang="en-US" altLang="en-US" sz="3200" dirty="0"/>
              <a:t>Influential Measures (I) </a:t>
            </a:r>
            <a:br>
              <a:rPr lang="en-US" altLang="en-US" sz="3200" dirty="0"/>
            </a:br>
            <a:r>
              <a:rPr lang="en-US" altLang="en-US" sz="3200" dirty="0"/>
              <a:t>Note: n = 37, p’ = 3 Parameters</a:t>
            </a:r>
          </a:p>
        </p:txBody>
      </p:sp>
      <p:graphicFrame>
        <p:nvGraphicFramePr>
          <p:cNvPr id="18436" name="Object 4" descr="Formulas for standardized and studentized residuals and influence measures: leverage, DFFITS, DFBETAS, Cook's D, Covariance ratio">
            <a:extLst>
              <a:ext uri="{FF2B5EF4-FFF2-40B4-BE49-F238E27FC236}">
                <a16:creationId xmlns:a16="http://schemas.microsoft.com/office/drawing/2014/main" id="{0350D462-A0E0-4B63-99E6-83926815FB3F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58095"/>
              </p:ext>
            </p:extLst>
          </p:nvPr>
        </p:nvGraphicFramePr>
        <p:xfrm>
          <a:off x="304800" y="1447800"/>
          <a:ext cx="7924800" cy="483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6840" imgH="4724280" progId="Equation.DSMT4">
                  <p:embed/>
                </p:oleObj>
              </mc:Choice>
              <mc:Fallback>
                <p:oleObj name="Equation" r:id="rId2" imgW="7746840" imgH="47242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447800"/>
                        <a:ext cx="7924800" cy="483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282D1DF-6D9B-4AB1-A472-91BA92AB89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Standardized / Studentized Residuals</a:t>
            </a:r>
          </a:p>
        </p:txBody>
      </p:sp>
      <p:graphicFrame>
        <p:nvGraphicFramePr>
          <p:cNvPr id="21508" name="Object 4" descr="Table of standardized and studentized residuals">
            <a:extLst>
              <a:ext uri="{FF2B5EF4-FFF2-40B4-BE49-F238E27FC236}">
                <a16:creationId xmlns:a16="http://schemas.microsoft.com/office/drawing/2014/main" id="{28104FE4-6A5C-493E-962F-E93759EDB7C4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4718147"/>
              </p:ext>
            </p:extLst>
          </p:nvPr>
        </p:nvGraphicFramePr>
        <p:xfrm>
          <a:off x="1025525" y="1600200"/>
          <a:ext cx="7321550" cy="486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886325" imgH="3248025" progId="Excel.Sheet.8">
                  <p:embed/>
                </p:oleObj>
              </mc:Choice>
              <mc:Fallback>
                <p:oleObj name="Worksheet" r:id="rId2" imgW="4886325" imgH="3248025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5" y="1600200"/>
                        <a:ext cx="7321550" cy="486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>
            <a:extLst>
              <a:ext uri="{FF2B5EF4-FFF2-40B4-BE49-F238E27FC236}">
                <a16:creationId xmlns:a16="http://schemas.microsoft.com/office/drawing/2014/main" id="{8A18CC05-6D83-4347-B4D6-8A46DC7866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altLang="en-US"/>
              <a:t>Influential Measures (II)</a:t>
            </a:r>
          </a:p>
        </p:txBody>
      </p:sp>
      <p:graphicFrame>
        <p:nvGraphicFramePr>
          <p:cNvPr id="14345" name="Object 9" descr="Table of influential measures (Cases 1-19)">
            <a:extLst>
              <a:ext uri="{FF2B5EF4-FFF2-40B4-BE49-F238E27FC236}">
                <a16:creationId xmlns:a16="http://schemas.microsoft.com/office/drawing/2014/main" id="{3B172B28-5E82-400C-9CB6-4A332347D44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8902966"/>
              </p:ext>
            </p:extLst>
          </p:nvPr>
        </p:nvGraphicFramePr>
        <p:xfrm>
          <a:off x="684213" y="1296988"/>
          <a:ext cx="7434262" cy="520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638626" imgH="3248100" progId="Excel.Sheet.8">
                  <p:embed/>
                </p:oleObj>
              </mc:Choice>
              <mc:Fallback>
                <p:oleObj name="Worksheet" r:id="rId2" imgW="4638626" imgH="3248100" progId="Excel.Shee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296988"/>
                        <a:ext cx="7434262" cy="5205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12F95F8-0084-4533-AB7A-F52B787DA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altLang="en-US"/>
              <a:t>Influential Measures (III)</a:t>
            </a:r>
          </a:p>
        </p:txBody>
      </p:sp>
      <p:graphicFrame>
        <p:nvGraphicFramePr>
          <p:cNvPr id="17413" name="Object 5" descr="Table of influential measures (Cases 20-37)">
            <a:extLst>
              <a:ext uri="{FF2B5EF4-FFF2-40B4-BE49-F238E27FC236}">
                <a16:creationId xmlns:a16="http://schemas.microsoft.com/office/drawing/2014/main" id="{78AA5FC3-0F73-4A07-8683-A53C043FD711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8720534"/>
              </p:ext>
            </p:extLst>
          </p:nvPr>
        </p:nvGraphicFramePr>
        <p:xfrm>
          <a:off x="457200" y="1219200"/>
          <a:ext cx="8034338" cy="459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400762" imgH="3085959" progId="Excel.Sheet.8">
                  <p:embed/>
                </p:oleObj>
              </mc:Choice>
              <mc:Fallback>
                <p:oleObj name="Worksheet" r:id="rId2" imgW="5400762" imgH="3085959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19200"/>
                        <a:ext cx="8034338" cy="459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88F8334-575E-4331-B37E-84EF9723BB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altLang="en-US"/>
              <a:t>Diagnosing Influential Observations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3D16DEB-F392-4C9D-BE8B-F9468527F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Clearly, Observation #19 exerts a huge influence (although it has a small hat or leverage value, so it must be near center of Mass/Work observations</a:t>
            </a:r>
          </a:p>
          <a:p>
            <a:pPr>
              <a:lnSpc>
                <a:spcPct val="90000"/>
              </a:lnSpc>
            </a:pPr>
            <a:r>
              <a:rPr lang="en-US" altLang="en-US"/>
              <a:t>Upon further review to author’s original calculations provided in paper, the mean and S.D. are much to high for H (but exactly the same for M and W).</a:t>
            </a:r>
          </a:p>
          <a:p>
            <a:pPr>
              <a:lnSpc>
                <a:spcPct val="90000"/>
              </a:lnSpc>
            </a:pPr>
            <a:r>
              <a:rPr lang="en-US" altLang="en-US"/>
              <a:t>Could observation been a “typo”? </a:t>
            </a:r>
          </a:p>
          <a:p>
            <a:pPr>
              <a:lnSpc>
                <a:spcPct val="90000"/>
              </a:lnSpc>
            </a:pPr>
            <a:r>
              <a:rPr lang="en-US" altLang="en-US"/>
              <a:t>Try replacing H</a:t>
            </a:r>
            <a:r>
              <a:rPr lang="en-US" altLang="en-US" baseline="-25000"/>
              <a:t>19</a:t>
            </a:r>
            <a:r>
              <a:rPr lang="en-US" altLang="en-US"/>
              <a:t>=3936 with H</a:t>
            </a:r>
            <a:r>
              <a:rPr lang="en-US" altLang="en-US" baseline="-25000"/>
              <a:t>19</a:t>
            </a:r>
            <a:r>
              <a:rPr lang="en-US" altLang="en-US"/>
              <a:t>=2936</a:t>
            </a:r>
          </a:p>
          <a:p>
            <a:pPr>
              <a:lnSpc>
                <a:spcPct val="90000"/>
              </a:lnSpc>
            </a:pPr>
            <a:r>
              <a:rPr lang="en-US" altLang="en-US"/>
              <a:t>Note: Do not do this arbitrarily, check your data sources in practice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5" name="Rectangle 189">
            <a:extLst>
              <a:ext uri="{FF2B5EF4-FFF2-40B4-BE49-F238E27FC236}">
                <a16:creationId xmlns:a16="http://schemas.microsoft.com/office/drawing/2014/main" id="{06A5123F-402D-44E2-96FC-34DF61ADAB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 with Corrected Data Point</a:t>
            </a:r>
          </a:p>
        </p:txBody>
      </p:sp>
      <p:graphicFrame>
        <p:nvGraphicFramePr>
          <p:cNvPr id="24764" name="Object 188" descr="Regression coefficients, standard errors, t-tests, 95% CI's for data with corrected observation 19">
            <a:extLst>
              <a:ext uri="{FF2B5EF4-FFF2-40B4-BE49-F238E27FC236}">
                <a16:creationId xmlns:a16="http://schemas.microsoft.com/office/drawing/2014/main" id="{7F5BA2BF-846E-489D-A549-FF2002DB94F4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23166383"/>
              </p:ext>
            </p:extLst>
          </p:nvPr>
        </p:nvGraphicFramePr>
        <p:xfrm>
          <a:off x="381000" y="1447800"/>
          <a:ext cx="86106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958840" imgH="682818" progId="Excel.Sheet.8">
                  <p:embed/>
                </p:oleObj>
              </mc:Choice>
              <mc:Fallback>
                <p:oleObj name="Worksheet" r:id="rId2" imgW="5958840" imgH="682818" progId="Excel.Sheet.8">
                  <p:embed/>
                  <p:pic>
                    <p:nvPicPr>
                      <p:cNvPr id="0" name="Object 1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447800"/>
                        <a:ext cx="861060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67" name="Object 191" descr="Fitted equation">
            <a:extLst>
              <a:ext uri="{FF2B5EF4-FFF2-40B4-BE49-F238E27FC236}">
                <a16:creationId xmlns:a16="http://schemas.microsoft.com/office/drawing/2014/main" id="{93E1D864-D8CD-4280-9CC2-D4C6070E556D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2286539"/>
              </p:ext>
            </p:extLst>
          </p:nvPr>
        </p:nvGraphicFramePr>
        <p:xfrm>
          <a:off x="609600" y="3048000"/>
          <a:ext cx="788035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760" imgH="279360" progId="Equation.3">
                  <p:embed/>
                </p:oleObj>
              </mc:Choice>
              <mc:Fallback>
                <p:oleObj name="Equation" r:id="rId4" imgW="1904760" imgH="279360" progId="Equation.3">
                  <p:embed/>
                  <p:pic>
                    <p:nvPicPr>
                      <p:cNvPr id="0" name="Object 1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048000"/>
                        <a:ext cx="788035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69" name="Text Box 193">
            <a:extLst>
              <a:ext uri="{FF2B5EF4-FFF2-40B4-BE49-F238E27FC236}">
                <a16:creationId xmlns:a16="http://schemas.microsoft.com/office/drawing/2014/main" id="{D21988A1-8643-41A2-9E08-0D48991B1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81600"/>
            <a:ext cx="815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FFCC"/>
                </a:solidFill>
              </a:rPr>
              <a:t>Note that both factors are significant, and that the intercept and body mass coefficients have changed drastically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4">
            <a:extLst>
              <a:ext uri="{FF2B5EF4-FFF2-40B4-BE49-F238E27FC236}">
                <a16:creationId xmlns:a16="http://schemas.microsoft.com/office/drawing/2014/main" id="{0EA8C267-C40F-4E99-BC4E-2B895B90B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10600" cy="715963"/>
          </a:xfrm>
        </p:spPr>
        <p:txBody>
          <a:bodyPr/>
          <a:lstStyle/>
          <a:p>
            <a:r>
              <a:rPr lang="en-US" altLang="en-US" dirty="0"/>
              <a:t>Plot of Residuals versus Predicted Values - II</a:t>
            </a:r>
          </a:p>
        </p:txBody>
      </p:sp>
      <p:graphicFrame>
        <p:nvGraphicFramePr>
          <p:cNvPr id="29701" name="Object 5" descr="Plot of residuals versus fitted values for model with corrected observation 19">
            <a:extLst>
              <a:ext uri="{FF2B5EF4-FFF2-40B4-BE49-F238E27FC236}">
                <a16:creationId xmlns:a16="http://schemas.microsoft.com/office/drawing/2014/main" id="{AB6E07DB-0A45-455B-9EC8-D8FDF67DB5C6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1624803"/>
              </p:ext>
            </p:extLst>
          </p:nvPr>
        </p:nvGraphicFramePr>
        <p:xfrm>
          <a:off x="609600" y="868363"/>
          <a:ext cx="7620000" cy="585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11791950" imgH="9058275" progId="Excel.Chart.8">
                  <p:embed/>
                </p:oleObj>
              </mc:Choice>
              <mc:Fallback>
                <p:oleObj name="Chart" r:id="rId2" imgW="11791950" imgH="9058275" progId="Excel.Char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868363"/>
                        <a:ext cx="7620000" cy="585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Footlight MT Ligh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338</Words>
  <Application>Microsoft Office PowerPoint</Application>
  <PresentationFormat>On-screen Show (4:3)</PresentationFormat>
  <Paragraphs>32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Footlight MT Light</vt:lpstr>
      <vt:lpstr>Symbol</vt:lpstr>
      <vt:lpstr>Wingdings</vt:lpstr>
      <vt:lpstr>Default Design</vt:lpstr>
      <vt:lpstr>Worksheet</vt:lpstr>
      <vt:lpstr>Equation</vt:lpstr>
      <vt:lpstr>Chart</vt:lpstr>
      <vt:lpstr>Influential Observations in Regression</vt:lpstr>
      <vt:lpstr>Data Description</vt:lpstr>
      <vt:lpstr>Raw Data (Table III, p.203)</vt:lpstr>
      <vt:lpstr>Estimated Regression Coefficients</vt:lpstr>
      <vt:lpstr>Plot of Residuals versus Fitted Values - I</vt:lpstr>
      <vt:lpstr>Influential Measures (I)  Note: n = 37, p’ = 3 Parameters</vt:lpstr>
      <vt:lpstr>Standardized / Studentized Residuals</vt:lpstr>
      <vt:lpstr>Influential Measures (II)</vt:lpstr>
      <vt:lpstr>Influential Measures (III)</vt:lpstr>
      <vt:lpstr>Diagnosing Influential Observations</vt:lpstr>
      <vt:lpstr>Analysis with Corrected Data Point</vt:lpstr>
      <vt:lpstr>Plot of Residuals versus Predicted Values - II</vt:lpstr>
    </vt:vector>
  </TitlesOfParts>
  <Company>University of Florida, Department of Statistics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Influential Observations in Regression</dc:title>
  <dc:creator>winner</dc:creator>
  <cp:lastModifiedBy>Winner,Lawrence Herman</cp:lastModifiedBy>
  <cp:revision>14</cp:revision>
  <dcterms:created xsi:type="dcterms:W3CDTF">2008-01-04T15:48:23Z</dcterms:created>
  <dcterms:modified xsi:type="dcterms:W3CDTF">2025-12-17T19:06:32Z</dcterms:modified>
</cp:coreProperties>
</file>