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7" d="100"/>
          <a:sy n="117" d="100"/>
        </p:scale>
        <p:origin x="62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B5E86-482B-428A-A504-ABDF8055A3A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6BA8B-CC70-481F-A5F1-5CB230606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>
            <a:lvl1pPr>
              <a:defRPr sz="36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 marL="742950" indent="-285750">
              <a:buFont typeface="Wingdings" pitchFamily="2" charset="2"/>
              <a:buChar char="§"/>
              <a:defRPr sz="2400" baseline="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B5E86-482B-428A-A504-ABDF8055A3A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6BA8B-CC70-481F-A5F1-5CB230606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74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B5E86-482B-428A-A504-ABDF8055A3A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6BA8B-CC70-481F-A5F1-5CB230606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171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B5E86-482B-428A-A504-ABDF8055A3A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6BA8B-CC70-481F-A5F1-5CB230606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720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B5E86-482B-428A-A504-ABDF8055A3A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6BA8B-CC70-481F-A5F1-5CB230606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546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>
            <a:lvl1pPr>
              <a:defRPr sz="36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B5E86-482B-428A-A504-ABDF8055A3A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6BA8B-CC70-481F-A5F1-5CB230606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84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B5E86-482B-428A-A504-ABDF8055A3A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6BA8B-CC70-481F-A5F1-5CB230606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461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B5E86-482B-428A-A504-ABDF8055A3A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6BA8B-CC70-481F-A5F1-5CB230606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159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B5E86-482B-428A-A504-ABDF8055A3A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6BA8B-CC70-481F-A5F1-5CB230606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263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B5E86-482B-428A-A504-ABDF8055A3A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6BA8B-CC70-481F-A5F1-5CB230606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179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B5E86-482B-428A-A504-ABDF8055A3A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6BA8B-CC70-481F-A5F1-5CB230606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65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8B5E86-482B-428A-A504-ABDF8055A3A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86BA8B-CC70-481F-A5F1-5CB230606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002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emf"/><Relationship Id="rId4" Type="http://schemas.openxmlformats.org/officeDocument/2006/relationships/package" Target="../embeddings/Microsoft_Excel_Worksheet2.xlsx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package" Target="../embeddings/Microsoft_Excel_Worksheet3.xlsx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emf"/><Relationship Id="rId4" Type="http://schemas.openxmlformats.org/officeDocument/2006/relationships/package" Target="../embeddings/Microsoft_Excel_Worksheet4.xls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package" Target="../embeddings/Microsoft_Excel_Worksheet5.xlsx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package" Target="../embeddings/Microsoft_Excel_Worksheet6.xlsx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Excel_Worksheet7.xlsx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Excel_Worksheet8.xlsx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package" Target="../embeddings/Microsoft_Excel_Worksheet9.xlsx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7" Type="http://schemas.openxmlformats.org/officeDocument/2006/relationships/image" Target="../media/image18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6.xml"/><Relationship Id="rId6" Type="http://schemas.openxmlformats.org/officeDocument/2006/relationships/package" Target="../embeddings/Microsoft_Excel_Worksheet10.xlsx"/><Relationship Id="rId5" Type="http://schemas.openxmlformats.org/officeDocument/2006/relationships/image" Target="../media/image17.emf"/><Relationship Id="rId4" Type="http://schemas.openxmlformats.org/officeDocument/2006/relationships/oleObject" Target="../embeddings/oleObject7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package" Target="../embeddings/Microsoft_Excel_Worksheet11.xlsx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Excel_Worksheet12.xls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emf"/><Relationship Id="rId4" Type="http://schemas.openxmlformats.org/officeDocument/2006/relationships/oleObject" Target="../embeddings/oleObject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Multicollinearity</a:t>
            </a:r>
            <a:r>
              <a:rPr lang="en-US" dirty="0"/>
              <a:t> in Regression </a:t>
            </a:r>
            <a:br>
              <a:rPr lang="en-US" dirty="0"/>
            </a:br>
            <a:r>
              <a:rPr lang="en-US" dirty="0"/>
              <a:t>Principal Components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3622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Standing Heights and Physical Stature Attributes Among Female Police Officer Applicants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S.Q. </a:t>
            </a:r>
            <a:r>
              <a:rPr lang="en-US" sz="1400" dirty="0" err="1">
                <a:solidFill>
                  <a:schemeClr val="tx1"/>
                </a:solidFill>
              </a:rPr>
              <a:t>Lafi</a:t>
            </a:r>
            <a:r>
              <a:rPr lang="en-US" sz="1400" dirty="0">
                <a:solidFill>
                  <a:schemeClr val="tx1"/>
                </a:solidFill>
              </a:rPr>
              <a:t> and J.B. </a:t>
            </a:r>
            <a:r>
              <a:rPr lang="en-US" sz="1400" dirty="0" err="1">
                <a:solidFill>
                  <a:schemeClr val="tx1"/>
                </a:solidFill>
              </a:rPr>
              <a:t>Kaneene</a:t>
            </a:r>
            <a:r>
              <a:rPr lang="en-US" sz="1400" dirty="0">
                <a:solidFill>
                  <a:schemeClr val="tx1"/>
                </a:solidFill>
              </a:rPr>
              <a:t> (1992). “An Explanation of the Use of Principal Components Analysis to Detect and Correct for </a:t>
            </a:r>
            <a:r>
              <a:rPr lang="en-US" sz="1400" dirty="0" err="1">
                <a:solidFill>
                  <a:schemeClr val="tx1"/>
                </a:solidFill>
              </a:rPr>
              <a:t>Multicollinearity</a:t>
            </a:r>
            <a:r>
              <a:rPr lang="en-US" sz="1400" dirty="0">
                <a:solidFill>
                  <a:schemeClr val="tx1"/>
                </a:solidFill>
              </a:rPr>
              <a:t>,” </a:t>
            </a:r>
            <a:r>
              <a:rPr lang="en-US" sz="1400" i="1" dirty="0">
                <a:solidFill>
                  <a:schemeClr val="tx1"/>
                </a:solidFill>
              </a:rPr>
              <a:t>Preventive Veterinary Medicine</a:t>
            </a:r>
            <a:r>
              <a:rPr lang="en-US" sz="1400" dirty="0">
                <a:solidFill>
                  <a:schemeClr val="tx1"/>
                </a:solidFill>
              </a:rPr>
              <a:t>, Vol. 13, pp. 261-275</a:t>
            </a:r>
          </a:p>
        </p:txBody>
      </p:sp>
    </p:spTree>
    <p:extLst>
      <p:ext uri="{BB962C8B-B14F-4D97-AF65-F5344CB8AC3E}">
        <p14:creationId xmlns:p14="http://schemas.microsoft.com/office/powerpoint/2010/main" val="3374003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Data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638800"/>
          </a:xfrm>
        </p:spPr>
        <p:txBody>
          <a:bodyPr/>
          <a:lstStyle/>
          <a:p>
            <a:r>
              <a:rPr lang="en-US" dirty="0"/>
              <a:t>Subjects: 33 Females applying for police officer positions</a:t>
            </a:r>
          </a:p>
          <a:p>
            <a:r>
              <a:rPr lang="en-US" dirty="0"/>
              <a:t>Dependent Variable: Y ≡ Standing Height (cm)</a:t>
            </a:r>
          </a:p>
          <a:p>
            <a:r>
              <a:rPr lang="en-US" dirty="0"/>
              <a:t>Independent Variables:</a:t>
            </a:r>
          </a:p>
          <a:p>
            <a:pPr lvl="1"/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 ≡ Sitting Height (cm)</a:t>
            </a:r>
          </a:p>
          <a:p>
            <a:pPr lvl="1"/>
            <a:r>
              <a:rPr lang="en-US" dirty="0"/>
              <a:t>X</a:t>
            </a:r>
            <a:r>
              <a:rPr lang="en-US" baseline="-25000" dirty="0"/>
              <a:t>2</a:t>
            </a:r>
            <a:r>
              <a:rPr lang="en-US" dirty="0"/>
              <a:t> ≡ Upper Arm Length (cm)</a:t>
            </a:r>
          </a:p>
          <a:p>
            <a:pPr lvl="1"/>
            <a:r>
              <a:rPr lang="en-US" dirty="0"/>
              <a:t>X</a:t>
            </a:r>
            <a:r>
              <a:rPr lang="en-US" baseline="-25000" dirty="0"/>
              <a:t>3</a:t>
            </a:r>
            <a:r>
              <a:rPr lang="en-US" dirty="0"/>
              <a:t> ≡ Forearm Length (cm)</a:t>
            </a:r>
          </a:p>
          <a:p>
            <a:pPr lvl="1"/>
            <a:r>
              <a:rPr lang="en-US" dirty="0"/>
              <a:t>X</a:t>
            </a:r>
            <a:r>
              <a:rPr lang="en-US" baseline="-25000" dirty="0"/>
              <a:t>4</a:t>
            </a:r>
            <a:r>
              <a:rPr lang="en-US" dirty="0"/>
              <a:t> ≡ Hand Length (cm)</a:t>
            </a:r>
          </a:p>
          <a:p>
            <a:pPr lvl="1"/>
            <a:r>
              <a:rPr lang="en-US" dirty="0"/>
              <a:t>X</a:t>
            </a:r>
            <a:r>
              <a:rPr lang="en-US" baseline="-25000" dirty="0"/>
              <a:t>5</a:t>
            </a:r>
            <a:r>
              <a:rPr lang="en-US" dirty="0"/>
              <a:t> ≡ Upper Leg Length (cm)</a:t>
            </a:r>
          </a:p>
          <a:p>
            <a:pPr lvl="1"/>
            <a:r>
              <a:rPr lang="en-US" dirty="0"/>
              <a:t>X</a:t>
            </a:r>
            <a:r>
              <a:rPr lang="en-US" baseline="-25000" dirty="0"/>
              <a:t>6</a:t>
            </a:r>
            <a:r>
              <a:rPr lang="en-US" dirty="0"/>
              <a:t> ≡ Lower Leg Length (cm)</a:t>
            </a:r>
          </a:p>
          <a:p>
            <a:pPr lvl="1"/>
            <a:r>
              <a:rPr lang="en-US" dirty="0"/>
              <a:t>X</a:t>
            </a:r>
            <a:r>
              <a:rPr lang="en-US" baseline="-25000" dirty="0"/>
              <a:t>7</a:t>
            </a:r>
            <a:r>
              <a:rPr lang="en-US" dirty="0"/>
              <a:t> ≡ Foot Length (inches)</a:t>
            </a:r>
          </a:p>
          <a:p>
            <a:pPr lvl="1"/>
            <a:r>
              <a:rPr lang="en-US" dirty="0"/>
              <a:t>X</a:t>
            </a:r>
            <a:r>
              <a:rPr lang="en-US" baseline="-25000" dirty="0"/>
              <a:t>8</a:t>
            </a:r>
            <a:r>
              <a:rPr lang="en-US" dirty="0"/>
              <a:t> ≡ BRACH (100X</a:t>
            </a:r>
            <a:r>
              <a:rPr lang="en-US" baseline="-25000" dirty="0"/>
              <a:t>3</a:t>
            </a:r>
            <a:r>
              <a:rPr lang="en-US" dirty="0"/>
              <a:t>/X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X</a:t>
            </a:r>
            <a:r>
              <a:rPr lang="en-US" baseline="-25000" dirty="0"/>
              <a:t>9</a:t>
            </a:r>
            <a:r>
              <a:rPr lang="en-US" dirty="0"/>
              <a:t> ≡ TIBIO (100X</a:t>
            </a:r>
            <a:r>
              <a:rPr lang="en-US" baseline="-25000" dirty="0"/>
              <a:t>6</a:t>
            </a:r>
            <a:r>
              <a:rPr lang="en-US" dirty="0"/>
              <a:t>/X</a:t>
            </a:r>
            <a:r>
              <a:rPr lang="en-US" baseline="-25000" dirty="0"/>
              <a:t>5</a:t>
            </a:r>
            <a:r>
              <a:rPr lang="en-US" dirty="0"/>
              <a:t>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062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/>
              <a:t>Data</a:t>
            </a:r>
          </a:p>
        </p:txBody>
      </p:sp>
      <p:graphicFrame>
        <p:nvGraphicFramePr>
          <p:cNvPr id="3" name="Object 2" descr="Table with the data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173573"/>
              </p:ext>
            </p:extLst>
          </p:nvPr>
        </p:nvGraphicFramePr>
        <p:xfrm>
          <a:off x="1752600" y="838200"/>
          <a:ext cx="5948363" cy="5745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715049" imgH="6486504" progId="Excel.Sheet.12">
                  <p:embed/>
                </p:oleObj>
              </mc:Choice>
              <mc:Fallback>
                <p:oleObj name="Worksheet" r:id="rId2" imgW="6715049" imgH="648650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52600" y="838200"/>
                        <a:ext cx="5948363" cy="57458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21452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Standardizing the Predictors</a:t>
            </a:r>
          </a:p>
        </p:txBody>
      </p:sp>
      <p:graphicFrame>
        <p:nvGraphicFramePr>
          <p:cNvPr id="3" name="Object 2" descr="Formula for correlation transformation of predictor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895539"/>
              </p:ext>
            </p:extLst>
          </p:nvPr>
        </p:nvGraphicFramePr>
        <p:xfrm>
          <a:off x="457200" y="1142999"/>
          <a:ext cx="8229600" cy="5108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52600" imgH="2577960" progId="Equation.DSMT4">
                  <p:embed/>
                </p:oleObj>
              </mc:Choice>
              <mc:Fallback>
                <p:oleObj name="Equation" r:id="rId2" imgW="4152600" imgH="257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7200" y="1142999"/>
                        <a:ext cx="8229600" cy="51088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959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Correlation Matrix of Predictors and Inverse</a:t>
            </a:r>
          </a:p>
        </p:txBody>
      </p:sp>
      <p:graphicFrame>
        <p:nvGraphicFramePr>
          <p:cNvPr id="3" name="Object 2" descr="Correlation matrix for predictor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8737002"/>
              </p:ext>
            </p:extLst>
          </p:nvPr>
        </p:nvGraphicFramePr>
        <p:xfrm>
          <a:off x="990600" y="914400"/>
          <a:ext cx="7341358" cy="255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495996" imgH="1914639" progId="Excel.Sheet.12">
                  <p:embed/>
                </p:oleObj>
              </mc:Choice>
              <mc:Fallback>
                <p:oleObj name="Worksheet" r:id="rId2" imgW="5495996" imgH="191463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90600" y="914400"/>
                        <a:ext cx="7341358" cy="2557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 descr="Inverse of correlation matrix for predictor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9824245"/>
              </p:ext>
            </p:extLst>
          </p:nvPr>
        </p:nvGraphicFramePr>
        <p:xfrm>
          <a:off x="990599" y="3657600"/>
          <a:ext cx="7437273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5495996" imgH="1914639" progId="Excel.Sheet.12">
                  <p:embed/>
                </p:oleObj>
              </mc:Choice>
              <mc:Fallback>
                <p:oleObj name="Worksheet" r:id="rId4" imgW="5495996" imgH="191463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90599" y="3657600"/>
                        <a:ext cx="7437273" cy="2590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76912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Variance Inflation Factors (VIFs)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3886200"/>
          </a:xfrm>
        </p:spPr>
        <p:txBody>
          <a:bodyPr/>
          <a:lstStyle/>
          <a:p>
            <a:r>
              <a:rPr lang="en-US" dirty="0"/>
              <a:t>VIF measures the extent that a regression coefficient’s variance is inflated due to correlations among the set of predictors</a:t>
            </a:r>
          </a:p>
          <a:p>
            <a:r>
              <a:rPr lang="en-US" dirty="0" err="1"/>
              <a:t>VIF</a:t>
            </a:r>
            <a:r>
              <a:rPr lang="en-US" baseline="-25000" dirty="0" err="1"/>
              <a:t>j</a:t>
            </a:r>
            <a:r>
              <a:rPr lang="en-US" dirty="0"/>
              <a:t> = 1/(1-R</a:t>
            </a:r>
            <a:r>
              <a:rPr lang="en-US" baseline="-25000" dirty="0"/>
              <a:t>j</a:t>
            </a:r>
            <a:r>
              <a:rPr lang="en-US" baseline="30000" dirty="0"/>
              <a:t>2</a:t>
            </a:r>
            <a:r>
              <a:rPr lang="en-US" dirty="0"/>
              <a:t>) where R</a:t>
            </a:r>
            <a:r>
              <a:rPr lang="en-US" baseline="-25000" dirty="0"/>
              <a:t>j</a:t>
            </a:r>
            <a:r>
              <a:rPr lang="en-US" baseline="30000" dirty="0"/>
              <a:t>2</a:t>
            </a:r>
            <a:r>
              <a:rPr lang="en-US" dirty="0"/>
              <a:t> is the coefficient of multiple determination when </a:t>
            </a:r>
            <a:r>
              <a:rPr lang="en-US" dirty="0" err="1"/>
              <a:t>X</a:t>
            </a:r>
            <a:r>
              <a:rPr lang="en-US" baseline="-25000" dirty="0" err="1"/>
              <a:t>j</a:t>
            </a:r>
            <a:r>
              <a:rPr lang="en-US" dirty="0"/>
              <a:t> is regressed on the remaining predictors.</a:t>
            </a:r>
          </a:p>
          <a:p>
            <a:r>
              <a:rPr lang="en-US" dirty="0"/>
              <a:t>Values &gt; 10 are often considered to be problematic</a:t>
            </a:r>
          </a:p>
          <a:p>
            <a:r>
              <a:rPr lang="en-US" dirty="0"/>
              <a:t>VIFs can be obtained as the diagonal elements of </a:t>
            </a:r>
            <a:r>
              <a:rPr lang="en-US" b="1" dirty="0"/>
              <a:t>R</a:t>
            </a:r>
            <a:r>
              <a:rPr lang="en-US" b="1" baseline="30000" dirty="0"/>
              <a:t>-1</a:t>
            </a:r>
            <a:endParaRPr lang="en-US" b="1" dirty="0"/>
          </a:p>
        </p:txBody>
      </p:sp>
      <p:graphicFrame>
        <p:nvGraphicFramePr>
          <p:cNvPr id="4" name="Object 3" descr="Variance Inflation Factors (VIF) for the predictor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276249"/>
              </p:ext>
            </p:extLst>
          </p:nvPr>
        </p:nvGraphicFramePr>
        <p:xfrm>
          <a:off x="533400" y="5029200"/>
          <a:ext cx="792854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495996" imgH="580897" progId="Excel.Sheet.12">
                  <p:embed/>
                </p:oleObj>
              </mc:Choice>
              <mc:Fallback>
                <p:oleObj name="Worksheet" r:id="rId2" imgW="5495996" imgH="58089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3400" y="5029200"/>
                        <a:ext cx="7928548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19800"/>
            <a:ext cx="800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surprisingly, X</a:t>
            </a:r>
            <a:r>
              <a:rPr lang="en-US" baseline="-25000" dirty="0"/>
              <a:t>2</a:t>
            </a:r>
            <a:r>
              <a:rPr lang="en-US" dirty="0"/>
              <a:t>, X</a:t>
            </a:r>
            <a:r>
              <a:rPr lang="en-US" baseline="-25000" dirty="0"/>
              <a:t>3</a:t>
            </a:r>
            <a:r>
              <a:rPr lang="en-US" dirty="0"/>
              <a:t>, X</a:t>
            </a:r>
            <a:r>
              <a:rPr lang="en-US" baseline="-25000" dirty="0"/>
              <a:t>5</a:t>
            </a:r>
            <a:r>
              <a:rPr lang="en-US" dirty="0"/>
              <a:t>, X</a:t>
            </a:r>
            <a:r>
              <a:rPr lang="en-US" baseline="-25000" dirty="0"/>
              <a:t>6</a:t>
            </a:r>
            <a:r>
              <a:rPr lang="en-US" dirty="0"/>
              <a:t>, X</a:t>
            </a:r>
            <a:r>
              <a:rPr lang="en-US" baseline="-25000" dirty="0"/>
              <a:t>8</a:t>
            </a:r>
            <a:r>
              <a:rPr lang="en-US" dirty="0"/>
              <a:t>, and X</a:t>
            </a:r>
            <a:r>
              <a:rPr lang="en-US" baseline="-25000" dirty="0"/>
              <a:t>9</a:t>
            </a:r>
            <a:r>
              <a:rPr lang="en-US" dirty="0"/>
              <a:t> are problems (see definitions of X</a:t>
            </a:r>
            <a:r>
              <a:rPr lang="en-US" baseline="-25000" dirty="0"/>
              <a:t>8</a:t>
            </a:r>
            <a:r>
              <a:rPr lang="en-US" dirty="0"/>
              <a:t> and X</a:t>
            </a:r>
            <a:r>
              <a:rPr lang="en-US" baseline="-25000" dirty="0"/>
              <a:t>9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88650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of Y on [1|X</a:t>
            </a:r>
            <a:r>
              <a:rPr lang="en-US" baseline="30000" dirty="0"/>
              <a:t>*</a:t>
            </a:r>
            <a:r>
              <a:rPr lang="en-US" dirty="0"/>
              <a:t>]</a:t>
            </a:r>
          </a:p>
        </p:txBody>
      </p:sp>
      <p:graphicFrame>
        <p:nvGraphicFramePr>
          <p:cNvPr id="3" name="Object 2" descr="Regression model for Y and correlation transformed predictor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773061"/>
              </p:ext>
            </p:extLst>
          </p:nvPr>
        </p:nvGraphicFramePr>
        <p:xfrm>
          <a:off x="762000" y="1143000"/>
          <a:ext cx="728091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66800" imgH="253800" progId="Equation.DSMT4">
                  <p:embed/>
                </p:oleObj>
              </mc:Choice>
              <mc:Fallback>
                <p:oleObj name="Equation" r:id="rId2" imgW="34668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2000" y="1143000"/>
                        <a:ext cx="728091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 descr="Regression output for Y and correlation transformed predictor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7734642"/>
              </p:ext>
            </p:extLst>
          </p:nvPr>
        </p:nvGraphicFramePr>
        <p:xfrm>
          <a:off x="533400" y="1981200"/>
          <a:ext cx="5410200" cy="460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695891" imgH="4600478" progId="Excel.Sheet.12">
                  <p:embed/>
                </p:oleObj>
              </mc:Choice>
              <mc:Fallback>
                <p:oleObj name="Worksheet" r:id="rId4" imgW="4695891" imgH="460047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3400" y="1981200"/>
                        <a:ext cx="5410200" cy="4600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2895600"/>
            <a:ext cx="236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 the surprising negative coefficients for X</a:t>
            </a:r>
            <a:r>
              <a:rPr lang="en-US" baseline="-25000" dirty="0"/>
              <a:t>3</a:t>
            </a:r>
            <a:r>
              <a:rPr lang="en-US" baseline="30000" dirty="0"/>
              <a:t>*</a:t>
            </a:r>
            <a:r>
              <a:rPr lang="en-US" dirty="0"/>
              <a:t>, X</a:t>
            </a:r>
            <a:r>
              <a:rPr lang="en-US" baseline="-25000" dirty="0"/>
              <a:t>5</a:t>
            </a:r>
            <a:r>
              <a:rPr lang="en-US" baseline="30000" dirty="0"/>
              <a:t>*</a:t>
            </a:r>
            <a:r>
              <a:rPr lang="en-US" dirty="0"/>
              <a:t>, and X</a:t>
            </a:r>
            <a:r>
              <a:rPr lang="en-US" baseline="-25000" dirty="0"/>
              <a:t>9</a:t>
            </a:r>
            <a:r>
              <a:rPr lang="en-US" baseline="30000" dirty="0"/>
              <a:t>*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042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Principal Components Analysis</a:t>
            </a:r>
          </a:p>
        </p:txBody>
      </p:sp>
      <p:graphicFrame>
        <p:nvGraphicFramePr>
          <p:cNvPr id="3" name="Object 2" descr="Formulas for Principal Component Analysis (PCA)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6596477"/>
              </p:ext>
            </p:extLst>
          </p:nvPr>
        </p:nvGraphicFramePr>
        <p:xfrm>
          <a:off x="114300" y="933450"/>
          <a:ext cx="8794750" cy="473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803560" imgH="3124080" progId="Equation.DSMT4">
                  <p:embed/>
                </p:oleObj>
              </mc:Choice>
              <mc:Fallback>
                <p:oleObj name="Equation" r:id="rId2" imgW="5803560" imgH="3124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4300" y="933450"/>
                        <a:ext cx="8794750" cy="4730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14745" y="5715000"/>
            <a:ext cx="845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While the columns of </a:t>
            </a:r>
            <a:r>
              <a:rPr lang="en-US" b="1" dirty="0"/>
              <a:t>X</a:t>
            </a:r>
            <a:r>
              <a:rPr lang="en-US" b="1" baseline="30000" dirty="0"/>
              <a:t>*</a:t>
            </a:r>
            <a:r>
              <a:rPr lang="en-US" dirty="0"/>
              <a:t> are highly correlated, the columns of </a:t>
            </a:r>
            <a:r>
              <a:rPr lang="en-US" b="1" dirty="0"/>
              <a:t>W</a:t>
            </a:r>
            <a:r>
              <a:rPr lang="en-US" dirty="0"/>
              <a:t> are uncorrelated </a:t>
            </a:r>
          </a:p>
          <a:p>
            <a:r>
              <a:rPr lang="en-US" dirty="0"/>
              <a:t>The </a:t>
            </a:r>
            <a:r>
              <a:rPr lang="en-US" dirty="0" err="1">
                <a:latin typeface="Symbol" pitchFamily="18" charset="2"/>
              </a:rPr>
              <a:t>l</a:t>
            </a:r>
            <a:r>
              <a:rPr lang="en-US" baseline="30000" dirty="0" err="1"/>
              <a:t>s</a:t>
            </a:r>
            <a:r>
              <a:rPr lang="en-US" dirty="0"/>
              <a:t> represent the variance corresponding to each principal component</a:t>
            </a:r>
          </a:p>
        </p:txBody>
      </p:sp>
    </p:spTree>
    <p:extLst>
      <p:ext uri="{BB962C8B-B14F-4D97-AF65-F5344CB8AC3E}">
        <p14:creationId xmlns:p14="http://schemas.microsoft.com/office/powerpoint/2010/main" val="2985849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Police Applicants Height Data - I</a:t>
            </a:r>
          </a:p>
        </p:txBody>
      </p:sp>
      <p:graphicFrame>
        <p:nvGraphicFramePr>
          <p:cNvPr id="4" name="Object 3" descr="Matrices of eigenvectors and eigenvalues for PCA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3214407"/>
              </p:ext>
            </p:extLst>
          </p:nvPr>
        </p:nvGraphicFramePr>
        <p:xfrm>
          <a:off x="685800" y="1143000"/>
          <a:ext cx="7315200" cy="5337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495996" imgH="4010133" progId="Excel.Sheet.12">
                  <p:embed/>
                </p:oleObj>
              </mc:Choice>
              <mc:Fallback>
                <p:oleObj name="Worksheet" r:id="rId2" imgW="5495996" imgH="401013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5800" y="1143000"/>
                        <a:ext cx="7315200" cy="53374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6028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Police Applicants Height Data - II</a:t>
            </a:r>
          </a:p>
        </p:txBody>
      </p:sp>
      <p:graphicFrame>
        <p:nvGraphicFramePr>
          <p:cNvPr id="3" name="Object 2" descr="Re-production of correlation matrix from eigenvectors and eigenvalue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1915180"/>
              </p:ext>
            </p:extLst>
          </p:nvPr>
        </p:nvGraphicFramePr>
        <p:xfrm>
          <a:off x="762000" y="1066800"/>
          <a:ext cx="7467600" cy="5448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495996" imgH="4010133" progId="Excel.Sheet.12">
                  <p:embed/>
                </p:oleObj>
              </mc:Choice>
              <mc:Fallback>
                <p:oleObj name="Worksheet" r:id="rId2" imgW="5495996" imgH="401013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2000" y="1066800"/>
                        <a:ext cx="7467600" cy="54486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3646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/>
              <a:t>Regression of Y on [1|W]</a:t>
            </a:r>
          </a:p>
        </p:txBody>
      </p:sp>
      <p:graphicFrame>
        <p:nvGraphicFramePr>
          <p:cNvPr id="6" name="Object 5" descr="Regression model of Y on constructed uncorrelated linear functions of correlation transformed predictor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1346824"/>
              </p:ext>
            </p:extLst>
          </p:nvPr>
        </p:nvGraphicFramePr>
        <p:xfrm>
          <a:off x="2286000" y="838200"/>
          <a:ext cx="2971800" cy="667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30040" imgH="253800" progId="Equation.DSMT4">
                  <p:embed/>
                </p:oleObj>
              </mc:Choice>
              <mc:Fallback>
                <p:oleObj name="Equation" r:id="rId2" imgW="11300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86000" y="838200"/>
                        <a:ext cx="2971800" cy="6678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 descr="Regression output of Y on constructed uncorrelated linear functions of correlation transformed predictor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9143528"/>
              </p:ext>
            </p:extLst>
          </p:nvPr>
        </p:nvGraphicFramePr>
        <p:xfrm>
          <a:off x="914400" y="1620982"/>
          <a:ext cx="5715000" cy="5032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514761" imgH="4600478" progId="Excel.Sheet.12">
                  <p:embed/>
                </p:oleObj>
              </mc:Choice>
              <mc:Fallback>
                <p:oleObj name="Worksheet" r:id="rId4" imgW="4514761" imgH="460047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1620982"/>
                        <a:ext cx="5715000" cy="50326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781800" y="1600200"/>
            <a:ext cx="2057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 that W8 and W9 have very small eigenvalues and very small </a:t>
            </a:r>
          </a:p>
          <a:p>
            <a:r>
              <a:rPr lang="en-US" dirty="0"/>
              <a:t>t-statistics</a:t>
            </a:r>
          </a:p>
          <a:p>
            <a:r>
              <a:rPr lang="en-US" dirty="0"/>
              <a:t>Condition indices are 63.5 and 85.2,</a:t>
            </a:r>
          </a:p>
          <a:p>
            <a:r>
              <a:rPr lang="en-US" dirty="0"/>
              <a:t>Both well above 30</a:t>
            </a:r>
          </a:p>
        </p:txBody>
      </p:sp>
    </p:spTree>
    <p:extLst>
      <p:ext uri="{BB962C8B-B14F-4D97-AF65-F5344CB8AC3E}">
        <p14:creationId xmlns:p14="http://schemas.microsoft.com/office/powerpoint/2010/main" val="3649644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/>
              <a:t>Reduced Model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85378"/>
            <a:ext cx="8229600" cy="3200400"/>
          </a:xfrm>
        </p:spPr>
        <p:txBody>
          <a:bodyPr/>
          <a:lstStyle/>
          <a:p>
            <a:r>
              <a:rPr lang="en-US" dirty="0"/>
              <a:t>Removing last 2 principal components due to small, insignificant t-statistics and high condition indices</a:t>
            </a:r>
          </a:p>
          <a:p>
            <a:r>
              <a:rPr lang="en-US" dirty="0"/>
              <a:t>Let </a:t>
            </a:r>
            <a:r>
              <a:rPr lang="en-US" b="1" dirty="0"/>
              <a:t>V</a:t>
            </a:r>
            <a:r>
              <a:rPr lang="en-US" b="1" baseline="-25000" dirty="0"/>
              <a:t>(g)</a:t>
            </a:r>
            <a:r>
              <a:rPr lang="en-US" dirty="0"/>
              <a:t> be the </a:t>
            </a:r>
            <a:r>
              <a:rPr lang="en-US" dirty="0" err="1"/>
              <a:t>p×g</a:t>
            </a:r>
            <a:r>
              <a:rPr lang="en-US" dirty="0"/>
              <a:t> matrix of the eigenvectors for the g retained principal components (p=9, g=7)</a:t>
            </a:r>
          </a:p>
          <a:p>
            <a:r>
              <a:rPr lang="en-US" dirty="0"/>
              <a:t>Let </a:t>
            </a:r>
            <a:r>
              <a:rPr lang="en-US" b="1" dirty="0"/>
              <a:t>W</a:t>
            </a:r>
            <a:r>
              <a:rPr lang="en-US" b="1" baseline="-25000" dirty="0"/>
              <a:t>(g)</a:t>
            </a:r>
            <a:r>
              <a:rPr lang="en-US" b="1" dirty="0"/>
              <a:t> = X</a:t>
            </a:r>
            <a:r>
              <a:rPr lang="en-US" b="1" baseline="30000" dirty="0"/>
              <a:t>*</a:t>
            </a:r>
            <a:r>
              <a:rPr lang="en-US" b="1" dirty="0"/>
              <a:t>V</a:t>
            </a:r>
            <a:r>
              <a:rPr lang="en-US" b="1" baseline="-25000" dirty="0"/>
              <a:t>(g) </a:t>
            </a:r>
          </a:p>
          <a:p>
            <a:r>
              <a:rPr lang="en-US" dirty="0"/>
              <a:t>Then regress </a:t>
            </a:r>
            <a:r>
              <a:rPr lang="en-US" b="1" dirty="0"/>
              <a:t>Y</a:t>
            </a:r>
            <a:r>
              <a:rPr lang="en-US" dirty="0"/>
              <a:t> on </a:t>
            </a:r>
            <a:r>
              <a:rPr lang="en-US" b="1" dirty="0"/>
              <a:t>[1|W</a:t>
            </a:r>
            <a:r>
              <a:rPr lang="en-US" b="1" baseline="-25000" dirty="0"/>
              <a:t>(g)</a:t>
            </a:r>
            <a:r>
              <a:rPr lang="en-US" b="1" dirty="0"/>
              <a:t>]</a:t>
            </a:r>
            <a:r>
              <a:rPr lang="en-US" b="1" baseline="30000" dirty="0"/>
              <a:t> </a:t>
            </a:r>
            <a:r>
              <a:rPr lang="en-US" b="1" dirty="0"/>
              <a:t> </a:t>
            </a:r>
            <a:r>
              <a:rPr lang="en-US" dirty="0"/>
              <a:t>to obtain </a:t>
            </a:r>
          </a:p>
        </p:txBody>
      </p:sp>
      <p:graphicFrame>
        <p:nvGraphicFramePr>
          <p:cNvPr id="5" name="Object 4" descr="Symbol for a regression vector from a reduced principal components regression model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8334485"/>
              </p:ext>
            </p:extLst>
          </p:nvPr>
        </p:nvGraphicFramePr>
        <p:xfrm>
          <a:off x="6457950" y="3200400"/>
          <a:ext cx="334949" cy="580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0440" imgH="330120" progId="Equation.DSMT4">
                  <p:embed/>
                </p:oleObj>
              </mc:Choice>
              <mc:Fallback>
                <p:oleObj name="Equation" r:id="rId2" imgW="19044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457950" y="3200400"/>
                        <a:ext cx="334949" cy="5805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 descr="Variance-Covariance matrix for the regression coefficient vector for the reduced principal components regression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9027306"/>
              </p:ext>
            </p:extLst>
          </p:nvPr>
        </p:nvGraphicFramePr>
        <p:xfrm>
          <a:off x="1066800" y="4267200"/>
          <a:ext cx="5410200" cy="242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276673" imgH="1914639" progId="Excel.Sheet.12">
                  <p:embed/>
                </p:oleObj>
              </mc:Choice>
              <mc:Fallback>
                <p:oleObj name="Worksheet" r:id="rId4" imgW="4276673" imgH="191463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66800" y="4267200"/>
                        <a:ext cx="5410200" cy="2421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3732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Reduced Regression Fit</a:t>
            </a:r>
          </a:p>
        </p:txBody>
      </p:sp>
      <p:graphicFrame>
        <p:nvGraphicFramePr>
          <p:cNvPr id="3" name="Object 2" descr="Regression output for the reduced principal components regression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347642"/>
              </p:ext>
            </p:extLst>
          </p:nvPr>
        </p:nvGraphicFramePr>
        <p:xfrm>
          <a:off x="990600" y="990600"/>
          <a:ext cx="6781800" cy="5215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705339" imgH="4600478" progId="Excel.Sheet.12">
                  <p:embed/>
                </p:oleObj>
              </mc:Choice>
              <mc:Fallback>
                <p:oleObj name="Worksheet" r:id="rId2" imgW="4705339" imgH="460047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90600" y="990600"/>
                        <a:ext cx="6781800" cy="52152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2959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rmAutofit fontScale="90000"/>
          </a:bodyPr>
          <a:lstStyle/>
          <a:p>
            <a:r>
              <a:rPr lang="en-US" dirty="0"/>
              <a:t>Transforming Back to Transformed X-scale</a:t>
            </a:r>
          </a:p>
        </p:txBody>
      </p:sp>
      <p:graphicFrame>
        <p:nvGraphicFramePr>
          <p:cNvPr id="3" name="Object 2" descr="Back-Transforming to correlation transformed X scale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2174367"/>
              </p:ext>
            </p:extLst>
          </p:nvPr>
        </p:nvGraphicFramePr>
        <p:xfrm>
          <a:off x="752475" y="685800"/>
          <a:ext cx="7639050" cy="1380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36960" imgH="711000" progId="Equation.DSMT4">
                  <p:embed/>
                </p:oleObj>
              </mc:Choice>
              <mc:Fallback>
                <p:oleObj name="Equation" r:id="rId2" imgW="393696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52475" y="685800"/>
                        <a:ext cx="7639050" cy="1380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 descr="Residual variance, principal comonents coefficients and correlation transformed X coefficients and standard error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0823877"/>
              </p:ext>
            </p:extLst>
          </p:nvPr>
        </p:nvGraphicFramePr>
        <p:xfrm>
          <a:off x="304800" y="2208506"/>
          <a:ext cx="4572000" cy="2809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076576" imgH="2505060" progId="Excel.Sheet.12">
                  <p:embed/>
                </p:oleObj>
              </mc:Choice>
              <mc:Fallback>
                <p:oleObj name="Worksheet" r:id="rId4" imgW="4076576" imgH="250506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4800" y="2208506"/>
                        <a:ext cx="4572000" cy="2809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descr="Variance-covariance matrix for back-transformed regtession coefficient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7544158"/>
              </p:ext>
            </p:extLst>
          </p:nvPr>
        </p:nvGraphicFramePr>
        <p:xfrm>
          <a:off x="4375842" y="5029200"/>
          <a:ext cx="4625283" cy="161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5495996" imgH="1924087" progId="Excel.Sheet.12">
                  <p:embed/>
                </p:oleObj>
              </mc:Choice>
              <mc:Fallback>
                <p:oleObj name="Worksheet" r:id="rId6" imgW="5495996" imgH="192408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375842" y="5029200"/>
                        <a:ext cx="4625283" cy="1619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1191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Coefficients and 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556266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Principal Components</a:t>
            </a:r>
          </a:p>
        </p:txBody>
      </p:sp>
      <p:graphicFrame>
        <p:nvGraphicFramePr>
          <p:cNvPr id="3" name="Object 2" descr="Original model regression coefficient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2583118"/>
              </p:ext>
            </p:extLst>
          </p:nvPr>
        </p:nvGraphicFramePr>
        <p:xfrm>
          <a:off x="381000" y="2209800"/>
          <a:ext cx="2835275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247900" imgH="2114685" progId="Excel.Sheet.12">
                  <p:embed/>
                </p:oleObj>
              </mc:Choice>
              <mc:Fallback>
                <p:oleObj name="Worksheet" r:id="rId2" imgW="2247900" imgH="211468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1000" y="2209800"/>
                        <a:ext cx="2835275" cy="266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 descr="Back transformed principal components regression coefficient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191018"/>
              </p:ext>
            </p:extLst>
          </p:nvPr>
        </p:nvGraphicFramePr>
        <p:xfrm>
          <a:off x="4648200" y="2286000"/>
          <a:ext cx="2667000" cy="2529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2028757" imgH="1924185" progId="Excel.Sheet.12">
                  <p:embed/>
                </p:oleObj>
              </mc:Choice>
              <mc:Fallback>
                <p:oleObj name="Worksheet" r:id="rId4" imgW="2028757" imgH="192418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48200" y="2286000"/>
                        <a:ext cx="2667000" cy="25292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76153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dirty="0"/>
              <a:t>Predicted Values</a:t>
            </a:r>
          </a:p>
        </p:txBody>
      </p:sp>
      <p:graphicFrame>
        <p:nvGraphicFramePr>
          <p:cNvPr id="3" name="Object 2" descr="Formulas for obtaining predicted values for indivifdual case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9284271"/>
              </p:ext>
            </p:extLst>
          </p:nvPr>
        </p:nvGraphicFramePr>
        <p:xfrm>
          <a:off x="608772" y="1371600"/>
          <a:ext cx="7926456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524200" imgH="583920" progId="Equation.DSMT4">
                  <p:embed/>
                </p:oleObj>
              </mc:Choice>
              <mc:Fallback>
                <p:oleObj name="Equation" r:id="rId2" imgW="5524200" imgH="583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8772" y="1371600"/>
                        <a:ext cx="7926456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 descr="Table of actual and predicted heights for the 33 officer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3334570"/>
              </p:ext>
            </p:extLst>
          </p:nvPr>
        </p:nvGraphicFramePr>
        <p:xfrm>
          <a:off x="549526" y="2590800"/>
          <a:ext cx="7844806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5495855" imgH="2295540" progId="Excel.Sheet.12">
                  <p:embed/>
                </p:oleObj>
              </mc:Choice>
              <mc:Fallback>
                <p:oleObj name="Worksheet" r:id="rId4" imgW="5495855" imgH="229554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9526" y="2590800"/>
                        <a:ext cx="7844806" cy="327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48346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440</Words>
  <Application>Microsoft Office PowerPoint</Application>
  <PresentationFormat>On-screen Show (4:3)</PresentationFormat>
  <Paragraphs>48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Symbol</vt:lpstr>
      <vt:lpstr>Wingdings</vt:lpstr>
      <vt:lpstr>Office Theme</vt:lpstr>
      <vt:lpstr>Worksheet</vt:lpstr>
      <vt:lpstr>Equation</vt:lpstr>
      <vt:lpstr>Multicollinearity in Regression  Principal Components Analysis</vt:lpstr>
      <vt:lpstr>Data Description</vt:lpstr>
      <vt:lpstr>Data</vt:lpstr>
      <vt:lpstr>Standardizing the Predictors</vt:lpstr>
      <vt:lpstr>Correlation Matrix of Predictors and Inverse</vt:lpstr>
      <vt:lpstr>Variance Inflation Factors (VIFs)</vt:lpstr>
      <vt:lpstr>Regression of Y on [1|X*]</vt:lpstr>
      <vt:lpstr>Principal Components Analysis</vt:lpstr>
      <vt:lpstr>Police Applicants Height Data - I</vt:lpstr>
      <vt:lpstr>Police Applicants Height Data - II</vt:lpstr>
      <vt:lpstr>Regression of Y on [1|W]</vt:lpstr>
      <vt:lpstr>Reduced Model </vt:lpstr>
      <vt:lpstr>Reduced Regression Fit</vt:lpstr>
      <vt:lpstr>Transforming Back to Transformed X-scale</vt:lpstr>
      <vt:lpstr>Comparison of Coefficients and SEs</vt:lpstr>
      <vt:lpstr>Predicted Values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Multicollinearity in Regression  Principal Components Analysis</dc:title>
  <dc:creator>Larry</dc:creator>
  <cp:lastModifiedBy>Winner,Lawrence Herman</cp:lastModifiedBy>
  <cp:revision>31</cp:revision>
  <dcterms:created xsi:type="dcterms:W3CDTF">2013-09-05T15:59:47Z</dcterms:created>
  <dcterms:modified xsi:type="dcterms:W3CDTF">2025-12-17T19:47:49Z</dcterms:modified>
</cp:coreProperties>
</file>