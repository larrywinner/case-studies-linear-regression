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7" d="100"/>
          <a:sy n="117" d="100"/>
        </p:scale>
        <p:origin x="624"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ad.ufl.edu\clas\home\stat\public_html\data\profit_ad.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ln(e^2) versus ln(SIZ)</a:t>
            </a:r>
          </a:p>
        </c:rich>
      </c:tx>
      <c:overlay val="0"/>
    </c:title>
    <c:autoTitleDeleted val="0"/>
    <c:plotArea>
      <c:layout/>
      <c:scatterChart>
        <c:scatterStyle val="lineMarker"/>
        <c:varyColors val="0"/>
        <c:ser>
          <c:idx val="0"/>
          <c:order val="0"/>
          <c:tx>
            <c:strRef>
              <c:f>Sheet2!$AD$1</c:f>
              <c:strCache>
                <c:ptCount val="1"/>
                <c:pt idx="0">
                  <c:v>ln(e^2)</c:v>
                </c:pt>
              </c:strCache>
            </c:strRef>
          </c:tx>
          <c:spPr>
            <a:ln w="28575">
              <a:noFill/>
            </a:ln>
          </c:spPr>
          <c:marker>
            <c:spPr>
              <a:solidFill>
                <a:srgbClr val="FFFF00"/>
              </a:solidFill>
            </c:spPr>
          </c:marker>
          <c:trendline>
            <c:spPr>
              <a:ln w="34925">
                <a:solidFill>
                  <a:srgbClr val="FA3912"/>
                </a:solidFill>
              </a:ln>
            </c:spPr>
            <c:trendlineType val="linear"/>
            <c:dispRSqr val="0"/>
            <c:dispEq val="0"/>
          </c:trendline>
          <c:xVal>
            <c:numRef>
              <c:f>Sheet2!$AC$2:$AC$58</c:f>
              <c:numCache>
                <c:formatCode>General</c:formatCode>
                <c:ptCount val="57"/>
                <c:pt idx="0">
                  <c:v>3.6109179126442243</c:v>
                </c:pt>
                <c:pt idx="1">
                  <c:v>4.3567088266895917</c:v>
                </c:pt>
                <c:pt idx="2">
                  <c:v>5.5947113796018391</c:v>
                </c:pt>
                <c:pt idx="3">
                  <c:v>5.9026333334013659</c:v>
                </c:pt>
                <c:pt idx="4">
                  <c:v>6.3767269478986268</c:v>
                </c:pt>
                <c:pt idx="5">
                  <c:v>5.4116460518550396</c:v>
                </c:pt>
                <c:pt idx="6">
                  <c:v>6.1841488909374833</c:v>
                </c:pt>
                <c:pt idx="7">
                  <c:v>3.3672958299864741</c:v>
                </c:pt>
                <c:pt idx="8">
                  <c:v>5.6347896031692493</c:v>
                </c:pt>
                <c:pt idx="9">
                  <c:v>6.7117403950561796</c:v>
                </c:pt>
                <c:pt idx="10">
                  <c:v>5.6347896031692493</c:v>
                </c:pt>
                <c:pt idx="11">
                  <c:v>4.8040210447332568</c:v>
                </c:pt>
                <c:pt idx="12">
                  <c:v>6.0112671744041615</c:v>
                </c:pt>
                <c:pt idx="13">
                  <c:v>3.6888794541139363</c:v>
                </c:pt>
                <c:pt idx="14">
                  <c:v>4.2484952420493594</c:v>
                </c:pt>
                <c:pt idx="15">
                  <c:v>4.4188406077965983</c:v>
                </c:pt>
                <c:pt idx="16">
                  <c:v>4.5747109785033828</c:v>
                </c:pt>
                <c:pt idx="17">
                  <c:v>5.8493247799468593</c:v>
                </c:pt>
                <c:pt idx="18">
                  <c:v>6.8178305714541496</c:v>
                </c:pt>
                <c:pt idx="19">
                  <c:v>4.6728288344619058</c:v>
                </c:pt>
                <c:pt idx="20">
                  <c:v>4.6443908991413725</c:v>
                </c:pt>
                <c:pt idx="21">
                  <c:v>2.7080502011022101</c:v>
                </c:pt>
                <c:pt idx="22">
                  <c:v>3.3672958299864741</c:v>
                </c:pt>
                <c:pt idx="23">
                  <c:v>4.499809670330265</c:v>
                </c:pt>
                <c:pt idx="24">
                  <c:v>4.4773368144782069</c:v>
                </c:pt>
                <c:pt idx="25">
                  <c:v>4.0604430105464191</c:v>
                </c:pt>
                <c:pt idx="26">
                  <c:v>5.1239639794032588</c:v>
                </c:pt>
                <c:pt idx="27">
                  <c:v>4.2046926193909657</c:v>
                </c:pt>
                <c:pt idx="28">
                  <c:v>5.4161004022044201</c:v>
                </c:pt>
                <c:pt idx="29">
                  <c:v>6.7684932116486296</c:v>
                </c:pt>
                <c:pt idx="30">
                  <c:v>5.3706380281276624</c:v>
                </c:pt>
                <c:pt idx="31">
                  <c:v>4.5643481914678361</c:v>
                </c:pt>
                <c:pt idx="32">
                  <c:v>5.934894195619588</c:v>
                </c:pt>
                <c:pt idx="33">
                  <c:v>5.0304379213924353</c:v>
                </c:pt>
                <c:pt idx="34">
                  <c:v>5.4116460518550396</c:v>
                </c:pt>
                <c:pt idx="35">
                  <c:v>3.2188758248682006</c:v>
                </c:pt>
                <c:pt idx="36">
                  <c:v>6.2952660014396464</c:v>
                </c:pt>
                <c:pt idx="37">
                  <c:v>7.2291138777933019</c:v>
                </c:pt>
                <c:pt idx="38">
                  <c:v>5.4638318050256105</c:v>
                </c:pt>
                <c:pt idx="39">
                  <c:v>3.784189633918261</c:v>
                </c:pt>
                <c:pt idx="40">
                  <c:v>5.1929568508902104</c:v>
                </c:pt>
                <c:pt idx="41">
                  <c:v>3.1354942159291497</c:v>
                </c:pt>
                <c:pt idx="42">
                  <c:v>3.2958368660043291</c:v>
                </c:pt>
                <c:pt idx="43">
                  <c:v>3.0910424533583161</c:v>
                </c:pt>
                <c:pt idx="44">
                  <c:v>5.3518581334760666</c:v>
                </c:pt>
                <c:pt idx="45">
                  <c:v>4.1271343850450917</c:v>
                </c:pt>
                <c:pt idx="46">
                  <c:v>5.8998973535824915</c:v>
                </c:pt>
                <c:pt idx="47">
                  <c:v>4.8751973232011512</c:v>
                </c:pt>
                <c:pt idx="48">
                  <c:v>6.523562306149512</c:v>
                </c:pt>
                <c:pt idx="49">
                  <c:v>2.9957322735539909</c:v>
                </c:pt>
                <c:pt idx="50">
                  <c:v>3.1780538303479458</c:v>
                </c:pt>
                <c:pt idx="51">
                  <c:v>3.8918202981106265</c:v>
                </c:pt>
                <c:pt idx="52">
                  <c:v>4.3694478524670215</c:v>
                </c:pt>
                <c:pt idx="53">
                  <c:v>4.7004803657924166</c:v>
                </c:pt>
                <c:pt idx="54">
                  <c:v>6.926577033222725</c:v>
                </c:pt>
                <c:pt idx="55">
                  <c:v>6.0822189103764464</c:v>
                </c:pt>
                <c:pt idx="56">
                  <c:v>7.035268599281097</c:v>
                </c:pt>
              </c:numCache>
            </c:numRef>
          </c:xVal>
          <c:yVal>
            <c:numRef>
              <c:f>Sheet2!$AD$2:$AD$58</c:f>
              <c:numCache>
                <c:formatCode>General</c:formatCode>
                <c:ptCount val="57"/>
                <c:pt idx="0">
                  <c:v>-6.4108717592053424</c:v>
                </c:pt>
                <c:pt idx="1">
                  <c:v>-12.303015897521092</c:v>
                </c:pt>
                <c:pt idx="2">
                  <c:v>-6.6419954052550718</c:v>
                </c:pt>
                <c:pt idx="3">
                  <c:v>-11.031630264599634</c:v>
                </c:pt>
                <c:pt idx="4">
                  <c:v>-8.9873505784178533</c:v>
                </c:pt>
                <c:pt idx="5">
                  <c:v>-3.3145270845436161</c:v>
                </c:pt>
                <c:pt idx="6">
                  <c:v>-15.38407580162702</c:v>
                </c:pt>
                <c:pt idx="7">
                  <c:v>-6.3371801443722484</c:v>
                </c:pt>
                <c:pt idx="8">
                  <c:v>-5.8764042655795814</c:v>
                </c:pt>
                <c:pt idx="9">
                  <c:v>-9.8440268181630888</c:v>
                </c:pt>
                <c:pt idx="10">
                  <c:v>-4.9392036034827544</c:v>
                </c:pt>
                <c:pt idx="11">
                  <c:v>-8.7800361027242939</c:v>
                </c:pt>
                <c:pt idx="12">
                  <c:v>-8.2623410350644093</c:v>
                </c:pt>
                <c:pt idx="13">
                  <c:v>-5.112237219208982</c:v>
                </c:pt>
                <c:pt idx="14">
                  <c:v>-4.9097492024293929</c:v>
                </c:pt>
                <c:pt idx="15">
                  <c:v>-8.320446912394539</c:v>
                </c:pt>
                <c:pt idx="16">
                  <c:v>-6.4585550106650809</c:v>
                </c:pt>
                <c:pt idx="17">
                  <c:v>-6.5463814913916591</c:v>
                </c:pt>
                <c:pt idx="18">
                  <c:v>-7.9864642312870426</c:v>
                </c:pt>
                <c:pt idx="19">
                  <c:v>-5.6362255033491753</c:v>
                </c:pt>
                <c:pt idx="20">
                  <c:v>-9.2831815516357121</c:v>
                </c:pt>
                <c:pt idx="21">
                  <c:v>-7.2357903214789863</c:v>
                </c:pt>
                <c:pt idx="22">
                  <c:v>-3.3814504267082759</c:v>
                </c:pt>
                <c:pt idx="23">
                  <c:v>-7.5877695191974199</c:v>
                </c:pt>
                <c:pt idx="24">
                  <c:v>-6.6386048837264138</c:v>
                </c:pt>
                <c:pt idx="25">
                  <c:v>-4.4839747100803811</c:v>
                </c:pt>
                <c:pt idx="26">
                  <c:v>-5.500148679154572</c:v>
                </c:pt>
                <c:pt idx="27">
                  <c:v>-5.706675172477361</c:v>
                </c:pt>
                <c:pt idx="28">
                  <c:v>-13.725780340213506</c:v>
                </c:pt>
                <c:pt idx="29">
                  <c:v>-7.4404228573368245</c:v>
                </c:pt>
                <c:pt idx="30">
                  <c:v>-5.8876989251932974</c:v>
                </c:pt>
                <c:pt idx="31">
                  <c:v>-6.6946683727494953</c:v>
                </c:pt>
                <c:pt idx="32">
                  <c:v>-5.5314622927838899</c:v>
                </c:pt>
                <c:pt idx="33">
                  <c:v>-8.7217602591215257</c:v>
                </c:pt>
                <c:pt idx="34">
                  <c:v>-8.4835636515740305</c:v>
                </c:pt>
                <c:pt idx="35">
                  <c:v>-7.016969364980242</c:v>
                </c:pt>
                <c:pt idx="36">
                  <c:v>-5.6246104298062303</c:v>
                </c:pt>
                <c:pt idx="37">
                  <c:v>-6.3107718624401841</c:v>
                </c:pt>
                <c:pt idx="38">
                  <c:v>-6.4846863817258198</c:v>
                </c:pt>
                <c:pt idx="39">
                  <c:v>-2.9097591999029642</c:v>
                </c:pt>
                <c:pt idx="40">
                  <c:v>-7.1083319865795787</c:v>
                </c:pt>
                <c:pt idx="41">
                  <c:v>-5.3156883555043883</c:v>
                </c:pt>
                <c:pt idx="42">
                  <c:v>-4.8413501834738293</c:v>
                </c:pt>
                <c:pt idx="43">
                  <c:v>-5.2646679373674949</c:v>
                </c:pt>
                <c:pt idx="44">
                  <c:v>-7.0873399867652225</c:v>
                </c:pt>
                <c:pt idx="45">
                  <c:v>-7.3564811175240976</c:v>
                </c:pt>
                <c:pt idx="46">
                  <c:v>-7.5223638536205222</c:v>
                </c:pt>
                <c:pt idx="47">
                  <c:v>-8.829434409642694</c:v>
                </c:pt>
                <c:pt idx="48">
                  <c:v>-7.0616186368193485</c:v>
                </c:pt>
                <c:pt idx="49">
                  <c:v>-4.8083496471175975</c:v>
                </c:pt>
                <c:pt idx="50">
                  <c:v>-9.7285625556361275</c:v>
                </c:pt>
                <c:pt idx="51">
                  <c:v>-6.0437612267119798</c:v>
                </c:pt>
                <c:pt idx="52">
                  <c:v>-6.8059896632365993</c:v>
                </c:pt>
                <c:pt idx="53">
                  <c:v>-5.3201025560103572</c:v>
                </c:pt>
                <c:pt idx="54">
                  <c:v>-5.4643271190180949</c:v>
                </c:pt>
                <c:pt idx="55">
                  <c:v>-4.7644094028344766</c:v>
                </c:pt>
                <c:pt idx="56">
                  <c:v>-8.1067793721172894</c:v>
                </c:pt>
              </c:numCache>
            </c:numRef>
          </c:yVal>
          <c:smooth val="0"/>
          <c:extLst>
            <c:ext xmlns:c16="http://schemas.microsoft.com/office/drawing/2014/chart" uri="{C3380CC4-5D6E-409C-BE32-E72D297353CC}">
              <c16:uniqueId val="{00000000-BDCB-4429-AC13-6C71D88E2BCE}"/>
            </c:ext>
          </c:extLst>
        </c:ser>
        <c:dLbls>
          <c:showLegendKey val="0"/>
          <c:showVal val="0"/>
          <c:showCatName val="0"/>
          <c:showSerName val="0"/>
          <c:showPercent val="0"/>
          <c:showBubbleSize val="0"/>
        </c:dLbls>
        <c:axId val="143637504"/>
        <c:axId val="143639680"/>
      </c:scatterChart>
      <c:valAx>
        <c:axId val="143637504"/>
        <c:scaling>
          <c:orientation val="minMax"/>
          <c:min val="2"/>
        </c:scaling>
        <c:delete val="0"/>
        <c:axPos val="b"/>
        <c:title>
          <c:tx>
            <c:rich>
              <a:bodyPr/>
              <a:lstStyle/>
              <a:p>
                <a:pPr>
                  <a:defRPr/>
                </a:pPr>
                <a:r>
                  <a:rPr lang="en-US"/>
                  <a:t>ln(SIZ)</a:t>
                </a:r>
              </a:p>
            </c:rich>
          </c:tx>
          <c:overlay val="0"/>
        </c:title>
        <c:numFmt formatCode="General" sourceLinked="1"/>
        <c:majorTickMark val="none"/>
        <c:minorTickMark val="none"/>
        <c:tickLblPos val="nextTo"/>
        <c:crossAx val="143639680"/>
        <c:crossesAt val="-18"/>
        <c:crossBetween val="midCat"/>
      </c:valAx>
      <c:valAx>
        <c:axId val="143639680"/>
        <c:scaling>
          <c:orientation val="minMax"/>
        </c:scaling>
        <c:delete val="0"/>
        <c:axPos val="l"/>
        <c:title>
          <c:tx>
            <c:rich>
              <a:bodyPr/>
              <a:lstStyle/>
              <a:p>
                <a:pPr>
                  <a:defRPr/>
                </a:pPr>
                <a:r>
                  <a:rPr lang="en-US"/>
                  <a:t>ln(e^2)</a:t>
                </a:r>
              </a:p>
            </c:rich>
          </c:tx>
          <c:overlay val="0"/>
        </c:title>
        <c:numFmt formatCode="General" sourceLinked="1"/>
        <c:majorTickMark val="none"/>
        <c:minorTickMark val="none"/>
        <c:tickLblPos val="nextTo"/>
        <c:crossAx val="143637504"/>
        <c:crosses val="autoZero"/>
        <c:crossBetween val="midCat"/>
      </c:valAx>
      <c:spPr>
        <a:solidFill>
          <a:srgbClr val="7030A0"/>
        </a:solidFill>
      </c:spPr>
    </c:plotArea>
    <c:plotVisOnly val="1"/>
    <c:dispBlanksAs val="gap"/>
    <c:showDLblsOverMax val="0"/>
  </c:chart>
  <c:spPr>
    <a:solidFill>
      <a:srgbClr val="FFFFCC"/>
    </a:solidFill>
  </c:sp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EE7A47FE-7738-6DA4-71D4-A7B8BC32E205}"/>
              </a:ext>
            </a:extLst>
          </p:cNvPr>
          <p:cNvSpPr>
            <a:spLocks noGrp="1"/>
          </p:cNvSpPr>
          <p:nvPr>
            <p:ph type="dt" sz="half" idx="10"/>
          </p:nvPr>
        </p:nvSpPr>
        <p:spPr/>
        <p:txBody>
          <a:bodyPr/>
          <a:lstStyle>
            <a:lvl1pPr>
              <a:defRPr/>
            </a:lvl1pPr>
          </a:lstStyle>
          <a:p>
            <a:pPr>
              <a:defRPr/>
            </a:pPr>
            <a:fld id="{3BF31C1A-CEB7-42FE-A95C-5C8BF440B372}" type="datetimeFigureOut">
              <a:rPr lang="en-US"/>
              <a:pPr>
                <a:defRPr/>
              </a:pPr>
              <a:t>12/18/2025</a:t>
            </a:fld>
            <a:endParaRPr lang="en-US"/>
          </a:p>
        </p:txBody>
      </p:sp>
      <p:sp>
        <p:nvSpPr>
          <p:cNvPr id="5" name="Footer Placeholder 4">
            <a:extLst>
              <a:ext uri="{FF2B5EF4-FFF2-40B4-BE49-F238E27FC236}">
                <a16:creationId xmlns:a16="http://schemas.microsoft.com/office/drawing/2014/main" id="{B246E9B2-E5C7-F724-6E71-FFC7BCB8E7E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E7D7E4-290D-D8D3-8C25-BCA2F2DB5EBE}"/>
              </a:ext>
            </a:extLst>
          </p:cNvPr>
          <p:cNvSpPr>
            <a:spLocks noGrp="1"/>
          </p:cNvSpPr>
          <p:nvPr>
            <p:ph type="sldNum" sz="quarter" idx="12"/>
          </p:nvPr>
        </p:nvSpPr>
        <p:spPr/>
        <p:txBody>
          <a:bodyPr/>
          <a:lstStyle>
            <a:lvl1pPr>
              <a:defRPr/>
            </a:lvl1pPr>
          </a:lstStyle>
          <a:p>
            <a:fld id="{BE126253-7F17-4F3B-BD1E-0E2ED77DA9A3}" type="slidenum">
              <a:rPr lang="en-US" altLang="en-US"/>
              <a:pPr/>
              <a:t>‹#›</a:t>
            </a:fld>
            <a:endParaRPr lang="en-US" altLang="en-US"/>
          </a:p>
        </p:txBody>
      </p:sp>
    </p:spTree>
    <p:extLst>
      <p:ext uri="{BB962C8B-B14F-4D97-AF65-F5344CB8AC3E}">
        <p14:creationId xmlns:p14="http://schemas.microsoft.com/office/powerpoint/2010/main" val="346682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lvl1pPr>
              <a:defRPr sz="3600" baseline="0"/>
            </a:lvl1pPr>
          </a:lstStyle>
          <a:p>
            <a:r>
              <a:rPr lang="en-US" dirty="0"/>
              <a:t>Click to edit Master title style</a:t>
            </a:r>
          </a:p>
        </p:txBody>
      </p:sp>
      <p:sp>
        <p:nvSpPr>
          <p:cNvPr id="3" name="Content Placeholder 2"/>
          <p:cNvSpPr>
            <a:spLocks noGrp="1"/>
          </p:cNvSpPr>
          <p:nvPr>
            <p:ph idx="1"/>
          </p:nvPr>
        </p:nvSpPr>
        <p:spPr>
          <a:xfrm>
            <a:off x="457200" y="1295400"/>
            <a:ext cx="8229600" cy="5181600"/>
          </a:xfrm>
        </p:spPr>
        <p:txBody>
          <a:bodyPr/>
          <a:lstStyle>
            <a:lvl1pPr>
              <a:defRPr sz="2800" baseline="0"/>
            </a:lvl1pPr>
            <a:lvl2pPr marL="742950" indent="-285750">
              <a:buFont typeface="Wingdings" pitchFamily="2" charset="2"/>
              <a:buChar char="§"/>
              <a:defRPr sz="2400" baseline="0"/>
            </a:lvl2pPr>
          </a:lstStyle>
          <a:p>
            <a:pPr lvl="0"/>
            <a:r>
              <a:rPr lang="en-US" dirty="0"/>
              <a:t>Click to edit Master text styles</a:t>
            </a:r>
          </a:p>
          <a:p>
            <a:pPr lvl="1"/>
            <a:r>
              <a:rPr lang="en-US" dirty="0"/>
              <a:t>Second level</a:t>
            </a:r>
          </a:p>
        </p:txBody>
      </p:sp>
      <p:sp>
        <p:nvSpPr>
          <p:cNvPr id="4" name="Date Placeholder 3">
            <a:extLst>
              <a:ext uri="{FF2B5EF4-FFF2-40B4-BE49-F238E27FC236}">
                <a16:creationId xmlns:a16="http://schemas.microsoft.com/office/drawing/2014/main" id="{E748F522-5300-44FD-3744-07EE5C03CB41}"/>
              </a:ext>
            </a:extLst>
          </p:cNvPr>
          <p:cNvSpPr>
            <a:spLocks noGrp="1"/>
          </p:cNvSpPr>
          <p:nvPr>
            <p:ph type="dt" sz="half" idx="10"/>
          </p:nvPr>
        </p:nvSpPr>
        <p:spPr/>
        <p:txBody>
          <a:bodyPr/>
          <a:lstStyle>
            <a:lvl1pPr>
              <a:defRPr/>
            </a:lvl1pPr>
          </a:lstStyle>
          <a:p>
            <a:pPr>
              <a:defRPr/>
            </a:pPr>
            <a:fld id="{20B277A4-16C1-4F29-9475-95BD2EBD80EE}" type="datetimeFigureOut">
              <a:rPr lang="en-US"/>
              <a:pPr>
                <a:defRPr/>
              </a:pPr>
              <a:t>12/18/2025</a:t>
            </a:fld>
            <a:endParaRPr lang="en-US"/>
          </a:p>
        </p:txBody>
      </p:sp>
      <p:sp>
        <p:nvSpPr>
          <p:cNvPr id="5" name="Footer Placeholder 4">
            <a:extLst>
              <a:ext uri="{FF2B5EF4-FFF2-40B4-BE49-F238E27FC236}">
                <a16:creationId xmlns:a16="http://schemas.microsoft.com/office/drawing/2014/main" id="{A46A2848-A758-87DF-92CE-5A0065D4D14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930647-E83E-ECD3-D447-36885399CA2E}"/>
              </a:ext>
            </a:extLst>
          </p:cNvPr>
          <p:cNvSpPr>
            <a:spLocks noGrp="1"/>
          </p:cNvSpPr>
          <p:nvPr>
            <p:ph type="sldNum" sz="quarter" idx="12"/>
          </p:nvPr>
        </p:nvSpPr>
        <p:spPr/>
        <p:txBody>
          <a:bodyPr/>
          <a:lstStyle>
            <a:lvl1pPr>
              <a:defRPr/>
            </a:lvl1pPr>
          </a:lstStyle>
          <a:p>
            <a:fld id="{D6D6D6B1-0A08-4255-B5CA-7573081C80E3}" type="slidenum">
              <a:rPr lang="en-US" altLang="en-US"/>
              <a:pPr/>
              <a:t>‹#›</a:t>
            </a:fld>
            <a:endParaRPr lang="en-US" altLang="en-US"/>
          </a:p>
        </p:txBody>
      </p:sp>
    </p:spTree>
    <p:extLst>
      <p:ext uri="{BB962C8B-B14F-4D97-AF65-F5344CB8AC3E}">
        <p14:creationId xmlns:p14="http://schemas.microsoft.com/office/powerpoint/2010/main" val="3162308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79C23-049C-7BBC-970E-8E5FC29EB974}"/>
              </a:ext>
            </a:extLst>
          </p:cNvPr>
          <p:cNvSpPr>
            <a:spLocks noGrp="1"/>
          </p:cNvSpPr>
          <p:nvPr>
            <p:ph type="dt" sz="half" idx="10"/>
          </p:nvPr>
        </p:nvSpPr>
        <p:spPr/>
        <p:txBody>
          <a:bodyPr/>
          <a:lstStyle>
            <a:lvl1pPr>
              <a:defRPr/>
            </a:lvl1pPr>
          </a:lstStyle>
          <a:p>
            <a:pPr>
              <a:defRPr/>
            </a:pPr>
            <a:fld id="{B2CA7851-6673-48B4-AE43-054CE17D17D4}" type="datetimeFigureOut">
              <a:rPr lang="en-US"/>
              <a:pPr>
                <a:defRPr/>
              </a:pPr>
              <a:t>12/18/2025</a:t>
            </a:fld>
            <a:endParaRPr lang="en-US"/>
          </a:p>
        </p:txBody>
      </p:sp>
      <p:sp>
        <p:nvSpPr>
          <p:cNvPr id="5" name="Footer Placeholder 4">
            <a:extLst>
              <a:ext uri="{FF2B5EF4-FFF2-40B4-BE49-F238E27FC236}">
                <a16:creationId xmlns:a16="http://schemas.microsoft.com/office/drawing/2014/main" id="{2577E676-041E-F2DF-540D-EC41A570E8D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6EC5D72-BD6D-FDA3-CD21-1E1CBC0EDA1C}"/>
              </a:ext>
            </a:extLst>
          </p:cNvPr>
          <p:cNvSpPr>
            <a:spLocks noGrp="1"/>
          </p:cNvSpPr>
          <p:nvPr>
            <p:ph type="sldNum" sz="quarter" idx="12"/>
          </p:nvPr>
        </p:nvSpPr>
        <p:spPr/>
        <p:txBody>
          <a:bodyPr/>
          <a:lstStyle>
            <a:lvl1pPr>
              <a:defRPr/>
            </a:lvl1pPr>
          </a:lstStyle>
          <a:p>
            <a:fld id="{57B8F4D4-61F3-4A04-B5C1-B34BB56D7097}" type="slidenum">
              <a:rPr lang="en-US" altLang="en-US"/>
              <a:pPr/>
              <a:t>‹#›</a:t>
            </a:fld>
            <a:endParaRPr lang="en-US" altLang="en-US"/>
          </a:p>
        </p:txBody>
      </p:sp>
    </p:spTree>
    <p:extLst>
      <p:ext uri="{BB962C8B-B14F-4D97-AF65-F5344CB8AC3E}">
        <p14:creationId xmlns:p14="http://schemas.microsoft.com/office/powerpoint/2010/main" val="2625603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75ECAC0F-9F5D-1405-7B51-4A6EF4D83484}"/>
              </a:ext>
            </a:extLst>
          </p:cNvPr>
          <p:cNvSpPr>
            <a:spLocks noGrp="1"/>
          </p:cNvSpPr>
          <p:nvPr>
            <p:ph type="dt" sz="half" idx="10"/>
          </p:nvPr>
        </p:nvSpPr>
        <p:spPr/>
        <p:txBody>
          <a:bodyPr/>
          <a:lstStyle>
            <a:lvl1pPr>
              <a:defRPr/>
            </a:lvl1pPr>
          </a:lstStyle>
          <a:p>
            <a:pPr>
              <a:defRPr/>
            </a:pPr>
            <a:fld id="{CE4E9020-52C3-404D-AE76-A27574C48FC4}" type="datetimeFigureOut">
              <a:rPr lang="en-US"/>
              <a:pPr>
                <a:defRPr/>
              </a:pPr>
              <a:t>12/18/2025</a:t>
            </a:fld>
            <a:endParaRPr lang="en-US"/>
          </a:p>
        </p:txBody>
      </p:sp>
      <p:sp>
        <p:nvSpPr>
          <p:cNvPr id="6" name="Footer Placeholder 4">
            <a:extLst>
              <a:ext uri="{FF2B5EF4-FFF2-40B4-BE49-F238E27FC236}">
                <a16:creationId xmlns:a16="http://schemas.microsoft.com/office/drawing/2014/main" id="{A6F0A9C0-D9C7-0375-394E-58346330697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F48B160-027E-F447-7288-0DD87D60D988}"/>
              </a:ext>
            </a:extLst>
          </p:cNvPr>
          <p:cNvSpPr>
            <a:spLocks noGrp="1"/>
          </p:cNvSpPr>
          <p:nvPr>
            <p:ph type="sldNum" sz="quarter" idx="12"/>
          </p:nvPr>
        </p:nvSpPr>
        <p:spPr/>
        <p:txBody>
          <a:bodyPr/>
          <a:lstStyle>
            <a:lvl1pPr>
              <a:defRPr/>
            </a:lvl1pPr>
          </a:lstStyle>
          <a:p>
            <a:fld id="{5CED2D87-9534-405B-B47F-CE6AACDBD5C9}" type="slidenum">
              <a:rPr lang="en-US" altLang="en-US"/>
              <a:pPr/>
              <a:t>‹#›</a:t>
            </a:fld>
            <a:endParaRPr lang="en-US" altLang="en-US"/>
          </a:p>
        </p:txBody>
      </p:sp>
    </p:spTree>
    <p:extLst>
      <p:ext uri="{BB962C8B-B14F-4D97-AF65-F5344CB8AC3E}">
        <p14:creationId xmlns:p14="http://schemas.microsoft.com/office/powerpoint/2010/main" val="3838157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1A3469C-DD5A-44B9-6960-E30E7E9B99DA}"/>
              </a:ext>
            </a:extLst>
          </p:cNvPr>
          <p:cNvSpPr>
            <a:spLocks noGrp="1"/>
          </p:cNvSpPr>
          <p:nvPr>
            <p:ph type="dt" sz="half" idx="10"/>
          </p:nvPr>
        </p:nvSpPr>
        <p:spPr/>
        <p:txBody>
          <a:bodyPr/>
          <a:lstStyle>
            <a:lvl1pPr>
              <a:defRPr/>
            </a:lvl1pPr>
          </a:lstStyle>
          <a:p>
            <a:pPr>
              <a:defRPr/>
            </a:pPr>
            <a:fld id="{E3A93D1B-6BDD-4CA4-8B54-ECA4CE635BCF}" type="datetimeFigureOut">
              <a:rPr lang="en-US"/>
              <a:pPr>
                <a:defRPr/>
              </a:pPr>
              <a:t>12/18/2025</a:t>
            </a:fld>
            <a:endParaRPr lang="en-US"/>
          </a:p>
        </p:txBody>
      </p:sp>
      <p:sp>
        <p:nvSpPr>
          <p:cNvPr id="8" name="Footer Placeholder 4">
            <a:extLst>
              <a:ext uri="{FF2B5EF4-FFF2-40B4-BE49-F238E27FC236}">
                <a16:creationId xmlns:a16="http://schemas.microsoft.com/office/drawing/2014/main" id="{5EAAEC9E-3662-81D1-FFC1-9F369210B60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2451F46-391C-F995-C20D-7F0C2AB57E43}"/>
              </a:ext>
            </a:extLst>
          </p:cNvPr>
          <p:cNvSpPr>
            <a:spLocks noGrp="1"/>
          </p:cNvSpPr>
          <p:nvPr>
            <p:ph type="sldNum" sz="quarter" idx="12"/>
          </p:nvPr>
        </p:nvSpPr>
        <p:spPr/>
        <p:txBody>
          <a:bodyPr/>
          <a:lstStyle>
            <a:lvl1pPr>
              <a:defRPr/>
            </a:lvl1pPr>
          </a:lstStyle>
          <a:p>
            <a:fld id="{E1AF404F-87F5-4DA6-B271-BDDB4D2CD93A}" type="slidenum">
              <a:rPr lang="en-US" altLang="en-US"/>
              <a:pPr/>
              <a:t>‹#›</a:t>
            </a:fld>
            <a:endParaRPr lang="en-US" altLang="en-US"/>
          </a:p>
        </p:txBody>
      </p:sp>
    </p:spTree>
    <p:extLst>
      <p:ext uri="{BB962C8B-B14F-4D97-AF65-F5344CB8AC3E}">
        <p14:creationId xmlns:p14="http://schemas.microsoft.com/office/powerpoint/2010/main" val="1159578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lvl1pPr>
              <a:defRPr sz="3600"/>
            </a:lvl1pPr>
          </a:lstStyle>
          <a:p>
            <a:r>
              <a:rPr lang="en-US" dirty="0"/>
              <a:t>Click to edit Master title style</a:t>
            </a:r>
          </a:p>
        </p:txBody>
      </p:sp>
      <p:sp>
        <p:nvSpPr>
          <p:cNvPr id="3" name="Date Placeholder 3">
            <a:extLst>
              <a:ext uri="{FF2B5EF4-FFF2-40B4-BE49-F238E27FC236}">
                <a16:creationId xmlns:a16="http://schemas.microsoft.com/office/drawing/2014/main" id="{425BB5E9-54E0-E836-48E6-C8477100559A}"/>
              </a:ext>
            </a:extLst>
          </p:cNvPr>
          <p:cNvSpPr>
            <a:spLocks noGrp="1"/>
          </p:cNvSpPr>
          <p:nvPr>
            <p:ph type="dt" sz="half" idx="10"/>
          </p:nvPr>
        </p:nvSpPr>
        <p:spPr/>
        <p:txBody>
          <a:bodyPr/>
          <a:lstStyle>
            <a:lvl1pPr>
              <a:defRPr/>
            </a:lvl1pPr>
          </a:lstStyle>
          <a:p>
            <a:pPr>
              <a:defRPr/>
            </a:pPr>
            <a:fld id="{4BA0268F-FC1E-4356-95F7-EB36E2819A3E}" type="datetimeFigureOut">
              <a:rPr lang="en-US"/>
              <a:pPr>
                <a:defRPr/>
              </a:pPr>
              <a:t>12/18/2025</a:t>
            </a:fld>
            <a:endParaRPr lang="en-US"/>
          </a:p>
        </p:txBody>
      </p:sp>
      <p:sp>
        <p:nvSpPr>
          <p:cNvPr id="4" name="Footer Placeholder 4">
            <a:extLst>
              <a:ext uri="{FF2B5EF4-FFF2-40B4-BE49-F238E27FC236}">
                <a16:creationId xmlns:a16="http://schemas.microsoft.com/office/drawing/2014/main" id="{DD8227C9-7150-2413-1544-FB7B24E4BCF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E0B3208-EC5C-3DB3-7848-E4BCF5EBB680}"/>
              </a:ext>
            </a:extLst>
          </p:cNvPr>
          <p:cNvSpPr>
            <a:spLocks noGrp="1"/>
          </p:cNvSpPr>
          <p:nvPr>
            <p:ph type="sldNum" sz="quarter" idx="12"/>
          </p:nvPr>
        </p:nvSpPr>
        <p:spPr/>
        <p:txBody>
          <a:bodyPr/>
          <a:lstStyle>
            <a:lvl1pPr>
              <a:defRPr/>
            </a:lvl1pPr>
          </a:lstStyle>
          <a:p>
            <a:fld id="{233BA395-4E66-470E-943F-87F8B25F11B6}" type="slidenum">
              <a:rPr lang="en-US" altLang="en-US"/>
              <a:pPr/>
              <a:t>‹#›</a:t>
            </a:fld>
            <a:endParaRPr lang="en-US" altLang="en-US"/>
          </a:p>
        </p:txBody>
      </p:sp>
    </p:spTree>
    <p:extLst>
      <p:ext uri="{BB962C8B-B14F-4D97-AF65-F5344CB8AC3E}">
        <p14:creationId xmlns:p14="http://schemas.microsoft.com/office/powerpoint/2010/main" val="2990058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139BC12-3EE7-F695-CEB0-51EE33247E82}"/>
              </a:ext>
            </a:extLst>
          </p:cNvPr>
          <p:cNvSpPr>
            <a:spLocks noGrp="1"/>
          </p:cNvSpPr>
          <p:nvPr>
            <p:ph type="dt" sz="half" idx="10"/>
          </p:nvPr>
        </p:nvSpPr>
        <p:spPr/>
        <p:txBody>
          <a:bodyPr/>
          <a:lstStyle>
            <a:lvl1pPr>
              <a:defRPr/>
            </a:lvl1pPr>
          </a:lstStyle>
          <a:p>
            <a:pPr>
              <a:defRPr/>
            </a:pPr>
            <a:fld id="{658CD13A-E629-4FAE-9F38-A308DBC1BB47}" type="datetimeFigureOut">
              <a:rPr lang="en-US"/>
              <a:pPr>
                <a:defRPr/>
              </a:pPr>
              <a:t>12/18/2025</a:t>
            </a:fld>
            <a:endParaRPr lang="en-US"/>
          </a:p>
        </p:txBody>
      </p:sp>
      <p:sp>
        <p:nvSpPr>
          <p:cNvPr id="3" name="Footer Placeholder 4">
            <a:extLst>
              <a:ext uri="{FF2B5EF4-FFF2-40B4-BE49-F238E27FC236}">
                <a16:creationId xmlns:a16="http://schemas.microsoft.com/office/drawing/2014/main" id="{500142D8-C703-D29C-7ED3-6F0020EBFFB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F20E427-F5D2-7AEA-B0FD-9E108B98F704}"/>
              </a:ext>
            </a:extLst>
          </p:cNvPr>
          <p:cNvSpPr>
            <a:spLocks noGrp="1"/>
          </p:cNvSpPr>
          <p:nvPr>
            <p:ph type="sldNum" sz="quarter" idx="12"/>
          </p:nvPr>
        </p:nvSpPr>
        <p:spPr/>
        <p:txBody>
          <a:bodyPr/>
          <a:lstStyle>
            <a:lvl1pPr>
              <a:defRPr/>
            </a:lvl1pPr>
          </a:lstStyle>
          <a:p>
            <a:fld id="{04DE26FB-8B48-4819-99FB-935CA3298F55}" type="slidenum">
              <a:rPr lang="en-US" altLang="en-US"/>
              <a:pPr/>
              <a:t>‹#›</a:t>
            </a:fld>
            <a:endParaRPr lang="en-US" altLang="en-US"/>
          </a:p>
        </p:txBody>
      </p:sp>
    </p:spTree>
    <p:extLst>
      <p:ext uri="{BB962C8B-B14F-4D97-AF65-F5344CB8AC3E}">
        <p14:creationId xmlns:p14="http://schemas.microsoft.com/office/powerpoint/2010/main" val="149353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67FAD21-1BC8-39C5-410F-840A64B2408A}"/>
              </a:ext>
            </a:extLst>
          </p:cNvPr>
          <p:cNvSpPr>
            <a:spLocks noGrp="1"/>
          </p:cNvSpPr>
          <p:nvPr>
            <p:ph type="dt" sz="half" idx="10"/>
          </p:nvPr>
        </p:nvSpPr>
        <p:spPr/>
        <p:txBody>
          <a:bodyPr/>
          <a:lstStyle>
            <a:lvl1pPr>
              <a:defRPr/>
            </a:lvl1pPr>
          </a:lstStyle>
          <a:p>
            <a:pPr>
              <a:defRPr/>
            </a:pPr>
            <a:fld id="{7480CE6E-FC1F-42C6-9882-B2C7F6F2C98C}" type="datetimeFigureOut">
              <a:rPr lang="en-US"/>
              <a:pPr>
                <a:defRPr/>
              </a:pPr>
              <a:t>12/18/2025</a:t>
            </a:fld>
            <a:endParaRPr lang="en-US"/>
          </a:p>
        </p:txBody>
      </p:sp>
      <p:sp>
        <p:nvSpPr>
          <p:cNvPr id="6" name="Footer Placeholder 4">
            <a:extLst>
              <a:ext uri="{FF2B5EF4-FFF2-40B4-BE49-F238E27FC236}">
                <a16:creationId xmlns:a16="http://schemas.microsoft.com/office/drawing/2014/main" id="{6111A3D3-1DB4-220C-3BB5-E82B73956EC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7EF9D07-546F-DBC1-1CD6-4498E4026D93}"/>
              </a:ext>
            </a:extLst>
          </p:cNvPr>
          <p:cNvSpPr>
            <a:spLocks noGrp="1"/>
          </p:cNvSpPr>
          <p:nvPr>
            <p:ph type="sldNum" sz="quarter" idx="12"/>
          </p:nvPr>
        </p:nvSpPr>
        <p:spPr/>
        <p:txBody>
          <a:bodyPr/>
          <a:lstStyle>
            <a:lvl1pPr>
              <a:defRPr/>
            </a:lvl1pPr>
          </a:lstStyle>
          <a:p>
            <a:fld id="{A4BABD64-1494-4EF0-98F8-061951A2048C}" type="slidenum">
              <a:rPr lang="en-US" altLang="en-US"/>
              <a:pPr/>
              <a:t>‹#›</a:t>
            </a:fld>
            <a:endParaRPr lang="en-US" altLang="en-US"/>
          </a:p>
        </p:txBody>
      </p:sp>
    </p:spTree>
    <p:extLst>
      <p:ext uri="{BB962C8B-B14F-4D97-AF65-F5344CB8AC3E}">
        <p14:creationId xmlns:p14="http://schemas.microsoft.com/office/powerpoint/2010/main" val="396933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715FDB0-39DC-E36A-E3C5-ED80E40A1C28}"/>
              </a:ext>
            </a:extLst>
          </p:cNvPr>
          <p:cNvSpPr>
            <a:spLocks noGrp="1"/>
          </p:cNvSpPr>
          <p:nvPr>
            <p:ph type="dt" sz="half" idx="10"/>
          </p:nvPr>
        </p:nvSpPr>
        <p:spPr/>
        <p:txBody>
          <a:bodyPr/>
          <a:lstStyle>
            <a:lvl1pPr>
              <a:defRPr/>
            </a:lvl1pPr>
          </a:lstStyle>
          <a:p>
            <a:pPr>
              <a:defRPr/>
            </a:pPr>
            <a:fld id="{1ACC06CA-EB01-47FD-8139-7C99B3490B3C}" type="datetimeFigureOut">
              <a:rPr lang="en-US"/>
              <a:pPr>
                <a:defRPr/>
              </a:pPr>
              <a:t>12/18/2025</a:t>
            </a:fld>
            <a:endParaRPr lang="en-US"/>
          </a:p>
        </p:txBody>
      </p:sp>
      <p:sp>
        <p:nvSpPr>
          <p:cNvPr id="6" name="Footer Placeholder 4">
            <a:extLst>
              <a:ext uri="{FF2B5EF4-FFF2-40B4-BE49-F238E27FC236}">
                <a16:creationId xmlns:a16="http://schemas.microsoft.com/office/drawing/2014/main" id="{C3AFCF1F-264C-1E94-44BA-6D62ABC2D7D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04799E3-DF7C-A1EF-F305-EA4513A00FF8}"/>
              </a:ext>
            </a:extLst>
          </p:cNvPr>
          <p:cNvSpPr>
            <a:spLocks noGrp="1"/>
          </p:cNvSpPr>
          <p:nvPr>
            <p:ph type="sldNum" sz="quarter" idx="12"/>
          </p:nvPr>
        </p:nvSpPr>
        <p:spPr/>
        <p:txBody>
          <a:bodyPr/>
          <a:lstStyle>
            <a:lvl1pPr>
              <a:defRPr/>
            </a:lvl1pPr>
          </a:lstStyle>
          <a:p>
            <a:fld id="{667F7E07-90FA-47CE-83A3-1EC0D6456E95}" type="slidenum">
              <a:rPr lang="en-US" altLang="en-US"/>
              <a:pPr/>
              <a:t>‹#›</a:t>
            </a:fld>
            <a:endParaRPr lang="en-US" altLang="en-US"/>
          </a:p>
        </p:txBody>
      </p:sp>
    </p:spTree>
    <p:extLst>
      <p:ext uri="{BB962C8B-B14F-4D97-AF65-F5344CB8AC3E}">
        <p14:creationId xmlns:p14="http://schemas.microsoft.com/office/powerpoint/2010/main" val="974608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D310D0-9A58-C59D-3A66-341346CB66DF}"/>
              </a:ext>
            </a:extLst>
          </p:cNvPr>
          <p:cNvSpPr>
            <a:spLocks noGrp="1"/>
          </p:cNvSpPr>
          <p:nvPr>
            <p:ph type="dt" sz="half" idx="10"/>
          </p:nvPr>
        </p:nvSpPr>
        <p:spPr/>
        <p:txBody>
          <a:bodyPr/>
          <a:lstStyle>
            <a:lvl1pPr>
              <a:defRPr/>
            </a:lvl1pPr>
          </a:lstStyle>
          <a:p>
            <a:pPr>
              <a:defRPr/>
            </a:pPr>
            <a:fld id="{4650180E-ED5A-4B2B-B5CA-EEF633702D76}" type="datetimeFigureOut">
              <a:rPr lang="en-US"/>
              <a:pPr>
                <a:defRPr/>
              </a:pPr>
              <a:t>12/18/2025</a:t>
            </a:fld>
            <a:endParaRPr lang="en-US"/>
          </a:p>
        </p:txBody>
      </p:sp>
      <p:sp>
        <p:nvSpPr>
          <p:cNvPr id="5" name="Footer Placeholder 4">
            <a:extLst>
              <a:ext uri="{FF2B5EF4-FFF2-40B4-BE49-F238E27FC236}">
                <a16:creationId xmlns:a16="http://schemas.microsoft.com/office/drawing/2014/main" id="{F27FDA23-27DD-EB18-73A8-7D761A6148B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349E9C6-ACFF-E3F5-4A5C-99A672EF9D83}"/>
              </a:ext>
            </a:extLst>
          </p:cNvPr>
          <p:cNvSpPr>
            <a:spLocks noGrp="1"/>
          </p:cNvSpPr>
          <p:nvPr>
            <p:ph type="sldNum" sz="quarter" idx="12"/>
          </p:nvPr>
        </p:nvSpPr>
        <p:spPr/>
        <p:txBody>
          <a:bodyPr/>
          <a:lstStyle>
            <a:lvl1pPr>
              <a:defRPr/>
            </a:lvl1pPr>
          </a:lstStyle>
          <a:p>
            <a:fld id="{75B0B15B-165E-4943-994E-3FE687667143}" type="slidenum">
              <a:rPr lang="en-US" altLang="en-US"/>
              <a:pPr/>
              <a:t>‹#›</a:t>
            </a:fld>
            <a:endParaRPr lang="en-US" altLang="en-US"/>
          </a:p>
        </p:txBody>
      </p:sp>
    </p:spTree>
    <p:extLst>
      <p:ext uri="{BB962C8B-B14F-4D97-AF65-F5344CB8AC3E}">
        <p14:creationId xmlns:p14="http://schemas.microsoft.com/office/powerpoint/2010/main" val="1159034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54862D-6567-FBFC-5D24-7295659AE824}"/>
              </a:ext>
            </a:extLst>
          </p:cNvPr>
          <p:cNvSpPr>
            <a:spLocks noGrp="1"/>
          </p:cNvSpPr>
          <p:nvPr>
            <p:ph type="dt" sz="half" idx="10"/>
          </p:nvPr>
        </p:nvSpPr>
        <p:spPr/>
        <p:txBody>
          <a:bodyPr/>
          <a:lstStyle>
            <a:lvl1pPr>
              <a:defRPr/>
            </a:lvl1pPr>
          </a:lstStyle>
          <a:p>
            <a:pPr>
              <a:defRPr/>
            </a:pPr>
            <a:fld id="{BC6FE0D6-E9B3-42D9-9999-49B0D9CB9ABF}" type="datetimeFigureOut">
              <a:rPr lang="en-US"/>
              <a:pPr>
                <a:defRPr/>
              </a:pPr>
              <a:t>12/18/2025</a:t>
            </a:fld>
            <a:endParaRPr lang="en-US"/>
          </a:p>
        </p:txBody>
      </p:sp>
      <p:sp>
        <p:nvSpPr>
          <p:cNvPr id="5" name="Footer Placeholder 4">
            <a:extLst>
              <a:ext uri="{FF2B5EF4-FFF2-40B4-BE49-F238E27FC236}">
                <a16:creationId xmlns:a16="http://schemas.microsoft.com/office/drawing/2014/main" id="{BFE2E7E0-28B8-CC06-150C-28BBA516727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D8A9D1C-3602-3D13-18F1-3EE948A64AB8}"/>
              </a:ext>
            </a:extLst>
          </p:cNvPr>
          <p:cNvSpPr>
            <a:spLocks noGrp="1"/>
          </p:cNvSpPr>
          <p:nvPr>
            <p:ph type="sldNum" sz="quarter" idx="12"/>
          </p:nvPr>
        </p:nvSpPr>
        <p:spPr/>
        <p:txBody>
          <a:bodyPr/>
          <a:lstStyle>
            <a:lvl1pPr>
              <a:defRPr/>
            </a:lvl1pPr>
          </a:lstStyle>
          <a:p>
            <a:fld id="{346F4A0B-D377-494B-AB21-76441CB06902}" type="slidenum">
              <a:rPr lang="en-US" altLang="en-US"/>
              <a:pPr/>
              <a:t>‹#›</a:t>
            </a:fld>
            <a:endParaRPr lang="en-US" altLang="en-US"/>
          </a:p>
        </p:txBody>
      </p:sp>
    </p:spTree>
    <p:extLst>
      <p:ext uri="{BB962C8B-B14F-4D97-AF65-F5344CB8AC3E}">
        <p14:creationId xmlns:p14="http://schemas.microsoft.com/office/powerpoint/2010/main" val="3203072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CCC"/>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0AAF2B6-F795-48F3-9C07-EB976860E72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8327B00-CE65-C678-591A-D94B1BFAAC65}"/>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35F313C-FB29-4A1D-8789-4CEA5BB0A75A}"/>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B1289483-A298-4BDD-A09C-43EAD0D7AE76}" type="datetimeFigureOut">
              <a:rPr lang="en-US"/>
              <a:pPr>
                <a:defRPr/>
              </a:pPr>
              <a:t>12/18/2025</a:t>
            </a:fld>
            <a:endParaRPr lang="en-US"/>
          </a:p>
        </p:txBody>
      </p:sp>
      <p:sp>
        <p:nvSpPr>
          <p:cNvPr id="5" name="Footer Placeholder 4">
            <a:extLst>
              <a:ext uri="{FF2B5EF4-FFF2-40B4-BE49-F238E27FC236}">
                <a16:creationId xmlns:a16="http://schemas.microsoft.com/office/drawing/2014/main" id="{15F60B81-2A55-898A-1CE9-85A041627FD9}"/>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DF7F2EE7-C812-A30A-43AC-A40451C8ED35}"/>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CCC60283-5AB0-4554-A020-0BA25FF460D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6.xml"/><Relationship Id="rId6" Type="http://schemas.openxmlformats.org/officeDocument/2006/relationships/oleObject" Target="../embeddings/oleObject5.bin"/><Relationship Id="rId5" Type="http://schemas.openxmlformats.org/officeDocument/2006/relationships/image" Target="../media/image4.emf"/><Relationship Id="rId4" Type="http://schemas.openxmlformats.org/officeDocument/2006/relationships/oleObject" Target="../embeddings/oleObject4.bin"/><Relationship Id="rId9" Type="http://schemas.openxmlformats.org/officeDocument/2006/relationships/image" Target="../media/image6.emf"/></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Layout" Target="../slideLayouts/slideLayout6.xml"/><Relationship Id="rId6" Type="http://schemas.openxmlformats.org/officeDocument/2006/relationships/oleObject" Target="../embeddings/oleObject9.bin"/><Relationship Id="rId5" Type="http://schemas.openxmlformats.org/officeDocument/2006/relationships/image" Target="../media/image8.emf"/><Relationship Id="rId4" Type="http://schemas.openxmlformats.org/officeDocument/2006/relationships/oleObject" Target="../embeddings/oleObject8.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0.wmf"/><Relationship Id="rId7" Type="http://schemas.openxmlformats.org/officeDocument/2006/relationships/image" Target="../media/image12.emf"/><Relationship Id="rId2" Type="http://schemas.openxmlformats.org/officeDocument/2006/relationships/oleObject" Target="../embeddings/oleObject10.bin"/><Relationship Id="rId1" Type="http://schemas.openxmlformats.org/officeDocument/2006/relationships/slideLayout" Target="../slideLayouts/slideLayout6.xml"/><Relationship Id="rId6" Type="http://schemas.openxmlformats.org/officeDocument/2006/relationships/oleObject" Target="../embeddings/oleObject12.bin"/><Relationship Id="rId11" Type="http://schemas.openxmlformats.org/officeDocument/2006/relationships/image" Target="../media/image14.emf"/><Relationship Id="rId5" Type="http://schemas.openxmlformats.org/officeDocument/2006/relationships/image" Target="../media/image11.e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AE448D15-09A6-0E6A-B609-FABE2E679E12}"/>
              </a:ext>
            </a:extLst>
          </p:cNvPr>
          <p:cNvSpPr>
            <a:spLocks noGrp="1"/>
          </p:cNvSpPr>
          <p:nvPr>
            <p:ph type="ctrTitle"/>
          </p:nvPr>
        </p:nvSpPr>
        <p:spPr/>
        <p:txBody>
          <a:bodyPr/>
          <a:lstStyle/>
          <a:p>
            <a:pPr eaLnBrk="1" hangingPunct="1"/>
            <a:r>
              <a:rPr lang="en-US" altLang="en-US"/>
              <a:t>Estimated Weighted Least Squares</a:t>
            </a:r>
          </a:p>
        </p:txBody>
      </p:sp>
      <p:sp>
        <p:nvSpPr>
          <p:cNvPr id="3" name="Subtitle 2">
            <a:extLst>
              <a:ext uri="{FF2B5EF4-FFF2-40B4-BE49-F238E27FC236}">
                <a16:creationId xmlns:a16="http://schemas.microsoft.com/office/drawing/2014/main" id="{3B2F4538-DF5D-4B7A-7CD1-83940F146CE4}"/>
              </a:ext>
            </a:extLst>
          </p:cNvPr>
          <p:cNvSpPr>
            <a:spLocks noGrp="1"/>
          </p:cNvSpPr>
          <p:nvPr>
            <p:ph type="subTitle" idx="1"/>
          </p:nvPr>
        </p:nvSpPr>
        <p:spPr/>
        <p:txBody>
          <a:bodyPr rtlCol="0">
            <a:normAutofit/>
          </a:bodyPr>
          <a:lstStyle/>
          <a:p>
            <a:pPr eaLnBrk="1" fontAlgn="auto" hangingPunct="1">
              <a:spcAft>
                <a:spcPts val="0"/>
              </a:spcAft>
              <a:defRPr/>
            </a:pPr>
            <a:r>
              <a:rPr lang="en-US" dirty="0"/>
              <a:t>Profits and Market Structure for Highly Advertising Companies</a:t>
            </a:r>
          </a:p>
          <a:p>
            <a:pPr algn="l" eaLnBrk="1" fontAlgn="auto" hangingPunct="1">
              <a:spcAft>
                <a:spcPts val="0"/>
              </a:spcAft>
              <a:defRPr/>
            </a:pPr>
            <a:endParaRPr lang="en-US" sz="1200" dirty="0"/>
          </a:p>
          <a:p>
            <a:pPr algn="l" eaLnBrk="1" fontAlgn="auto" hangingPunct="1">
              <a:spcAft>
                <a:spcPts val="0"/>
              </a:spcAft>
              <a:defRPr/>
            </a:pPr>
            <a:r>
              <a:rPr lang="en-US" sz="1200" dirty="0"/>
              <a:t>J.M. Vernon and R.E.M. </a:t>
            </a:r>
            <a:r>
              <a:rPr lang="en-US" sz="1200" dirty="0" err="1"/>
              <a:t>Nourse</a:t>
            </a:r>
            <a:r>
              <a:rPr lang="en-US" sz="1200" dirty="0"/>
              <a:t> (1973). “Profit Rates and Market Structure of Advertising Intensive Firms,” </a:t>
            </a:r>
            <a:r>
              <a:rPr lang="en-US" sz="1200" i="1" dirty="0"/>
              <a:t>The Journal of Industrial Economics</a:t>
            </a:r>
            <a:r>
              <a:rPr lang="en-US" sz="1200" dirty="0"/>
              <a:t>,  Vol. 22, #1, pp. 1-20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7D7DD-4AA1-8FF4-EB9B-7A3A1D4286A6}"/>
              </a:ext>
            </a:extLst>
          </p:cNvPr>
          <p:cNvSpPr>
            <a:spLocks noGrp="1"/>
          </p:cNvSpPr>
          <p:nvPr>
            <p:ph type="title"/>
          </p:nvPr>
        </p:nvSpPr>
        <p:spPr>
          <a:xfrm>
            <a:off x="457200" y="274638"/>
            <a:ext cx="8229600" cy="487362"/>
          </a:xfrm>
        </p:spPr>
        <p:txBody>
          <a:bodyPr rtlCol="0">
            <a:normAutofit fontScale="90000"/>
          </a:bodyPr>
          <a:lstStyle/>
          <a:p>
            <a:pPr eaLnBrk="1" fontAlgn="auto" hangingPunct="1">
              <a:spcAft>
                <a:spcPts val="0"/>
              </a:spcAft>
              <a:defRPr/>
            </a:pPr>
            <a:r>
              <a:rPr lang="en-US" dirty="0"/>
              <a:t>Data Description</a:t>
            </a:r>
          </a:p>
        </p:txBody>
      </p:sp>
      <p:sp>
        <p:nvSpPr>
          <p:cNvPr id="3" name="Content Placeholder 2">
            <a:extLst>
              <a:ext uri="{FF2B5EF4-FFF2-40B4-BE49-F238E27FC236}">
                <a16:creationId xmlns:a16="http://schemas.microsoft.com/office/drawing/2014/main" id="{2A1BC02A-21CA-FFF5-04C8-44BFE2B68886}"/>
              </a:ext>
            </a:extLst>
          </p:cNvPr>
          <p:cNvSpPr>
            <a:spLocks noGrp="1"/>
          </p:cNvSpPr>
          <p:nvPr>
            <p:ph idx="1"/>
          </p:nvPr>
        </p:nvSpPr>
        <p:spPr>
          <a:xfrm>
            <a:off x="152400" y="838200"/>
            <a:ext cx="8839200" cy="5334000"/>
          </a:xfrm>
        </p:spPr>
        <p:txBody>
          <a:bodyPr rtlCol="0">
            <a:normAutofit/>
          </a:bodyPr>
          <a:lstStyle/>
          <a:p>
            <a:pPr eaLnBrk="1" fontAlgn="auto" hangingPunct="1">
              <a:spcAft>
                <a:spcPts val="0"/>
              </a:spcAft>
              <a:defRPr/>
            </a:pPr>
            <a:r>
              <a:rPr lang="en-US" dirty="0"/>
              <a:t>n = 57 Large Advertising Intensive Firms</a:t>
            </a:r>
          </a:p>
          <a:p>
            <a:pPr eaLnBrk="1" fontAlgn="auto" hangingPunct="1">
              <a:spcAft>
                <a:spcPts val="0"/>
              </a:spcAft>
              <a:defRPr/>
            </a:pPr>
            <a:r>
              <a:rPr lang="en-US" dirty="0"/>
              <a:t>Dependent Variable: PT (averaged over 1963-1968):</a:t>
            </a:r>
          </a:p>
          <a:p>
            <a:pPr marL="0" indent="0" eaLnBrk="1" fontAlgn="auto" hangingPunct="1">
              <a:spcAft>
                <a:spcPts val="0"/>
              </a:spcAft>
              <a:buFont typeface="Arial" panose="020B0604020202020204" pitchFamily="34" charset="0"/>
              <a:buNone/>
              <a:defRPr/>
            </a:pPr>
            <a:r>
              <a:rPr lang="en-US" dirty="0"/>
              <a:t>  (net </a:t>
            </a:r>
            <a:r>
              <a:rPr lang="en-US" dirty="0" err="1"/>
              <a:t>income+interest</a:t>
            </a:r>
            <a:r>
              <a:rPr lang="en-US" dirty="0"/>
              <a:t> expense)/total assets</a:t>
            </a:r>
          </a:p>
          <a:p>
            <a:pPr eaLnBrk="1" fontAlgn="auto" hangingPunct="1">
              <a:spcAft>
                <a:spcPts val="0"/>
              </a:spcAft>
              <a:defRPr/>
            </a:pPr>
            <a:r>
              <a:rPr lang="en-US" dirty="0"/>
              <a:t>Independent Variables (Subset of the original paper’s):</a:t>
            </a:r>
          </a:p>
          <a:p>
            <a:pPr lvl="1" eaLnBrk="1" fontAlgn="auto" hangingPunct="1">
              <a:spcAft>
                <a:spcPts val="0"/>
              </a:spcAft>
              <a:defRPr/>
            </a:pPr>
            <a:r>
              <a:rPr lang="en-US" dirty="0"/>
              <a:t>DCR = 1 if firm’s average market Concentration Ratio ≥ 50, 0 otherwise (1 </a:t>
            </a:r>
            <a:r>
              <a:rPr lang="en-US" dirty="0">
                <a:sym typeface="Symbol"/>
              </a:rPr>
              <a:t></a:t>
            </a:r>
            <a:r>
              <a:rPr lang="en-US" dirty="0"/>
              <a:t> firm is in highly concentrated product areas)</a:t>
            </a:r>
          </a:p>
          <a:p>
            <a:pPr lvl="1" eaLnBrk="1" fontAlgn="auto" hangingPunct="1">
              <a:spcAft>
                <a:spcPts val="0"/>
              </a:spcAft>
              <a:defRPr/>
            </a:pPr>
            <a:r>
              <a:rPr lang="en-US" dirty="0"/>
              <a:t>AS = Average INDUSTRY Advertising/Sales Ratio</a:t>
            </a:r>
          </a:p>
          <a:p>
            <a:pPr lvl="1" eaLnBrk="1" fontAlgn="auto" hangingPunct="1">
              <a:spcAft>
                <a:spcPts val="0"/>
              </a:spcAft>
              <a:defRPr/>
            </a:pPr>
            <a:r>
              <a:rPr lang="en-US" dirty="0"/>
              <a:t>CAS = FIRM Advertising/Sales Ratio</a:t>
            </a:r>
          </a:p>
          <a:p>
            <a:pPr lvl="1" eaLnBrk="1" fontAlgn="auto" hangingPunct="1">
              <a:spcAft>
                <a:spcPts val="0"/>
              </a:spcAft>
              <a:defRPr/>
            </a:pPr>
            <a:r>
              <a:rPr lang="en-US" dirty="0"/>
              <a:t>LRSIZ = 1/</a:t>
            </a:r>
            <a:r>
              <a:rPr lang="en-US" dirty="0" err="1"/>
              <a:t>ln</a:t>
            </a:r>
            <a:r>
              <a:rPr lang="en-US" dirty="0"/>
              <a:t>(ASSETS)</a:t>
            </a:r>
          </a:p>
          <a:p>
            <a:pPr lvl="1" eaLnBrk="1" fontAlgn="auto" hangingPunct="1">
              <a:spcAft>
                <a:spcPts val="0"/>
              </a:spcAft>
              <a:defRPr/>
            </a:pPr>
            <a:r>
              <a:rPr lang="en-US" dirty="0"/>
              <a:t>SIZ = ASSETS (Used to estimate variance heterogeneity)</a:t>
            </a:r>
          </a:p>
          <a:p>
            <a:pPr eaLnBrk="1" fontAlgn="auto" hangingPunct="1">
              <a:spcAft>
                <a:spcPts val="0"/>
              </a:spcAft>
              <a:defRPr/>
            </a:pPr>
            <a:r>
              <a:rPr lang="en-US" dirty="0"/>
              <a:t>Heterogeneity Model (Larger firms ≈ many small firms): </a:t>
            </a:r>
          </a:p>
        </p:txBody>
      </p:sp>
      <p:graphicFrame>
        <p:nvGraphicFramePr>
          <p:cNvPr id="3076" name="Object 4" descr="Model of the variance of the errors as a function of fiem size">
            <a:extLst>
              <a:ext uri="{FF2B5EF4-FFF2-40B4-BE49-F238E27FC236}">
                <a16:creationId xmlns:a16="http://schemas.microsoft.com/office/drawing/2014/main" id="{A340A345-4764-A73B-03A7-90EB997CB79D}"/>
              </a:ext>
            </a:extLst>
          </p:cNvPr>
          <p:cNvGraphicFramePr>
            <a:graphicFrameLocks noChangeAspect="1"/>
          </p:cNvGraphicFramePr>
          <p:nvPr>
            <p:extLst>
              <p:ext uri="{D42A27DB-BD31-4B8C-83A1-F6EECF244321}">
                <p14:modId xmlns:p14="http://schemas.microsoft.com/office/powerpoint/2010/main" val="2405099947"/>
              </p:ext>
            </p:extLst>
          </p:nvPr>
        </p:nvGraphicFramePr>
        <p:xfrm>
          <a:off x="1333500" y="6096000"/>
          <a:ext cx="6496050" cy="533400"/>
        </p:xfrm>
        <a:graphic>
          <a:graphicData uri="http://schemas.openxmlformats.org/presentationml/2006/ole">
            <mc:AlternateContent xmlns:mc="http://schemas.openxmlformats.org/markup-compatibility/2006">
              <mc:Choice xmlns:v="urn:schemas-microsoft-com:vml" Requires="v">
                <p:oleObj name="Equation" r:id="rId2" imgW="4330700" imgH="355600" progId="Equation.DSMT4">
                  <p:embed/>
                </p:oleObj>
              </mc:Choice>
              <mc:Fallback>
                <p:oleObj name="Equation" r:id="rId2" imgW="4330700" imgH="3556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6096000"/>
                        <a:ext cx="64960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8D98-ACB7-129F-B025-2EBD3D352054}"/>
              </a:ext>
            </a:extLst>
          </p:cNvPr>
          <p:cNvSpPr>
            <a:spLocks noGrp="1"/>
          </p:cNvSpPr>
          <p:nvPr>
            <p:ph type="title"/>
          </p:nvPr>
        </p:nvSpPr>
        <p:spPr/>
        <p:txBody>
          <a:bodyPr rtlCol="0">
            <a:normAutofit fontScale="90000"/>
          </a:bodyPr>
          <a:lstStyle/>
          <a:p>
            <a:pPr eaLnBrk="1" fontAlgn="auto" hangingPunct="1">
              <a:spcAft>
                <a:spcPts val="0"/>
              </a:spcAft>
              <a:defRPr/>
            </a:pPr>
            <a:r>
              <a:rPr lang="en-US" dirty="0"/>
              <a:t>Data</a:t>
            </a:r>
          </a:p>
        </p:txBody>
      </p:sp>
      <p:graphicFrame>
        <p:nvGraphicFramePr>
          <p:cNvPr id="4099" name="Object 2" descr="Table of the data for 57 firms">
            <a:extLst>
              <a:ext uri="{FF2B5EF4-FFF2-40B4-BE49-F238E27FC236}">
                <a16:creationId xmlns:a16="http://schemas.microsoft.com/office/drawing/2014/main" id="{CCFCE833-D532-7796-1EC1-C8CFE24A8BEF}"/>
              </a:ext>
            </a:extLst>
          </p:cNvPr>
          <p:cNvGraphicFramePr>
            <a:graphicFrameLocks noChangeAspect="1"/>
          </p:cNvGraphicFramePr>
          <p:nvPr>
            <p:extLst>
              <p:ext uri="{D42A27DB-BD31-4B8C-83A1-F6EECF244321}">
                <p14:modId xmlns:p14="http://schemas.microsoft.com/office/powerpoint/2010/main" val="2863207888"/>
              </p:ext>
            </p:extLst>
          </p:nvPr>
        </p:nvGraphicFramePr>
        <p:xfrm>
          <a:off x="133350" y="1066800"/>
          <a:ext cx="8901113" cy="5486400"/>
        </p:xfrm>
        <a:graphic>
          <a:graphicData uri="http://schemas.openxmlformats.org/presentationml/2006/ole">
            <mc:AlternateContent xmlns:mc="http://schemas.openxmlformats.org/markup-compatibility/2006">
              <mc:Choice xmlns:v="urn:schemas-microsoft-com:vml" Requires="v">
                <p:oleObj name="Worksheet" r:id="rId2" imgW="9410700" imgH="5800657" progId="Excel.Sheet.8">
                  <p:embed/>
                </p:oleObj>
              </mc:Choice>
              <mc:Fallback>
                <p:oleObj name="Worksheet" r:id="rId2" imgW="9410700" imgH="5800657" progId="Excel.Shee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 y="1066800"/>
                        <a:ext cx="8901113"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02D2-F7D8-E99C-DFF4-8FF4BA30D8C6}"/>
              </a:ext>
            </a:extLst>
          </p:cNvPr>
          <p:cNvSpPr>
            <a:spLocks noGrp="1"/>
          </p:cNvSpPr>
          <p:nvPr>
            <p:ph type="title"/>
          </p:nvPr>
        </p:nvSpPr>
        <p:spPr>
          <a:xfrm>
            <a:off x="76200" y="274638"/>
            <a:ext cx="8915400" cy="639762"/>
          </a:xfrm>
        </p:spPr>
        <p:txBody>
          <a:bodyPr rtlCol="0">
            <a:normAutofit fontScale="90000"/>
          </a:bodyPr>
          <a:lstStyle/>
          <a:p>
            <a:pPr eaLnBrk="1" fontAlgn="auto" hangingPunct="1">
              <a:spcAft>
                <a:spcPts val="0"/>
              </a:spcAft>
              <a:defRPr/>
            </a:pPr>
            <a:r>
              <a:rPr lang="en-US" dirty="0"/>
              <a:t>Ordinary Least Squares Regression and Correlations</a:t>
            </a:r>
          </a:p>
        </p:txBody>
      </p:sp>
      <p:graphicFrame>
        <p:nvGraphicFramePr>
          <p:cNvPr id="5123" name="Object 3" descr="Regression statistics">
            <a:extLst>
              <a:ext uri="{FF2B5EF4-FFF2-40B4-BE49-F238E27FC236}">
                <a16:creationId xmlns:a16="http://schemas.microsoft.com/office/drawing/2014/main" id="{3C177BDA-CABD-08D5-37D5-20C561F35599}"/>
              </a:ext>
            </a:extLst>
          </p:cNvPr>
          <p:cNvGraphicFramePr>
            <a:graphicFrameLocks noChangeAspect="1"/>
          </p:cNvGraphicFramePr>
          <p:nvPr>
            <p:extLst>
              <p:ext uri="{D42A27DB-BD31-4B8C-83A1-F6EECF244321}">
                <p14:modId xmlns:p14="http://schemas.microsoft.com/office/powerpoint/2010/main" val="3251645608"/>
              </p:ext>
            </p:extLst>
          </p:nvPr>
        </p:nvGraphicFramePr>
        <p:xfrm>
          <a:off x="685800" y="1371600"/>
          <a:ext cx="1800225" cy="1552575"/>
        </p:xfrm>
        <a:graphic>
          <a:graphicData uri="http://schemas.openxmlformats.org/presentationml/2006/ole">
            <mc:AlternateContent xmlns:mc="http://schemas.openxmlformats.org/markup-compatibility/2006">
              <mc:Choice xmlns:v="urn:schemas-microsoft-com:vml" Requires="v">
                <p:oleObj name="Worksheet" r:id="rId2" imgW="1800157" imgH="1552643" progId="Excel.Sheet.8">
                  <p:embed/>
                </p:oleObj>
              </mc:Choice>
              <mc:Fallback>
                <p:oleObj name="Worksheet" r:id="rId2" imgW="1800157" imgH="1552643" progId="Excel.Shee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371600"/>
                        <a:ext cx="18002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4" name="Object 4" descr="ANOVA table with F-test">
            <a:extLst>
              <a:ext uri="{FF2B5EF4-FFF2-40B4-BE49-F238E27FC236}">
                <a16:creationId xmlns:a16="http://schemas.microsoft.com/office/drawing/2014/main" id="{0DEF3255-9DC9-D0BA-4895-CD099A387FDC}"/>
              </a:ext>
            </a:extLst>
          </p:cNvPr>
          <p:cNvGraphicFramePr>
            <a:graphicFrameLocks noChangeAspect="1"/>
          </p:cNvGraphicFramePr>
          <p:nvPr>
            <p:extLst>
              <p:ext uri="{D42A27DB-BD31-4B8C-83A1-F6EECF244321}">
                <p14:modId xmlns:p14="http://schemas.microsoft.com/office/powerpoint/2010/main" val="618779491"/>
              </p:ext>
            </p:extLst>
          </p:nvPr>
        </p:nvGraphicFramePr>
        <p:xfrm>
          <a:off x="2819400" y="1295400"/>
          <a:ext cx="5926138" cy="1371600"/>
        </p:xfrm>
        <a:graphic>
          <a:graphicData uri="http://schemas.openxmlformats.org/presentationml/2006/ole">
            <mc:AlternateContent xmlns:mc="http://schemas.openxmlformats.org/markup-compatibility/2006">
              <mc:Choice xmlns:v="urn:schemas-microsoft-com:vml" Requires="v">
                <p:oleObj name="Worksheet" r:id="rId4" imgW="4238557" imgH="981143" progId="Excel.Sheet.8">
                  <p:embed/>
                </p:oleObj>
              </mc:Choice>
              <mc:Fallback>
                <p:oleObj name="Worksheet" r:id="rId4" imgW="4238557" imgH="981143" progId="Excel.Shee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1295400"/>
                        <a:ext cx="592613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5" name="Object 5" descr="Table of regression coefficients, standard errors, t-statistics, and 95% Confidence Intervals">
            <a:extLst>
              <a:ext uri="{FF2B5EF4-FFF2-40B4-BE49-F238E27FC236}">
                <a16:creationId xmlns:a16="http://schemas.microsoft.com/office/drawing/2014/main" id="{EB048027-398A-B8B5-8942-99BD3334D95B}"/>
              </a:ext>
            </a:extLst>
          </p:cNvPr>
          <p:cNvGraphicFramePr>
            <a:graphicFrameLocks noChangeAspect="1"/>
          </p:cNvGraphicFramePr>
          <p:nvPr>
            <p:extLst>
              <p:ext uri="{D42A27DB-BD31-4B8C-83A1-F6EECF244321}">
                <p14:modId xmlns:p14="http://schemas.microsoft.com/office/powerpoint/2010/main" val="3002746814"/>
              </p:ext>
            </p:extLst>
          </p:nvPr>
        </p:nvGraphicFramePr>
        <p:xfrm>
          <a:off x="1143000" y="3276600"/>
          <a:ext cx="6172200" cy="1479550"/>
        </p:xfrm>
        <a:graphic>
          <a:graphicData uri="http://schemas.openxmlformats.org/presentationml/2006/ole">
            <mc:AlternateContent xmlns:mc="http://schemas.openxmlformats.org/markup-compatibility/2006">
              <mc:Choice xmlns:v="urn:schemas-microsoft-com:vml" Requires="v">
                <p:oleObj name="Worksheet" r:id="rId6" imgW="4848157" imgH="1162185" progId="Excel.Sheet.8">
                  <p:embed/>
                </p:oleObj>
              </mc:Choice>
              <mc:Fallback>
                <p:oleObj name="Worksheet" r:id="rId6" imgW="4848157" imgH="1162185" progId="Excel.Sheet.8">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3276600"/>
                        <a:ext cx="6172200"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6" name="Object 6" descr="Correlations among response and predictor variables">
            <a:extLst>
              <a:ext uri="{FF2B5EF4-FFF2-40B4-BE49-F238E27FC236}">
                <a16:creationId xmlns:a16="http://schemas.microsoft.com/office/drawing/2014/main" id="{ABD23C2A-38F2-FFF9-B392-0C692BFEBDF1}"/>
              </a:ext>
            </a:extLst>
          </p:cNvPr>
          <p:cNvGraphicFramePr>
            <a:graphicFrameLocks noChangeAspect="1"/>
          </p:cNvGraphicFramePr>
          <p:nvPr>
            <p:extLst>
              <p:ext uri="{D42A27DB-BD31-4B8C-83A1-F6EECF244321}">
                <p14:modId xmlns:p14="http://schemas.microsoft.com/office/powerpoint/2010/main" val="1982272074"/>
              </p:ext>
            </p:extLst>
          </p:nvPr>
        </p:nvGraphicFramePr>
        <p:xfrm>
          <a:off x="762000" y="5105400"/>
          <a:ext cx="3667125" cy="1162050"/>
        </p:xfrm>
        <a:graphic>
          <a:graphicData uri="http://schemas.openxmlformats.org/presentationml/2006/ole">
            <mc:AlternateContent xmlns:mc="http://schemas.openxmlformats.org/markup-compatibility/2006">
              <mc:Choice xmlns:v="urn:schemas-microsoft-com:vml" Requires="v">
                <p:oleObj name="Worksheet" r:id="rId8" imgW="3667057" imgH="1162185" progId="Excel.Sheet.8">
                  <p:embed/>
                </p:oleObj>
              </mc:Choice>
              <mc:Fallback>
                <p:oleObj name="Worksheet" r:id="rId8" imgW="3667057" imgH="1162185" progId="Excel.Sheet.8">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 y="5105400"/>
                        <a:ext cx="3667125"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7" name="TextBox 7">
            <a:extLst>
              <a:ext uri="{FF2B5EF4-FFF2-40B4-BE49-F238E27FC236}">
                <a16:creationId xmlns:a16="http://schemas.microsoft.com/office/drawing/2014/main" id="{1B64F573-1E03-3630-94B2-494A044A2313}"/>
              </a:ext>
            </a:extLst>
          </p:cNvPr>
          <p:cNvSpPr txBox="1">
            <a:spLocks noChangeArrowheads="1"/>
          </p:cNvSpPr>
          <p:nvPr/>
        </p:nvSpPr>
        <p:spPr bwMode="auto">
          <a:xfrm>
            <a:off x="5029200" y="4953000"/>
            <a:ext cx="36576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dirty="0"/>
              <a:t>While not all regression coefficients are significant, there is evidence that PT is higher for firms in highly concentrated markets, with high industry and firm advertising, and higher assets. (Barriers of entry)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550078-05F8-124F-999B-9B9B04A94DCB}"/>
              </a:ext>
            </a:extLst>
          </p:cNvPr>
          <p:cNvSpPr>
            <a:spLocks noGrp="1"/>
          </p:cNvSpPr>
          <p:nvPr>
            <p:ph type="title"/>
          </p:nvPr>
        </p:nvSpPr>
        <p:spPr/>
        <p:txBody>
          <a:bodyPr>
            <a:normAutofit fontScale="90000"/>
          </a:bodyPr>
          <a:lstStyle/>
          <a:p>
            <a:r>
              <a:rPr lang="en-US" dirty="0"/>
              <a:t>Plot of log of Squared Residual vs log of Size</a:t>
            </a:r>
          </a:p>
        </p:txBody>
      </p:sp>
      <p:graphicFrame>
        <p:nvGraphicFramePr>
          <p:cNvPr id="2" name="Chart 1" descr="Plot of log of squared residuals versus log of firm size with adownward sloping regression line">
            <a:extLst>
              <a:ext uri="{FF2B5EF4-FFF2-40B4-BE49-F238E27FC236}">
                <a16:creationId xmlns:a16="http://schemas.microsoft.com/office/drawing/2014/main" id="{231F20CF-AD9B-F34D-434E-81358A8AF4C5}"/>
              </a:ext>
            </a:extLst>
          </p:cNvPr>
          <p:cNvGraphicFramePr>
            <a:graphicFrameLocks noGrp="1"/>
          </p:cNvGraphicFramePr>
          <p:nvPr>
            <p:extLst>
              <p:ext uri="{D42A27DB-BD31-4B8C-83A1-F6EECF244321}">
                <p14:modId xmlns:p14="http://schemas.microsoft.com/office/powerpoint/2010/main" val="1806058839"/>
              </p:ext>
            </p:extLst>
          </p:nvPr>
        </p:nvGraphicFramePr>
        <p:xfrm>
          <a:off x="457200" y="1295400"/>
          <a:ext cx="8374459" cy="5434541"/>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2C7FF-9C1F-0148-BCA3-945711ACD6A2}"/>
              </a:ext>
            </a:extLst>
          </p:cNvPr>
          <p:cNvSpPr>
            <a:spLocks noGrp="1"/>
          </p:cNvSpPr>
          <p:nvPr>
            <p:ph type="title"/>
          </p:nvPr>
        </p:nvSpPr>
        <p:spPr>
          <a:xfrm>
            <a:off x="76200" y="274638"/>
            <a:ext cx="8991600" cy="639762"/>
          </a:xfrm>
        </p:spPr>
        <p:txBody>
          <a:bodyPr rtlCol="0">
            <a:normAutofit fontScale="90000"/>
          </a:bodyPr>
          <a:lstStyle/>
          <a:p>
            <a:pPr eaLnBrk="1" fontAlgn="auto" hangingPunct="1">
              <a:spcAft>
                <a:spcPts val="0"/>
              </a:spcAft>
              <a:defRPr/>
            </a:pPr>
            <a:r>
              <a:rPr lang="en-US" dirty="0"/>
              <a:t>Estimated Heterogeneity Model and Firm Variances </a:t>
            </a:r>
          </a:p>
        </p:txBody>
      </p:sp>
      <p:graphicFrame>
        <p:nvGraphicFramePr>
          <p:cNvPr id="7171" name="Object 2" descr="Regression model for variance of errors as a function of firm size and fitted model">
            <a:extLst>
              <a:ext uri="{FF2B5EF4-FFF2-40B4-BE49-F238E27FC236}">
                <a16:creationId xmlns:a16="http://schemas.microsoft.com/office/drawing/2014/main" id="{4A6C12DB-D4C8-37B1-A66B-77FB1BF407F9}"/>
              </a:ext>
            </a:extLst>
          </p:cNvPr>
          <p:cNvGraphicFramePr>
            <a:graphicFrameLocks noChangeAspect="1"/>
          </p:cNvGraphicFramePr>
          <p:nvPr>
            <p:extLst>
              <p:ext uri="{D42A27DB-BD31-4B8C-83A1-F6EECF244321}">
                <p14:modId xmlns:p14="http://schemas.microsoft.com/office/powerpoint/2010/main" val="3741767873"/>
              </p:ext>
            </p:extLst>
          </p:nvPr>
        </p:nvGraphicFramePr>
        <p:xfrm>
          <a:off x="104775" y="990600"/>
          <a:ext cx="5983288" cy="1419225"/>
        </p:xfrm>
        <a:graphic>
          <a:graphicData uri="http://schemas.openxmlformats.org/presentationml/2006/ole">
            <mc:AlternateContent xmlns:mc="http://schemas.openxmlformats.org/markup-compatibility/2006">
              <mc:Choice xmlns:v="urn:schemas-microsoft-com:vml" Requires="v">
                <p:oleObj name="Equation" r:id="rId2" imgW="4660560" imgH="1104840" progId="Equation.DSMT4">
                  <p:embed/>
                </p:oleObj>
              </mc:Choice>
              <mc:Fallback>
                <p:oleObj name="Equation" r:id="rId2" imgW="4660560" imgH="110484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 y="990600"/>
                        <a:ext cx="5983288"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2" name="Object 3" descr="Regression coefficients, standard errors, t-statistics for regression of log of squared residuals on log of firm size">
            <a:extLst>
              <a:ext uri="{FF2B5EF4-FFF2-40B4-BE49-F238E27FC236}">
                <a16:creationId xmlns:a16="http://schemas.microsoft.com/office/drawing/2014/main" id="{201E37E6-0A65-0FA7-42EC-31158B6DCE58}"/>
              </a:ext>
            </a:extLst>
          </p:cNvPr>
          <p:cNvGraphicFramePr>
            <a:graphicFrameLocks noChangeAspect="1"/>
          </p:cNvGraphicFramePr>
          <p:nvPr>
            <p:extLst>
              <p:ext uri="{D42A27DB-BD31-4B8C-83A1-F6EECF244321}">
                <p14:modId xmlns:p14="http://schemas.microsoft.com/office/powerpoint/2010/main" val="324937843"/>
              </p:ext>
            </p:extLst>
          </p:nvPr>
        </p:nvGraphicFramePr>
        <p:xfrm>
          <a:off x="5791200" y="1371600"/>
          <a:ext cx="3124200" cy="603250"/>
        </p:xfrm>
        <a:graphic>
          <a:graphicData uri="http://schemas.openxmlformats.org/presentationml/2006/ole">
            <mc:AlternateContent xmlns:mc="http://schemas.openxmlformats.org/markup-compatibility/2006">
              <mc:Choice xmlns:v="urn:schemas-microsoft-com:vml" Requires="v">
                <p:oleObj name="Worksheet" r:id="rId4" imgW="3057457" imgH="590685" progId="Excel.Sheet.8">
                  <p:embed/>
                </p:oleObj>
              </mc:Choice>
              <mc:Fallback>
                <p:oleObj name="Worksheet" r:id="rId4" imgW="3057457" imgH="590685" progId="Excel.Shee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371600"/>
                        <a:ext cx="31242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3" name="Object 4" descr="Table of firm size and estimated variance of error term for 57 firms">
            <a:extLst>
              <a:ext uri="{FF2B5EF4-FFF2-40B4-BE49-F238E27FC236}">
                <a16:creationId xmlns:a16="http://schemas.microsoft.com/office/drawing/2014/main" id="{046113BA-CF92-8286-6C56-EAC352E57E83}"/>
              </a:ext>
            </a:extLst>
          </p:cNvPr>
          <p:cNvGraphicFramePr>
            <a:graphicFrameLocks noChangeAspect="1"/>
          </p:cNvGraphicFramePr>
          <p:nvPr>
            <p:extLst>
              <p:ext uri="{D42A27DB-BD31-4B8C-83A1-F6EECF244321}">
                <p14:modId xmlns:p14="http://schemas.microsoft.com/office/powerpoint/2010/main" val="3152991979"/>
              </p:ext>
            </p:extLst>
          </p:nvPr>
        </p:nvGraphicFramePr>
        <p:xfrm>
          <a:off x="371475" y="2743200"/>
          <a:ext cx="8372475" cy="3952875"/>
        </p:xfrm>
        <a:graphic>
          <a:graphicData uri="http://schemas.openxmlformats.org/presentationml/2006/ole">
            <mc:AlternateContent xmlns:mc="http://schemas.openxmlformats.org/markup-compatibility/2006">
              <mc:Choice xmlns:v="urn:schemas-microsoft-com:vml" Requires="v">
                <p:oleObj name="Worksheet" r:id="rId6" imgW="8210514" imgH="3876739" progId="Excel.Sheet.8">
                  <p:embed/>
                </p:oleObj>
              </mc:Choice>
              <mc:Fallback>
                <p:oleObj name="Worksheet" r:id="rId6" imgW="8210514" imgH="3876739" progId="Excel.Sheet.8">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1475" y="2743200"/>
                        <a:ext cx="8372475"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FB82-CB40-235C-3197-69CFFD5DB49D}"/>
              </a:ext>
            </a:extLst>
          </p:cNvPr>
          <p:cNvSpPr>
            <a:spLocks noGrp="1"/>
          </p:cNvSpPr>
          <p:nvPr>
            <p:ph type="title"/>
          </p:nvPr>
        </p:nvSpPr>
        <p:spPr/>
        <p:txBody>
          <a:bodyPr rtlCol="0">
            <a:normAutofit fontScale="90000"/>
          </a:bodyPr>
          <a:lstStyle/>
          <a:p>
            <a:pPr eaLnBrk="1" fontAlgn="auto" hangingPunct="1">
              <a:spcAft>
                <a:spcPts val="0"/>
              </a:spcAft>
              <a:defRPr/>
            </a:pPr>
            <a:r>
              <a:rPr lang="en-US" dirty="0"/>
              <a:t>Estimated Weighted Least Squares Estimator </a:t>
            </a:r>
          </a:p>
        </p:txBody>
      </p:sp>
      <p:graphicFrame>
        <p:nvGraphicFramePr>
          <p:cNvPr id="8195" name="Object 2" descr="Weight matrix for transforminy=g X matrix and Y vector for Estimated Weighted Least Square (EWLS) regression">
            <a:extLst>
              <a:ext uri="{FF2B5EF4-FFF2-40B4-BE49-F238E27FC236}">
                <a16:creationId xmlns:a16="http://schemas.microsoft.com/office/drawing/2014/main" id="{91ABE2A4-2F6C-19C3-F39B-79ED8E88B2F9}"/>
              </a:ext>
            </a:extLst>
          </p:cNvPr>
          <p:cNvGraphicFramePr>
            <a:graphicFrameLocks noChangeAspect="1"/>
          </p:cNvGraphicFramePr>
          <p:nvPr>
            <p:extLst>
              <p:ext uri="{D42A27DB-BD31-4B8C-83A1-F6EECF244321}">
                <p14:modId xmlns:p14="http://schemas.microsoft.com/office/powerpoint/2010/main" val="2378984185"/>
              </p:ext>
            </p:extLst>
          </p:nvPr>
        </p:nvGraphicFramePr>
        <p:xfrm>
          <a:off x="152400" y="1219200"/>
          <a:ext cx="3886200" cy="2795588"/>
        </p:xfrm>
        <a:graphic>
          <a:graphicData uri="http://schemas.openxmlformats.org/presentationml/2006/ole">
            <mc:AlternateContent xmlns:mc="http://schemas.openxmlformats.org/markup-compatibility/2006">
              <mc:Choice xmlns:v="urn:schemas-microsoft-com:vml" Requires="v">
                <p:oleObj name="Equation" r:id="rId2" imgW="3530520" imgH="2539800" progId="Equation.DSMT4">
                  <p:embed/>
                </p:oleObj>
              </mc:Choice>
              <mc:Fallback>
                <p:oleObj name="Equation" r:id="rId2" imgW="3530520" imgH="25398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19200"/>
                        <a:ext cx="3886200" cy="279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6" name="Object 4" descr="Computation used in obtaining EWLS regression estimate">
            <a:extLst>
              <a:ext uri="{FF2B5EF4-FFF2-40B4-BE49-F238E27FC236}">
                <a16:creationId xmlns:a16="http://schemas.microsoft.com/office/drawing/2014/main" id="{FB3A855B-DF0B-5AE5-770F-E3A57F7B6076}"/>
              </a:ext>
            </a:extLst>
          </p:cNvPr>
          <p:cNvGraphicFramePr>
            <a:graphicFrameLocks noChangeAspect="1"/>
          </p:cNvGraphicFramePr>
          <p:nvPr>
            <p:extLst>
              <p:ext uri="{D42A27DB-BD31-4B8C-83A1-F6EECF244321}">
                <p14:modId xmlns:p14="http://schemas.microsoft.com/office/powerpoint/2010/main" val="1587407902"/>
              </p:ext>
            </p:extLst>
          </p:nvPr>
        </p:nvGraphicFramePr>
        <p:xfrm>
          <a:off x="4876800" y="990600"/>
          <a:ext cx="3581400" cy="1304925"/>
        </p:xfrm>
        <a:graphic>
          <a:graphicData uri="http://schemas.openxmlformats.org/presentationml/2006/ole">
            <mc:AlternateContent xmlns:mc="http://schemas.openxmlformats.org/markup-compatibility/2006">
              <mc:Choice xmlns:v="urn:schemas-microsoft-com:vml" Requires="v">
                <p:oleObj name="Worksheet" r:id="rId4" imgW="3162300" imgH="1152457" progId="Excel.Sheet.8">
                  <p:embed/>
                </p:oleObj>
              </mc:Choice>
              <mc:Fallback>
                <p:oleObj name="Worksheet" r:id="rId4" imgW="3162300" imgH="1152457" progId="Excel.Shee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990600"/>
                        <a:ext cx="35814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7" name="Object 5" descr="Computation used in obtaining EWLS regression estimate and the EWLS estimate">
            <a:extLst>
              <a:ext uri="{FF2B5EF4-FFF2-40B4-BE49-F238E27FC236}">
                <a16:creationId xmlns:a16="http://schemas.microsoft.com/office/drawing/2014/main" id="{91EF6BE6-F488-6F88-8BBF-BF01A46BC54B}"/>
              </a:ext>
            </a:extLst>
          </p:cNvPr>
          <p:cNvGraphicFramePr>
            <a:graphicFrameLocks noChangeAspect="1"/>
          </p:cNvGraphicFramePr>
          <p:nvPr>
            <p:extLst>
              <p:ext uri="{D42A27DB-BD31-4B8C-83A1-F6EECF244321}">
                <p14:modId xmlns:p14="http://schemas.microsoft.com/office/powerpoint/2010/main" val="3570511726"/>
              </p:ext>
            </p:extLst>
          </p:nvPr>
        </p:nvGraphicFramePr>
        <p:xfrm>
          <a:off x="5029200" y="2438400"/>
          <a:ext cx="2362200" cy="1481138"/>
        </p:xfrm>
        <a:graphic>
          <a:graphicData uri="http://schemas.openxmlformats.org/presentationml/2006/ole">
            <mc:AlternateContent xmlns:mc="http://schemas.openxmlformats.org/markup-compatibility/2006">
              <mc:Choice xmlns:v="urn:schemas-microsoft-com:vml" Requires="v">
                <p:oleObj name="Worksheet" r:id="rId6" imgW="1838257" imgH="1152457" progId="Excel.Sheet.8">
                  <p:embed/>
                </p:oleObj>
              </mc:Choice>
              <mc:Fallback>
                <p:oleObj name="Worksheet" r:id="rId6" imgW="1838257" imgH="1152457" progId="Excel.Sheet.8">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2438400"/>
                        <a:ext cx="2362200"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8" name="Object 6" descr="Estimated residual variance and Variance-covariance matrix for EWLS regression estimate">
            <a:extLst>
              <a:ext uri="{FF2B5EF4-FFF2-40B4-BE49-F238E27FC236}">
                <a16:creationId xmlns:a16="http://schemas.microsoft.com/office/drawing/2014/main" id="{61CF9161-CC2E-1013-A635-2E2FE57A56FD}"/>
              </a:ext>
            </a:extLst>
          </p:cNvPr>
          <p:cNvGraphicFramePr>
            <a:graphicFrameLocks noChangeAspect="1"/>
          </p:cNvGraphicFramePr>
          <p:nvPr>
            <p:extLst>
              <p:ext uri="{D42A27DB-BD31-4B8C-83A1-F6EECF244321}">
                <p14:modId xmlns:p14="http://schemas.microsoft.com/office/powerpoint/2010/main" val="1902436498"/>
              </p:ext>
            </p:extLst>
          </p:nvPr>
        </p:nvGraphicFramePr>
        <p:xfrm>
          <a:off x="152400" y="4419600"/>
          <a:ext cx="4114800" cy="1082675"/>
        </p:xfrm>
        <a:graphic>
          <a:graphicData uri="http://schemas.openxmlformats.org/presentationml/2006/ole">
            <mc:AlternateContent xmlns:mc="http://schemas.openxmlformats.org/markup-compatibility/2006">
              <mc:Choice xmlns:v="urn:schemas-microsoft-com:vml" Requires="v">
                <p:oleObj name="Worksheet" r:id="rId8" imgW="4381500" imgH="1152457" progId="Excel.Sheet.8">
                  <p:embed/>
                </p:oleObj>
              </mc:Choice>
              <mc:Fallback>
                <p:oleObj name="Worksheet" r:id="rId8" imgW="4381500" imgH="1152457" progId="Excel.Sheet.8">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 y="4419600"/>
                        <a:ext cx="41148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9" name="Object 7" descr="EWLS regression coefficient estimates, standard errors and t-tests">
            <a:extLst>
              <a:ext uri="{FF2B5EF4-FFF2-40B4-BE49-F238E27FC236}">
                <a16:creationId xmlns:a16="http://schemas.microsoft.com/office/drawing/2014/main" id="{35A8E147-6FBD-FD0F-6A2E-1031F53C7F4B}"/>
              </a:ext>
            </a:extLst>
          </p:cNvPr>
          <p:cNvGraphicFramePr>
            <a:graphicFrameLocks noChangeAspect="1"/>
          </p:cNvGraphicFramePr>
          <p:nvPr>
            <p:extLst>
              <p:ext uri="{D42A27DB-BD31-4B8C-83A1-F6EECF244321}">
                <p14:modId xmlns:p14="http://schemas.microsoft.com/office/powerpoint/2010/main" val="316908909"/>
              </p:ext>
            </p:extLst>
          </p:nvPr>
        </p:nvGraphicFramePr>
        <p:xfrm>
          <a:off x="4572000" y="4495800"/>
          <a:ext cx="4305300" cy="1568450"/>
        </p:xfrm>
        <a:graphic>
          <a:graphicData uri="http://schemas.openxmlformats.org/presentationml/2006/ole">
            <mc:AlternateContent xmlns:mc="http://schemas.openxmlformats.org/markup-compatibility/2006">
              <mc:Choice xmlns:v="urn:schemas-microsoft-com:vml" Requires="v">
                <p:oleObj name="Worksheet" r:id="rId10" imgW="3162300" imgH="1152457" progId="Excel.Sheet.8">
                  <p:embed/>
                </p:oleObj>
              </mc:Choice>
              <mc:Fallback>
                <p:oleObj name="Worksheet" r:id="rId10" imgW="3162300" imgH="1152457" progId="Excel.Sheet.8">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4495800"/>
                        <a:ext cx="43053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247</Words>
  <Application>Microsoft Office PowerPoint</Application>
  <PresentationFormat>On-screen Show (4:3)</PresentationFormat>
  <Paragraphs>24</Paragraphs>
  <Slides>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7</vt:i4>
      </vt:variant>
    </vt:vector>
  </HeadingPairs>
  <TitlesOfParts>
    <vt:vector size="14" baseType="lpstr">
      <vt:lpstr>Arial</vt:lpstr>
      <vt:lpstr>Calibri</vt:lpstr>
      <vt:lpstr>Symbol</vt:lpstr>
      <vt:lpstr>Wingdings</vt:lpstr>
      <vt:lpstr>Office Theme</vt:lpstr>
      <vt:lpstr>Equation</vt:lpstr>
      <vt:lpstr>Worksheet</vt:lpstr>
      <vt:lpstr>Estimated Weighted Least Squares</vt:lpstr>
      <vt:lpstr>Data Description</vt:lpstr>
      <vt:lpstr>Data</vt:lpstr>
      <vt:lpstr>Ordinary Least Squares Regression and Correlations</vt:lpstr>
      <vt:lpstr>Plot of log of Squared Residual vs log of Size</vt:lpstr>
      <vt:lpstr>Estimated Heterogeneity Model and Firm Variances </vt:lpstr>
      <vt:lpstr>Estimated Weighted Least Squares Estimator </vt:lpstr>
    </vt:vector>
  </TitlesOfParts>
  <Company>UF College of Liberal Arts &amp;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Estimated Weighted Least Squares</dc:title>
  <dc:creator>Winner,Lawrence Herman</dc:creator>
  <cp:lastModifiedBy>Winner,Lawrence Herman</cp:lastModifiedBy>
  <cp:revision>26</cp:revision>
  <dcterms:created xsi:type="dcterms:W3CDTF">2011-11-17T19:08:48Z</dcterms:created>
  <dcterms:modified xsi:type="dcterms:W3CDTF">2025-12-18T14:17:25Z</dcterms:modified>
</cp:coreProperties>
</file>