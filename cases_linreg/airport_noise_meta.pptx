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>
            <a:lvl1pPr>
              <a:defRPr sz="2800"/>
            </a:lvl1pPr>
            <a:lvl2pPr marL="742950" indent="-285750">
              <a:buFont typeface="Wingdings" panose="05000000000000000000" pitchFamily="2" charset="2"/>
              <a:buChar char="§"/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2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0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6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D2FB0-B5F2-4CB4-99FF-76A19873983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4AAF4-4753-4445-8B9E-2DF957601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0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3.xlsx"/><Relationship Id="rId13" Type="http://schemas.openxmlformats.org/officeDocument/2006/relationships/image" Target="../media/image9.wmf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oleObject" Target="../embeddings/oleObject5.bin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Worksheet2.xlsx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Relationship Id="rId14" Type="http://schemas.openxmlformats.org/officeDocument/2006/relationships/package" Target="../embeddings/Microsoft_Excel_Worksheet4.xls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5.xls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8.xlsx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Worksheet7.xlsx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9.xlsx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package" Target="../embeddings/Microsoft_Excel_Worksheet10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Meta-Analysis and Meta-Regression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Airport Noise and Home Values</a:t>
            </a:r>
          </a:p>
          <a:p>
            <a:endParaRPr lang="en-US" dirty="0"/>
          </a:p>
          <a:p>
            <a:pPr algn="l"/>
            <a:r>
              <a:rPr lang="en-US" sz="1400" dirty="0"/>
              <a:t>J.P. Nelson (2004). “Meta-Analysis of Airport Noise and Hedonic  Property Values: Problems and Prospects,” </a:t>
            </a:r>
            <a:r>
              <a:rPr lang="en-US" sz="1400" i="1" dirty="0"/>
              <a:t>Journal of Transport Economics and Policy</a:t>
            </a:r>
            <a:r>
              <a:rPr lang="en-US" sz="1400" dirty="0"/>
              <a:t>, Vol. 38, Part 1, pp. 1-28.</a:t>
            </a:r>
          </a:p>
        </p:txBody>
      </p:sp>
    </p:spTree>
    <p:extLst>
      <p:ext uri="{BB962C8B-B14F-4D97-AF65-F5344CB8AC3E}">
        <p14:creationId xmlns:p14="http://schemas.microsoft.com/office/powerpoint/2010/main" val="342305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Results from 20 Studies (containing 33 separate estimates), relating home prices to airport noise. All studies in US and Canada, from 1967 to present</a:t>
            </a:r>
          </a:p>
          <a:p>
            <a:r>
              <a:rPr lang="en-US" dirty="0"/>
              <a:t>Regressions control for other factors including: structural variables (e.g. size), locational variables, local taxes, government services, and environmental quality.</a:t>
            </a:r>
          </a:p>
          <a:p>
            <a:r>
              <a:rPr lang="en-US" dirty="0"/>
              <a:t>Primary Variable: Noise Depreciation Index (NDI) and its Regression coefficient (effect of increasing airport noise by 1 decibel on house cost). Positive coefficient implies that as noise increases, home value decreases. The units are percent depreciation.</a:t>
            </a:r>
          </a:p>
        </p:txBody>
      </p:sp>
    </p:spTree>
    <p:extLst>
      <p:ext uri="{BB962C8B-B14F-4D97-AF65-F5344CB8AC3E}">
        <p14:creationId xmlns:p14="http://schemas.microsoft.com/office/powerpoint/2010/main" val="292266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Study Specific Variables /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each study (with several exceptions), there are:</a:t>
            </a:r>
          </a:p>
          <a:p>
            <a:pPr lvl="1"/>
            <a:r>
              <a:rPr lang="en-US" dirty="0"/>
              <a:t>Noise Depreciation Index (NDI) and its estimated standard error</a:t>
            </a:r>
          </a:p>
          <a:p>
            <a:pPr lvl="1"/>
            <a:r>
              <a:rPr lang="en-US" dirty="0"/>
              <a:t>Mean Real Property Value (Year 2000, US $1000s)</a:t>
            </a:r>
          </a:p>
          <a:p>
            <a:pPr lvl="1"/>
            <a:r>
              <a:rPr lang="en-US" dirty="0"/>
              <a:t>An indicator of whether accessibility (to airport) adjustment was made (1 if No Adjustment, 0 if Adjustment was made)</a:t>
            </a:r>
          </a:p>
          <a:p>
            <a:pPr lvl="1"/>
            <a:r>
              <a:rPr lang="en-US" dirty="0"/>
              <a:t>Sample Size (log scale)</a:t>
            </a:r>
          </a:p>
          <a:p>
            <a:pPr lvl="1"/>
            <a:r>
              <a:rPr lang="en-US" dirty="0"/>
              <a:t>Indicator of whether the response (price) scale was linear   (1 if Linear, 0 if Log)</a:t>
            </a:r>
          </a:p>
          <a:p>
            <a:pPr lvl="1"/>
            <a:r>
              <a:rPr lang="en-US" dirty="0"/>
              <a:t>Indicator of whether airport was in Canada (1 if Canada, 0 if US)</a:t>
            </a:r>
          </a:p>
          <a:p>
            <a:r>
              <a:rPr lang="en-US" dirty="0"/>
              <a:t>Models Considered</a:t>
            </a:r>
          </a:p>
          <a:p>
            <a:pPr lvl="1"/>
            <a:r>
              <a:rPr lang="en-US" dirty="0"/>
              <a:t>Fixed and Random Effects Meta-Analyses with no covariates</a:t>
            </a:r>
          </a:p>
          <a:p>
            <a:pPr lvl="1"/>
            <a:r>
              <a:rPr lang="en-US" dirty="0"/>
              <a:t>Meta-Regressions with predictors: Ordinary Least Squares with robust standard errors and Weighted Least squares</a:t>
            </a:r>
          </a:p>
        </p:txBody>
      </p:sp>
    </p:spTree>
    <p:extLst>
      <p:ext uri="{BB962C8B-B14F-4D97-AF65-F5344CB8AC3E}">
        <p14:creationId xmlns:p14="http://schemas.microsoft.com/office/powerpoint/2010/main" val="111794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3" name="Object 2" descr="Datase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392954"/>
              </p:ext>
            </p:extLst>
          </p:nvPr>
        </p:nvGraphicFramePr>
        <p:xfrm>
          <a:off x="1219200" y="685800"/>
          <a:ext cx="5329888" cy="602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34185" imgH="6486457" progId="Excel.Sheet.12">
                  <p:embed/>
                </p:oleObj>
              </mc:Choice>
              <mc:Fallback>
                <p:oleObj name="Worksheet" r:id="rId2" imgW="5734185" imgH="6486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9200" y="685800"/>
                        <a:ext cx="5329888" cy="602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62800" y="1524000"/>
            <a:ext cx="144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Due to missing data, analyses will be based on only 31 or 29 airports.</a:t>
            </a:r>
          </a:p>
        </p:txBody>
      </p:sp>
    </p:spTree>
    <p:extLst>
      <p:ext uri="{BB962C8B-B14F-4D97-AF65-F5344CB8AC3E}">
        <p14:creationId xmlns:p14="http://schemas.microsoft.com/office/powerpoint/2010/main" val="262067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Meta-Analysis with No Covariates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Effects Model – Assumes that each airport has the same true NDI, and that all variation is due to sampling error</a:t>
            </a:r>
          </a:p>
          <a:p>
            <a:r>
              <a:rPr lang="en-US" dirty="0"/>
              <a:t>Random Effects Model – Allows true NDIs to vary among airports along some assumed Normal Distribution.</a:t>
            </a:r>
          </a:p>
          <a:p>
            <a:r>
              <a:rPr lang="en-US" dirty="0"/>
              <a:t>Test for Homogeneity (Fixed Effects) can be conducted after estimating the mean (Hedges and </a:t>
            </a:r>
            <a:r>
              <a:rPr lang="en-US" dirty="0" err="1"/>
              <a:t>Olkin</a:t>
            </a:r>
            <a:r>
              <a:rPr lang="en-US" dirty="0"/>
              <a:t>, 1985, pp.122-123).</a:t>
            </a:r>
          </a:p>
        </p:txBody>
      </p:sp>
      <p:graphicFrame>
        <p:nvGraphicFramePr>
          <p:cNvPr id="4" name="Object 3" descr="Description of data and standard err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93392"/>
              </p:ext>
            </p:extLst>
          </p:nvPr>
        </p:nvGraphicFramePr>
        <p:xfrm>
          <a:off x="522288" y="5624513"/>
          <a:ext cx="79851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00600" imgH="253800" progId="Equation.DSMT4">
                  <p:embed/>
                </p:oleObj>
              </mc:Choice>
              <mc:Fallback>
                <p:oleObj name="Equation" r:id="rId2" imgW="4800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2288" y="5624513"/>
                        <a:ext cx="7985125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598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and Tests</a:t>
            </a:r>
          </a:p>
        </p:txBody>
      </p:sp>
      <p:graphicFrame>
        <p:nvGraphicFramePr>
          <p:cNvPr id="3" name="Object 2" descr="Description of estimators and tes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706418"/>
              </p:ext>
            </p:extLst>
          </p:nvPr>
        </p:nvGraphicFramePr>
        <p:xfrm>
          <a:off x="541338" y="990600"/>
          <a:ext cx="7708900" cy="547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46640" imgH="4368600" progId="Equation.DSMT4">
                  <p:embed/>
                </p:oleObj>
              </mc:Choice>
              <mc:Fallback>
                <p:oleObj name="Equation" r:id="rId2" imgW="6146640" imgH="436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338" y="990600"/>
                        <a:ext cx="7708900" cy="547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10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and Tests - Results</a:t>
            </a:r>
          </a:p>
        </p:txBody>
      </p:sp>
      <p:graphicFrame>
        <p:nvGraphicFramePr>
          <p:cNvPr id="5" name="Object 4" descr="Data, weights and calculation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275640"/>
              </p:ext>
            </p:extLst>
          </p:nvPr>
        </p:nvGraphicFramePr>
        <p:xfrm>
          <a:off x="381000" y="1143000"/>
          <a:ext cx="2766894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057" imgH="6867457" progId="Excel.Sheet.12">
                  <p:embed/>
                </p:oleObj>
              </mc:Choice>
              <mc:Fallback>
                <p:oleObj name="Worksheet" r:id="rId2" imgW="3667057" imgH="6867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2766894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Fixed effects estimate and standard err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71693"/>
              </p:ext>
            </p:extLst>
          </p:nvPr>
        </p:nvGraphicFramePr>
        <p:xfrm>
          <a:off x="3505200" y="990600"/>
          <a:ext cx="499872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640" imgH="444240" progId="Equation.DSMT4">
                  <p:embed/>
                </p:oleObj>
              </mc:Choice>
              <mc:Fallback>
                <p:oleObj name="Equation" r:id="rId4" imgW="364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5200" y="990600"/>
                        <a:ext cx="499872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95% Confidence Interval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48391"/>
              </p:ext>
            </p:extLst>
          </p:nvPr>
        </p:nvGraphicFramePr>
        <p:xfrm>
          <a:off x="4191000" y="1828800"/>
          <a:ext cx="334350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447857" imgH="390457" progId="Excel.Sheet.12">
                  <p:embed/>
                </p:oleObj>
              </mc:Choice>
              <mc:Fallback>
                <p:oleObj name="Worksheet" r:id="rId6" imgW="2447857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1000" y="1828800"/>
                        <a:ext cx="3343507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Q-statistic, critical value, P-valu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353962"/>
              </p:ext>
            </p:extLst>
          </p:nvPr>
        </p:nvGraphicFramePr>
        <p:xfrm>
          <a:off x="3733800" y="2667000"/>
          <a:ext cx="3810000" cy="7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2076585" imgH="390457" progId="Excel.Sheet.12">
                  <p:embed/>
                </p:oleObj>
              </mc:Choice>
              <mc:Fallback>
                <p:oleObj name="Worksheet" r:id="rId8" imgW="2076585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33800" y="2667000"/>
                        <a:ext cx="3810000" cy="71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Random effects calculat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128446"/>
              </p:ext>
            </p:extLst>
          </p:nvPr>
        </p:nvGraphicFramePr>
        <p:xfrm>
          <a:off x="3429000" y="3657600"/>
          <a:ext cx="5180076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24000" imgH="634680" progId="Equation.DSMT4">
                  <p:embed/>
                </p:oleObj>
              </mc:Choice>
              <mc:Fallback>
                <p:oleObj name="Equation" r:id="rId10" imgW="3924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29000" y="3657600"/>
                        <a:ext cx="5180076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Random effects mean and standard err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637632"/>
              </p:ext>
            </p:extLst>
          </p:nvPr>
        </p:nvGraphicFramePr>
        <p:xfrm>
          <a:off x="3665538" y="4953000"/>
          <a:ext cx="4981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32040" imgH="444240" progId="Equation.DSMT4">
                  <p:embed/>
                </p:oleObj>
              </mc:Choice>
              <mc:Fallback>
                <p:oleObj name="Equation" r:id="rId12" imgW="363204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4953000"/>
                        <a:ext cx="49815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95% Confidence Interval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258380"/>
              </p:ext>
            </p:extLst>
          </p:nvPr>
        </p:nvGraphicFramePr>
        <p:xfrm>
          <a:off x="4191000" y="5867400"/>
          <a:ext cx="3352800" cy="534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4" imgW="2447857" imgH="390457" progId="Excel.Sheet.12">
                  <p:embed/>
                </p:oleObj>
              </mc:Choice>
              <mc:Fallback>
                <p:oleObj name="Worksheet" r:id="rId14" imgW="2447857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91000" y="5867400"/>
                        <a:ext cx="3352800" cy="534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5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Meta-Regressions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Regressions to determine which (if any) factors are associated with NDI</a:t>
            </a:r>
          </a:p>
          <a:p>
            <a:r>
              <a:rPr lang="en-US" dirty="0"/>
              <a:t>Three Models Fit:</a:t>
            </a:r>
          </a:p>
          <a:p>
            <a:pPr lvl="1"/>
            <a:r>
              <a:rPr lang="en-US" dirty="0"/>
              <a:t>Ordinary Least Squares with robust standard errors (White’s </a:t>
            </a:r>
            <a:r>
              <a:rPr lang="en-US" dirty="0" err="1"/>
              <a:t>heteroscedastic</a:t>
            </a:r>
            <a:r>
              <a:rPr lang="en-US" dirty="0"/>
              <a:t>-consistent standard errors)</a:t>
            </a:r>
          </a:p>
          <a:p>
            <a:pPr lvl="1"/>
            <a:r>
              <a:rPr lang="en-US" dirty="0"/>
              <a:t>Weighted Least Squares with weights equal to the inverse variance of the NDI: 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i="1" baseline="-25000" dirty="0"/>
              <a:t> </a:t>
            </a:r>
            <a:r>
              <a:rPr lang="en-US" dirty="0"/>
              <a:t>= 1/s</a:t>
            </a:r>
            <a:r>
              <a:rPr lang="en-US" baseline="30000" dirty="0"/>
              <a:t>2</a:t>
            </a:r>
            <a:r>
              <a:rPr lang="en-US" dirty="0"/>
              <a:t>{d</a:t>
            </a:r>
            <a:r>
              <a:rPr lang="en-US" baseline="-25000" dirty="0"/>
              <a:t>i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Weighted Least Squares with weights equal to the inverse standard error of the NDI: 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i="1" baseline="-25000" dirty="0"/>
              <a:t> </a:t>
            </a:r>
            <a:r>
              <a:rPr lang="en-US" dirty="0"/>
              <a:t>= 1/s{d</a:t>
            </a:r>
            <a:r>
              <a:rPr lang="en-US" baseline="-25000" dirty="0"/>
              <a:t>i</a:t>
            </a:r>
            <a:r>
              <a:rPr lang="en-US" dirty="0"/>
              <a:t>}</a:t>
            </a:r>
          </a:p>
          <a:p>
            <a:r>
              <a:rPr lang="en-US" dirty="0"/>
              <a:t>Model 1 based on k = 31 airports (2 have no Mean property values)</a:t>
            </a:r>
          </a:p>
          <a:p>
            <a:r>
              <a:rPr lang="en-US" dirty="0"/>
              <a:t>Models 2 and 3 based on k = 29 airports (2 have no weights)</a:t>
            </a:r>
          </a:p>
        </p:txBody>
      </p:sp>
    </p:spTree>
    <p:extLst>
      <p:ext uri="{BB962C8B-B14F-4D97-AF65-F5344CB8AC3E}">
        <p14:creationId xmlns:p14="http://schemas.microsoft.com/office/powerpoint/2010/main" val="61724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Specification Tests Conducted on Models -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3124200"/>
          </a:xfrm>
        </p:spPr>
        <p:txBody>
          <a:bodyPr>
            <a:normAutofit/>
          </a:bodyPr>
          <a:lstStyle/>
          <a:p>
            <a:r>
              <a:rPr lang="en-US" dirty="0"/>
              <a:t>Ramsey’s RESET Test – Used to test whether the model is correctly specified and does not involve any nonlinearities among the </a:t>
            </a:r>
            <a:r>
              <a:rPr lang="en-US" dirty="0" err="1"/>
              <a:t>regressors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Step 1: Fit the Original Regression with all Predictors</a:t>
            </a:r>
          </a:p>
          <a:p>
            <a:pPr lvl="1"/>
            <a:r>
              <a:rPr lang="en-US" dirty="0"/>
              <a:t>Step 2: Fit Regression with same predictors and squared (and possibly higher order) fitted values from first model.</a:t>
            </a:r>
          </a:p>
          <a:p>
            <a:pPr lvl="1"/>
            <a:r>
              <a:rPr lang="en-US" dirty="0"/>
              <a:t>Conduct F-test or t-test on polynomial fitted value(s)</a:t>
            </a:r>
          </a:p>
        </p:txBody>
      </p:sp>
      <p:graphicFrame>
        <p:nvGraphicFramePr>
          <p:cNvPr id="4" name="Object 3" descr="Description of Ramsey's RESET test procedur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733822"/>
              </p:ext>
            </p:extLst>
          </p:nvPr>
        </p:nvGraphicFramePr>
        <p:xfrm>
          <a:off x="381000" y="4190999"/>
          <a:ext cx="8229600" cy="251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720" imgH="2133360" progId="Equation.DSMT4">
                  <p:embed/>
                </p:oleObj>
              </mc:Choice>
              <mc:Fallback>
                <p:oleObj name="Equation" r:id="rId2" imgW="6984720" imgH="2133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4190999"/>
                        <a:ext cx="8229600" cy="251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3553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Specification Tests Conducted on Models -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3048000"/>
          </a:xfrm>
        </p:spPr>
        <p:txBody>
          <a:bodyPr>
            <a:normAutofit/>
          </a:bodyPr>
          <a:lstStyle/>
          <a:p>
            <a:r>
              <a:rPr lang="en-US" dirty="0"/>
              <a:t>White’s Test for </a:t>
            </a:r>
            <a:r>
              <a:rPr lang="en-US" dirty="0" err="1"/>
              <a:t>Heteroscedasticity</a:t>
            </a:r>
            <a:endParaRPr lang="en-US" dirty="0"/>
          </a:p>
          <a:p>
            <a:pPr lvl="1"/>
            <a:r>
              <a:rPr lang="en-US" dirty="0"/>
              <a:t>Step 1: Fit the Original Regression with all Predictors</a:t>
            </a:r>
          </a:p>
          <a:p>
            <a:pPr lvl="1"/>
            <a:r>
              <a:rPr lang="en-US" dirty="0"/>
              <a:t>Step 2: Fit Regression relating squared residuals from step 1 to the same predictors and squared values for all numeric predictors (other version includes interactions for general specification test)</a:t>
            </a:r>
          </a:p>
          <a:p>
            <a:pPr lvl="1"/>
            <a:r>
              <a:rPr lang="en-US" dirty="0"/>
              <a:t>Compare nR</a:t>
            </a:r>
            <a:r>
              <a:rPr lang="en-US" baseline="30000" dirty="0"/>
              <a:t>2</a:t>
            </a:r>
            <a:r>
              <a:rPr lang="en-US" dirty="0"/>
              <a:t> with Chi-Square(</a:t>
            </a:r>
            <a:r>
              <a:rPr lang="en-US" dirty="0" err="1"/>
              <a:t>df</a:t>
            </a:r>
            <a:r>
              <a:rPr lang="en-US" dirty="0"/>
              <a:t> = # Predictors in Step 2)</a:t>
            </a:r>
          </a:p>
          <a:p>
            <a:pPr lvl="1"/>
            <a:endParaRPr lang="en-US" dirty="0"/>
          </a:p>
        </p:txBody>
      </p:sp>
      <p:graphicFrame>
        <p:nvGraphicFramePr>
          <p:cNvPr id="4" name="Object 3" descr="Description of White's test for Heteroscedasticity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497475"/>
              </p:ext>
            </p:extLst>
          </p:nvPr>
        </p:nvGraphicFramePr>
        <p:xfrm>
          <a:off x="381000" y="4267200"/>
          <a:ext cx="8229600" cy="237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03560" imgH="1676160" progId="Equation.DSMT4">
                  <p:embed/>
                </p:oleObj>
              </mc:Choice>
              <mc:Fallback>
                <p:oleObj name="Equation" r:id="rId2" imgW="5803560" imgH="1676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4267200"/>
                        <a:ext cx="8229600" cy="237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295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Specification Tests Conducted on Models - III</a:t>
            </a:r>
          </a:p>
        </p:txBody>
      </p:sp>
      <p:graphicFrame>
        <p:nvGraphicFramePr>
          <p:cNvPr id="4" name="Object 3" descr="Description of Jarque-Bera test for normality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7881"/>
              </p:ext>
            </p:extLst>
          </p:nvPr>
        </p:nvGraphicFramePr>
        <p:xfrm>
          <a:off x="304800" y="1263650"/>
          <a:ext cx="8358188" cy="526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00600" imgH="3022560" progId="Equation.DSMT4">
                  <p:embed/>
                </p:oleObj>
              </mc:Choice>
              <mc:Fallback>
                <p:oleObj name="Equation" r:id="rId2" imgW="4800600" imgH="302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0" y="1263650"/>
                        <a:ext cx="8358188" cy="5262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4812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 with Robust Standard Errors</a:t>
            </a:r>
          </a:p>
        </p:txBody>
      </p:sp>
      <p:graphicFrame>
        <p:nvGraphicFramePr>
          <p:cNvPr id="3" name="Object 2" descr="Ordinary Least Squares with Robust Standard Err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361085"/>
              </p:ext>
            </p:extLst>
          </p:nvPr>
        </p:nvGraphicFramePr>
        <p:xfrm>
          <a:off x="609600" y="1066800"/>
          <a:ext cx="8001000" cy="5607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97400" imgH="4343400" progId="Equation.DSMT4">
                  <p:embed/>
                </p:oleObj>
              </mc:Choice>
              <mc:Fallback>
                <p:oleObj name="Equation" r:id="rId2" imgW="6197400" imgH="4343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" y="1066800"/>
                        <a:ext cx="8001000" cy="5607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186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 – OLS with Robust Standard Errors - I</a:t>
            </a:r>
          </a:p>
        </p:txBody>
      </p:sp>
      <p:graphicFrame>
        <p:nvGraphicFramePr>
          <p:cNvPr id="8" name="Object 7" descr="Data, predicied values, and residuals for airport noise metaregress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558261"/>
              </p:ext>
            </p:extLst>
          </p:nvPr>
        </p:nvGraphicFramePr>
        <p:xfrm>
          <a:off x="762000" y="1219200"/>
          <a:ext cx="1524000" cy="5061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1838297" imgH="6105628" progId="Excel.SheetBinaryMacroEnabled.12">
                  <p:embed/>
                </p:oleObj>
              </mc:Choice>
              <mc:Fallback>
                <p:oleObj name="Binary Worksheet" r:id="rId2" imgW="1838297" imgH="6105628" progId="Excel.SheetBinary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219200"/>
                        <a:ext cx="1524000" cy="5061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rix calculations for OLS estimates and robust standard errors - Par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435685"/>
              </p:ext>
            </p:extLst>
          </p:nvPr>
        </p:nvGraphicFramePr>
        <p:xfrm>
          <a:off x="2971800" y="986270"/>
          <a:ext cx="5595096" cy="5640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867400" imgH="5914957" progId="Excel.Sheet.12">
                  <p:embed/>
                </p:oleObj>
              </mc:Choice>
              <mc:Fallback>
                <p:oleObj name="Worksheet" r:id="rId4" imgW="5867400" imgH="5914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1800" y="986270"/>
                        <a:ext cx="5595096" cy="5640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557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5937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1 – OLS with Robust Standard Errors - II</a:t>
            </a:r>
          </a:p>
        </p:txBody>
      </p:sp>
      <p:graphicFrame>
        <p:nvGraphicFramePr>
          <p:cNvPr id="8" name="Object 7" descr="Ramsey's RESET Test for airport nois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73449"/>
              </p:ext>
            </p:extLst>
          </p:nvPr>
        </p:nvGraphicFramePr>
        <p:xfrm>
          <a:off x="1143000" y="990600"/>
          <a:ext cx="7086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86600" imgH="390457" progId="Excel.Sheet.12">
                  <p:embed/>
                </p:oleObj>
              </mc:Choice>
              <mc:Fallback>
                <p:oleObj name="Worksheet" r:id="rId2" imgW="7086600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990600"/>
                        <a:ext cx="708660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White's test for Heteroscedasticity for airport nois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565655"/>
              </p:ext>
            </p:extLst>
          </p:nvPr>
        </p:nvGraphicFramePr>
        <p:xfrm>
          <a:off x="179479" y="1447800"/>
          <a:ext cx="8780462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89560" imgH="2349360" progId="Equation.DSMT4">
                  <p:embed/>
                </p:oleObj>
              </mc:Choice>
              <mc:Fallback>
                <p:oleObj name="Equation" r:id="rId4" imgW="8089560" imgH="234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479" y="1447800"/>
                        <a:ext cx="8780462" cy="2549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2400" y="46482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White’s</a:t>
            </a:r>
          </a:p>
          <a:p>
            <a:r>
              <a:rPr lang="en-US" sz="1200" dirty="0"/>
              <a:t>Test</a:t>
            </a:r>
          </a:p>
        </p:txBody>
      </p:sp>
      <p:graphicFrame>
        <p:nvGraphicFramePr>
          <p:cNvPr id="10" name="Object 9" descr="Calculations for White's tes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161395"/>
              </p:ext>
            </p:extLst>
          </p:nvPr>
        </p:nvGraphicFramePr>
        <p:xfrm>
          <a:off x="1143000" y="4010315"/>
          <a:ext cx="3524250" cy="2568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286500" imgH="4581457" progId="Excel.Sheet.12">
                  <p:embed/>
                </p:oleObj>
              </mc:Choice>
              <mc:Fallback>
                <p:oleObj name="Worksheet" r:id="rId6" imgW="6286500" imgH="4581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3000" y="4010315"/>
                        <a:ext cx="3524250" cy="2568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 descr="Calsculations for Jarque-Bera tes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124722"/>
              </p:ext>
            </p:extLst>
          </p:nvPr>
        </p:nvGraphicFramePr>
        <p:xfrm>
          <a:off x="5029200" y="4114800"/>
          <a:ext cx="324802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247957" imgH="1552643" progId="Excel.Sheet.12">
                  <p:embed/>
                </p:oleObj>
              </mc:Choice>
              <mc:Fallback>
                <p:oleObj name="Worksheet" r:id="rId8" imgW="3247957" imgH="15526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29200" y="4114800"/>
                        <a:ext cx="3248025" cy="155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10200" y="58674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Jarque-Bera</a:t>
            </a:r>
            <a:r>
              <a:rPr lang="en-US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773576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Weighted Least Squares – Models 2 and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2438400"/>
          </a:xfrm>
        </p:spPr>
        <p:txBody>
          <a:bodyPr>
            <a:normAutofit/>
          </a:bodyPr>
          <a:lstStyle/>
          <a:p>
            <a:r>
              <a:rPr lang="en-US" dirty="0"/>
              <a:t>Clearly Model 1 provides a poor fit (non-significant F-Statistic (p=.0826), R</a:t>
            </a:r>
            <a:r>
              <a:rPr lang="en-US" baseline="30000" dirty="0"/>
              <a:t>2</a:t>
            </a:r>
            <a:r>
              <a:rPr lang="en-US" dirty="0"/>
              <a:t>=.3086)</a:t>
            </a:r>
          </a:p>
          <a:p>
            <a:r>
              <a:rPr lang="en-US" dirty="0"/>
              <a:t>Models 2 and 3 Use Weighted Least Squares with weights equal to the Variances and the Standard Errors, respectively,  of the NDI estimates from each study</a:t>
            </a:r>
          </a:p>
        </p:txBody>
      </p:sp>
      <p:graphicFrame>
        <p:nvGraphicFramePr>
          <p:cNvPr id="4" name="Object 3" descr="Weighted Least Squares formula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304366"/>
              </p:ext>
            </p:extLst>
          </p:nvPr>
        </p:nvGraphicFramePr>
        <p:xfrm>
          <a:off x="1295400" y="3581400"/>
          <a:ext cx="6172200" cy="3227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1879560" progId="Equation.DSMT4">
                  <p:embed/>
                </p:oleObj>
              </mc:Choice>
              <mc:Fallback>
                <p:oleObj name="Equation" r:id="rId2" imgW="3593880" imgH="1879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5400" y="3581400"/>
                        <a:ext cx="6172200" cy="3227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377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Least Squares – Model 2 –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= 1/s</a:t>
            </a:r>
            <a:r>
              <a:rPr lang="en-US" baseline="30000" dirty="0"/>
              <a:t>2</a:t>
            </a:r>
            <a:r>
              <a:rPr lang="en-US" dirty="0"/>
              <a:t>{d</a:t>
            </a:r>
            <a:r>
              <a:rPr lang="en-US" baseline="-25000" dirty="0"/>
              <a:t>i</a:t>
            </a:r>
            <a:r>
              <a:rPr lang="en-US" dirty="0"/>
              <a:t>} - I</a:t>
            </a:r>
          </a:p>
        </p:txBody>
      </p:sp>
      <p:graphicFrame>
        <p:nvGraphicFramePr>
          <p:cNvPr id="3" name="Object 2" descr="Weighted Least Squares computations for airport nois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426946"/>
              </p:ext>
            </p:extLst>
          </p:nvPr>
        </p:nvGraphicFramePr>
        <p:xfrm>
          <a:off x="1143000" y="990600"/>
          <a:ext cx="6105525" cy="573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05523" imgH="5733929" progId="Excel.Sheet.12">
                  <p:embed/>
                </p:oleObj>
              </mc:Choice>
              <mc:Fallback>
                <p:oleObj name="Worksheet" r:id="rId2" imgW="6105523" imgH="573392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990600"/>
                        <a:ext cx="6105525" cy="573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452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Least Squares – Model 2 –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= 1/s</a:t>
            </a:r>
            <a:r>
              <a:rPr lang="en-US" baseline="30000" dirty="0"/>
              <a:t>2</a:t>
            </a:r>
            <a:r>
              <a:rPr lang="en-US" dirty="0"/>
              <a:t>{d</a:t>
            </a:r>
            <a:r>
              <a:rPr lang="en-US" baseline="-25000" dirty="0"/>
              <a:t>i</a:t>
            </a:r>
            <a:r>
              <a:rPr lang="en-US" dirty="0"/>
              <a:t>} - II</a:t>
            </a:r>
          </a:p>
        </p:txBody>
      </p:sp>
      <p:graphicFrame>
        <p:nvGraphicFramePr>
          <p:cNvPr id="3" name="Object 2" descr="Continuation of WLS computations for airport nois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407097"/>
              </p:ext>
            </p:extLst>
          </p:nvPr>
        </p:nvGraphicFramePr>
        <p:xfrm>
          <a:off x="685800" y="990600"/>
          <a:ext cx="7391400" cy="4195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57900" imgH="3438457" progId="Excel.Sheet.12">
                  <p:embed/>
                </p:oleObj>
              </mc:Choice>
              <mc:Fallback>
                <p:oleObj name="Worksheet" r:id="rId2" imgW="6057900" imgH="3438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990600"/>
                        <a:ext cx="7391400" cy="41954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Comparison of correction for the mean for Ordinary and Weighted Least Squar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874274"/>
              </p:ext>
            </p:extLst>
          </p:nvPr>
        </p:nvGraphicFramePr>
        <p:xfrm>
          <a:off x="457200" y="5410200"/>
          <a:ext cx="7772400" cy="1362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67280" imgH="1028520" progId="Equation.DSMT4">
                  <p:embed/>
                </p:oleObj>
              </mc:Choice>
              <mc:Fallback>
                <p:oleObj name="Equation" r:id="rId4" imgW="5867280" imgH="1028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5410200"/>
                        <a:ext cx="7772400" cy="1362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1108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2 – Specification Tests</a:t>
            </a:r>
          </a:p>
        </p:txBody>
      </p:sp>
      <p:graphicFrame>
        <p:nvGraphicFramePr>
          <p:cNvPr id="3" name="Object 2" descr="RESET, White and Jarque-Bera tests for Model 2 with airport noise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99756"/>
              </p:ext>
            </p:extLst>
          </p:nvPr>
        </p:nvGraphicFramePr>
        <p:xfrm>
          <a:off x="152400" y="1143000"/>
          <a:ext cx="876587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33960" imgH="4038480" progId="Equation.DSMT4">
                  <p:embed/>
                </p:oleObj>
              </mc:Choice>
              <mc:Fallback>
                <p:oleObj name="Equation" r:id="rId2" imgW="6933960" imgH="4038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" y="1143000"/>
                        <a:ext cx="8765876" cy="510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953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3 – WLS –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= 1/s{</a:t>
            </a:r>
            <a:r>
              <a:rPr lang="en-US" dirty="0" err="1"/>
              <a:t>d_i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4983163"/>
          </a:xfrm>
        </p:spPr>
        <p:txBody>
          <a:bodyPr/>
          <a:lstStyle/>
          <a:p>
            <a:r>
              <a:rPr lang="en-US" dirty="0"/>
              <a:t>This is a more traditional weighting scheme than Model2</a:t>
            </a:r>
          </a:p>
          <a:p>
            <a:r>
              <a:rPr lang="en-US" dirty="0"/>
              <a:t>The fit however, for this analysis is not as good:</a:t>
            </a:r>
          </a:p>
          <a:p>
            <a:pPr lvl="1"/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= 0.4131</a:t>
            </a:r>
          </a:p>
          <a:p>
            <a:pPr lvl="1"/>
            <a:r>
              <a:rPr lang="en-US" dirty="0"/>
              <a:t>F</a:t>
            </a:r>
            <a:r>
              <a:rPr lang="en-US" baseline="-25000" dirty="0"/>
              <a:t>obs</a:t>
            </a:r>
            <a:r>
              <a:rPr lang="en-US" dirty="0"/>
              <a:t> = 3.2380, P = .0234</a:t>
            </a:r>
          </a:p>
          <a:p>
            <a:r>
              <a:rPr lang="en-US" dirty="0"/>
              <a:t>While for Model 2:</a:t>
            </a:r>
          </a:p>
          <a:p>
            <a:pPr lvl="1"/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/>
              <a:t>= 0.5389</a:t>
            </a:r>
            <a:endParaRPr lang="en-US" dirty="0"/>
          </a:p>
          <a:p>
            <a:pPr lvl="1"/>
            <a:r>
              <a:rPr lang="en-US" dirty="0"/>
              <a:t>F</a:t>
            </a:r>
            <a:r>
              <a:rPr lang="en-US" baseline="-25000" dirty="0"/>
              <a:t>obs</a:t>
            </a:r>
            <a:r>
              <a:rPr lang="en-US" dirty="0"/>
              <a:t> = 5.3756, P = .0020</a:t>
            </a:r>
          </a:p>
        </p:txBody>
      </p:sp>
    </p:spTree>
    <p:extLst>
      <p:ext uri="{BB962C8B-B14F-4D97-AF65-F5344CB8AC3E}">
        <p14:creationId xmlns:p14="http://schemas.microsoft.com/office/powerpoint/2010/main" val="94415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819</Words>
  <Application>Microsoft Office PowerPoint</Application>
  <PresentationFormat>On-screen Show (4:3)</PresentationFormat>
  <Paragraphs>66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Worksheet</vt:lpstr>
      <vt:lpstr>Equation</vt:lpstr>
      <vt:lpstr>Binary Worksheet</vt:lpstr>
      <vt:lpstr>Meta-Analysis and Meta-Regression</vt:lpstr>
      <vt:lpstr>Data Description</vt:lpstr>
      <vt:lpstr>Study Specific Variables / Models</vt:lpstr>
      <vt:lpstr>Data</vt:lpstr>
      <vt:lpstr>Meta-Analysis with No Covariates</vt:lpstr>
      <vt:lpstr>Estimates and Tests</vt:lpstr>
      <vt:lpstr>Estimates and Tests - Results</vt:lpstr>
      <vt:lpstr>Meta-Regressions</vt:lpstr>
      <vt:lpstr>Specification Tests Conducted on Models - I</vt:lpstr>
      <vt:lpstr>Specification Tests Conducted on Models - II</vt:lpstr>
      <vt:lpstr>Specification Tests Conducted on Models - III</vt:lpstr>
      <vt:lpstr>Ordinary Least Squares with Robust Standard Errors</vt:lpstr>
      <vt:lpstr>Model 1 – OLS with Robust Standard Errors - I</vt:lpstr>
      <vt:lpstr>Model 1 – OLS with Robust Standard Errors - II</vt:lpstr>
      <vt:lpstr>Weighted Least Squares – Models 2 and 3</vt:lpstr>
      <vt:lpstr>Weighted Least Squares – Model 2 – wi = 1/s2{di} - I</vt:lpstr>
      <vt:lpstr>Weighted Least Squares – Model 2 – wi = 1/s2{di} - II</vt:lpstr>
      <vt:lpstr>Model 2 – Specification Tests</vt:lpstr>
      <vt:lpstr>Model 3 – WLS – wi = 1/s{d_i}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Meta-Analysis and Meta-Regression</dc:title>
  <dc:creator>Winner,Lawrence Herman</dc:creator>
  <cp:lastModifiedBy>Winner,Lawrence Herman</cp:lastModifiedBy>
  <cp:revision>58</cp:revision>
  <dcterms:created xsi:type="dcterms:W3CDTF">2015-05-14T14:47:05Z</dcterms:created>
  <dcterms:modified xsi:type="dcterms:W3CDTF">2025-12-15T12:54:01Z</dcterms:modified>
</cp:coreProperties>
</file>