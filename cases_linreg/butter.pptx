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A7DF26-1E78-0B34-E6DB-D911E303C2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416676-ABC7-1D30-D78F-9E0117CCA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0CE4-4A3C-4C76-A304-0F1E24CF6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6A04CD-E64F-4F5A-9C09-506A08449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06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558B7E-CC89-C4D6-A4B7-2CB1B9AA62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A59D9F-E6A5-280E-ADCA-DBD83AE13C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5D8B9A-6929-18A0-C4C8-84301CF8B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21ABC7-DFB3-4B21-AF69-356B89035E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70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C38F1E-E9E7-708B-500E-A3D3F1B6D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5F9834-5ABD-6F40-8678-188FF9BF8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1A1150-1D5F-B724-7BC6-C7EC380D23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4BC78-442E-4DF4-B770-BC0D07F60C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69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600"/>
            <a:ext cx="4305300" cy="4754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305300" cy="4754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5AF6E-2B35-01E3-E11B-3109AB5A39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EB019E-2AC4-4DCD-197D-46FC3704C2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AC99C-04C2-535F-E7B4-C10E6C24A2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D8A6BC-4FDF-4854-B35B-F6F68A726F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18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8CB8BC1-18F0-3D59-B84C-CB0302B9CF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CE75278-C100-BB54-4701-A5FB44FE70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C9543D9-40A2-D3EF-EE13-525B5F6B6D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0524B-4561-437B-A823-E0ADB1ECA4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87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E214160-1D40-7267-96A6-77300D4EA4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F03C914-02FE-1CA4-E5F5-40EBE71A3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4DA0A9-8B26-BD83-CB59-69E4A45FC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0C49AA-E474-4BE4-9FC6-4755CC053D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23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76FA554-1013-1CB6-CC2D-CE5DB507E8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1603813-D094-0DF8-ECD0-3DC6C2C0CF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63ABDB-0E4A-A05D-747A-2E919EEA29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02C1DE-3FEF-41FD-87B2-C487DDEFD9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7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7D84D9-BFB7-D1BC-8180-4BF4F40140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37037-E27C-C8B4-2F53-EFDB98EA2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71490-65B6-024E-36D7-EE2A8D0860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D0FD68-D900-43AE-BF6D-40524BA6F3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32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2F555E-84B0-319C-0424-5355A87AA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359AE-8E9A-3102-7EB0-619F1FA515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06406-8ABE-800E-D409-DE93C6AD1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6C852F-5ECA-430E-85D8-64C440148A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7510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AE28DB-0B38-72D0-859F-B0DB17549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43B12E-F767-6C89-FD8C-CF4DC423E7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ABE65F9-92BE-5511-8BB2-B273ABC2F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88C53A-F2F8-43A8-8467-8329A2B3CB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22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74638"/>
            <a:ext cx="21907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274638"/>
            <a:ext cx="641985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244490-7D94-5E1D-1E14-58A34D5A9A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67B026-A2E9-53C5-97FA-F7B48248C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F8A22D-8ADC-0E1F-745A-A1B8FE019A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09D77-4FDB-4152-821A-F8F8CC24CD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030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2400" y="1371600"/>
            <a:ext cx="4305300" cy="4754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305300" cy="4754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5E380-F4E9-18A5-3653-6428E95B39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13D44-7A4E-C4C8-F149-F3281111C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91AE90-2A72-C5B9-3674-8C5DFC07E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0BBBA-586C-410A-A4EB-19AFF13B36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4897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868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71600"/>
            <a:ext cx="4305300" cy="47545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305300" cy="23002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824288"/>
            <a:ext cx="4305300" cy="23018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FA8641C-C807-ACD7-9173-D55ED514B1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A142D5B-35BD-F763-1A50-BCD9706DD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A289A74-991A-1738-7C0C-3B94BDA6BF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B4E4F7-E7A8-487A-8244-10CAABA0EF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357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044B0F-2985-DC77-2C7C-3E9D357B8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274638"/>
            <a:ext cx="8763000" cy="86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B9E94C-65D9-31BA-32E4-76AA670599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371600"/>
            <a:ext cx="8763000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30543B-57C9-90DE-E525-A69A3F3FA8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33A2964-2968-D3F3-A211-9C8B6476FB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64532A4-2286-1421-305C-B1BF4578E1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BF993EE-F841-4D2B-9972-37BF93FC6A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Berlin Sans FB Demi" panose="020E0802020502020306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 kern="1200">
          <a:solidFill>
            <a:srgbClr val="FFFF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 kern="1200">
          <a:solidFill>
            <a:srgbClr val="FFFF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794DE3D-9AEE-E635-276F-B00E89F9D6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en-US" sz="3600"/>
              <a:t>Multivariate Regression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A609B18-9415-CE12-301C-7845B50744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553200" cy="2133600"/>
          </a:xfrm>
        </p:spPr>
        <p:txBody>
          <a:bodyPr/>
          <a:lstStyle/>
          <a:p>
            <a:pPr eaLnBrk="1" hangingPunct="1"/>
            <a:r>
              <a:rPr lang="en-US" altLang="en-US" sz="2800"/>
              <a:t>British Butter Price and Quantities from Denmark and New Zealand 1930-1936</a:t>
            </a:r>
          </a:p>
          <a:p>
            <a:pPr eaLnBrk="1" hangingPunct="1"/>
            <a:endParaRPr lang="en-US" altLang="en-US" sz="2800"/>
          </a:p>
          <a:p>
            <a:pPr algn="l" eaLnBrk="1" hangingPunct="1"/>
            <a:r>
              <a:rPr lang="en-US" altLang="en-US" sz="1400"/>
              <a:t>I. Hilfer (1938). “Differential Effect in the Butter Market,” </a:t>
            </a:r>
            <a:r>
              <a:rPr lang="en-US" altLang="en-US" sz="1400" i="1"/>
              <a:t>Econometrica</a:t>
            </a:r>
            <a:r>
              <a:rPr lang="en-US" altLang="en-US" sz="1400"/>
              <a:t>, Vol. 6, #3, pp.270-284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51956B0-0358-9E02-9812-EF18D3B8A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Data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4BC588F-3E34-8B9D-59DA-2977D1B01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Time Horizon: Monthly  3/1930-10/1936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Response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Y</a:t>
            </a:r>
            <a:r>
              <a:rPr lang="en-US" altLang="en-US" baseline="-25000"/>
              <a:t>1</a:t>
            </a:r>
            <a:r>
              <a:rPr lang="en-US" altLang="en-US"/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≡ </a:t>
            </a:r>
            <a:r>
              <a:rPr lang="en-US" altLang="en-US">
                <a:cs typeface="Arial" panose="020B0604020202020204" pitchFamily="34" charset="0"/>
              </a:rPr>
              <a:t>Price of Danish Butter (Inflation Adjusted)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Y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≡ </a:t>
            </a:r>
            <a:r>
              <a:rPr lang="en-US" altLang="en-US">
                <a:cs typeface="Arial" panose="020B0604020202020204" pitchFamily="34" charset="0"/>
              </a:rPr>
              <a:t>Price of New Zealand Butter (Inflation Adjusted)</a:t>
            </a:r>
          </a:p>
          <a:p>
            <a:pPr eaLnBrk="1" hangingPunct="1">
              <a:lnSpc>
                <a:spcPct val="90000"/>
              </a:lnSpc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Predictor Variables: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X</a:t>
            </a:r>
            <a:r>
              <a:rPr lang="en-US" altLang="en-US" baseline="-25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≡</a:t>
            </a:r>
            <a:r>
              <a:rPr lang="en-US" altLang="en-US">
                <a:cs typeface="Arial" panose="020B0604020202020204" pitchFamily="34" charset="0"/>
              </a:rPr>
              <a:t> Danish Imports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X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≡</a:t>
            </a:r>
            <a:r>
              <a:rPr lang="en-US" altLang="en-US">
                <a:cs typeface="Arial" panose="020B0604020202020204" pitchFamily="34" charset="0"/>
              </a:rPr>
              <a:t> New Zealand/Australia Imports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cs typeface="Arial" panose="020B0604020202020204" pitchFamily="34" charset="0"/>
              </a:rPr>
              <a:t>X</a:t>
            </a:r>
            <a:r>
              <a:rPr lang="en-US" altLang="en-US" baseline="-25000">
                <a:cs typeface="Arial" panose="020B0604020202020204" pitchFamily="34" charset="0"/>
              </a:rPr>
              <a:t>3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≡</a:t>
            </a:r>
            <a:r>
              <a:rPr lang="en-US" altLang="en-US">
                <a:cs typeface="Arial" panose="020B0604020202020204" pitchFamily="34" charset="0"/>
              </a:rPr>
              <a:t> All Other Imports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344C-C53A-29E6-8A13-374A494B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563562"/>
          </a:xfrm>
        </p:spPr>
        <p:txBody>
          <a:bodyPr/>
          <a:lstStyle/>
          <a:p>
            <a:r>
              <a:rPr lang="en-US" sz="3200" dirty="0"/>
              <a:t>Plot of Danish and NZ Butter Prices in Britain</a:t>
            </a:r>
          </a:p>
        </p:txBody>
      </p:sp>
      <p:graphicFrame>
        <p:nvGraphicFramePr>
          <p:cNvPr id="4098" name="Object 4" descr="Plot of adjusted monthly Danish and New Zealand butter prices from March 1930-October 1936">
            <a:extLst>
              <a:ext uri="{FF2B5EF4-FFF2-40B4-BE49-F238E27FC236}">
                <a16:creationId xmlns:a16="http://schemas.microsoft.com/office/drawing/2014/main" id="{7A9ACBFC-4E73-E338-7B87-A7D60E879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76686"/>
              </p:ext>
            </p:extLst>
          </p:nvPr>
        </p:nvGraphicFramePr>
        <p:xfrm>
          <a:off x="381000" y="838200"/>
          <a:ext cx="8458200" cy="5906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525000" imgH="5495925" progId="Excel.Chart.8">
                  <p:embed/>
                </p:oleObj>
              </mc:Choice>
              <mc:Fallback>
                <p:oleObj name="Chart" r:id="rId2" imgW="9525000" imgH="5495925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38200"/>
                        <a:ext cx="8458200" cy="5906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1BCC-5A2E-33B4-D6CC-02064DE89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610937"/>
          </a:xfrm>
        </p:spPr>
        <p:txBody>
          <a:bodyPr/>
          <a:lstStyle/>
          <a:p>
            <a:r>
              <a:rPr lang="en-US" sz="3200" dirty="0"/>
              <a:t>Plots of Danish and NZ Price and Imports</a:t>
            </a:r>
          </a:p>
        </p:txBody>
      </p:sp>
      <p:graphicFrame>
        <p:nvGraphicFramePr>
          <p:cNvPr id="5122" name="Object 4" descr="Plot of Danish Prices versus Danish imports">
            <a:extLst>
              <a:ext uri="{FF2B5EF4-FFF2-40B4-BE49-F238E27FC236}">
                <a16:creationId xmlns:a16="http://schemas.microsoft.com/office/drawing/2014/main" id="{C5A69967-2167-D11E-7758-210829483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835231"/>
              </p:ext>
            </p:extLst>
          </p:nvPr>
        </p:nvGraphicFramePr>
        <p:xfrm>
          <a:off x="361950" y="1066800"/>
          <a:ext cx="3886200" cy="2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9525000" imgH="5495925" progId="Excel.Chart.8">
                  <p:embed/>
                </p:oleObj>
              </mc:Choice>
              <mc:Fallback>
                <p:oleObj name="Chart" r:id="rId2" imgW="9525000" imgH="5495925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1066800"/>
                        <a:ext cx="3886200" cy="2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 descr="Plot of New Zealand Prices versus Danish imports">
            <a:extLst>
              <a:ext uri="{FF2B5EF4-FFF2-40B4-BE49-F238E27FC236}">
                <a16:creationId xmlns:a16="http://schemas.microsoft.com/office/drawing/2014/main" id="{54B3B4F3-B3A6-7D77-251D-F3962AEA19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374309"/>
              </p:ext>
            </p:extLst>
          </p:nvPr>
        </p:nvGraphicFramePr>
        <p:xfrm>
          <a:off x="304801" y="3962400"/>
          <a:ext cx="4114800" cy="258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9525000" imgH="5495925" progId="Excel.Chart.8">
                  <p:embed/>
                </p:oleObj>
              </mc:Choice>
              <mc:Fallback>
                <p:oleObj name="Chart" r:id="rId4" imgW="9525000" imgH="5495925" progId="Excel.Char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1" y="3962400"/>
                        <a:ext cx="4114800" cy="2580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 descr="Plot of Danish Prices versus New Zealand imports">
            <a:extLst>
              <a:ext uri="{FF2B5EF4-FFF2-40B4-BE49-F238E27FC236}">
                <a16:creationId xmlns:a16="http://schemas.microsoft.com/office/drawing/2014/main" id="{10415656-B358-3D0E-068B-A5105D7BC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476495"/>
              </p:ext>
            </p:extLst>
          </p:nvPr>
        </p:nvGraphicFramePr>
        <p:xfrm>
          <a:off x="4876797" y="1066800"/>
          <a:ext cx="3962401" cy="2809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6" imgW="9525000" imgH="5495925" progId="Excel.Chart.8">
                  <p:embed/>
                </p:oleObj>
              </mc:Choice>
              <mc:Fallback>
                <p:oleObj name="Chart" r:id="rId6" imgW="9525000" imgH="5495925" progId="Excel.Char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797" y="1066800"/>
                        <a:ext cx="3962401" cy="2809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7" descr="Plot of New Zealand Prices versus New Zealand imports">
            <a:extLst>
              <a:ext uri="{FF2B5EF4-FFF2-40B4-BE49-F238E27FC236}">
                <a16:creationId xmlns:a16="http://schemas.microsoft.com/office/drawing/2014/main" id="{36BD21EF-C419-44CA-540A-A8F638364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93927"/>
              </p:ext>
            </p:extLst>
          </p:nvPr>
        </p:nvGraphicFramePr>
        <p:xfrm>
          <a:off x="4952999" y="3978729"/>
          <a:ext cx="38862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8" imgW="9525000" imgH="5495925" progId="Excel.Chart.8">
                  <p:embed/>
                </p:oleObj>
              </mc:Choice>
              <mc:Fallback>
                <p:oleObj name="Chart" r:id="rId8" imgW="9525000" imgH="5495925" progId="Excel.Char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999" y="3978729"/>
                        <a:ext cx="3886200" cy="259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5781601D-18F6-0783-BAB1-F7C486917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6400800" cy="487363"/>
          </a:xfrm>
        </p:spPr>
        <p:txBody>
          <a:bodyPr/>
          <a:lstStyle/>
          <a:p>
            <a:pPr algn="l" eaLnBrk="1" hangingPunct="1"/>
            <a:r>
              <a:rPr lang="en-US" altLang="en-US" sz="3200"/>
              <a:t>Multivariate Regression Model</a:t>
            </a:r>
          </a:p>
        </p:txBody>
      </p:sp>
      <p:graphicFrame>
        <p:nvGraphicFramePr>
          <p:cNvPr id="6147" name="Object 5" descr="Matrix form of multivariate regression model">
            <a:extLst>
              <a:ext uri="{FF2B5EF4-FFF2-40B4-BE49-F238E27FC236}">
                <a16:creationId xmlns:a16="http://schemas.microsoft.com/office/drawing/2014/main" id="{4B3F6391-5C89-85DB-F8E2-A98906696A2A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974740"/>
              </p:ext>
            </p:extLst>
          </p:nvPr>
        </p:nvGraphicFramePr>
        <p:xfrm>
          <a:off x="533400" y="1562100"/>
          <a:ext cx="7024688" cy="491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160" imgH="2920680" progId="Equation.DSMT4">
                  <p:embed/>
                </p:oleObj>
              </mc:Choice>
              <mc:Fallback>
                <p:oleObj name="Equation" r:id="rId2" imgW="4178160" imgH="2920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562100"/>
                        <a:ext cx="7024688" cy="491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7">
            <a:extLst>
              <a:ext uri="{FF2B5EF4-FFF2-40B4-BE49-F238E27FC236}">
                <a16:creationId xmlns:a16="http://schemas.microsoft.com/office/drawing/2014/main" id="{0161346D-F705-1B31-DCAB-594634C6B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52400"/>
            <a:ext cx="16764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p Responses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k Predictors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n observations</a:t>
            </a:r>
          </a:p>
          <a:p>
            <a:pPr eaLnBrk="1" hangingPunct="1">
              <a:spcBef>
                <a:spcPct val="50000"/>
              </a:spcBef>
            </a:pPr>
            <a:endParaRPr lang="en-US" altLang="en-US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645834C8-CA59-5B53-C981-DDE20E300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Least Squares Estimators</a:t>
            </a:r>
          </a:p>
        </p:txBody>
      </p:sp>
      <p:graphicFrame>
        <p:nvGraphicFramePr>
          <p:cNvPr id="7171" name="Object 5" descr="Formulas for Least Squares estimator for matrix of regression coefficients and the within unit Variance-covariance matrix">
            <a:extLst>
              <a:ext uri="{FF2B5EF4-FFF2-40B4-BE49-F238E27FC236}">
                <a16:creationId xmlns:a16="http://schemas.microsoft.com/office/drawing/2014/main" id="{CFE0E5A7-8203-E3B7-B5B5-55B08576CF52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067189"/>
              </p:ext>
            </p:extLst>
          </p:nvPr>
        </p:nvGraphicFramePr>
        <p:xfrm>
          <a:off x="304800" y="1143000"/>
          <a:ext cx="8686800" cy="491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24485" imgH="2438400" progId="Equation.3">
                  <p:embed/>
                </p:oleObj>
              </mc:Choice>
              <mc:Fallback>
                <p:oleObj name="Equation" r:id="rId2" imgW="4324485" imgH="243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143000"/>
                        <a:ext cx="8686800" cy="491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7">
            <a:extLst>
              <a:ext uri="{FF2B5EF4-FFF2-40B4-BE49-F238E27FC236}">
                <a16:creationId xmlns:a16="http://schemas.microsoft.com/office/drawing/2014/main" id="{11062AAC-F8FD-2AF3-F1EF-4CD9C94C4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324600"/>
            <a:ext cx="861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Note: This assumes independence across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036DD91-AAAD-4294-7CE4-1E33BEBC7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74638"/>
            <a:ext cx="8763000" cy="715962"/>
          </a:xfrm>
        </p:spPr>
        <p:txBody>
          <a:bodyPr/>
          <a:lstStyle/>
          <a:p>
            <a:pPr eaLnBrk="1" hangingPunct="1"/>
            <a:r>
              <a:rPr lang="en-US" altLang="en-US" dirty="0"/>
              <a:t>Butter Price Example - I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1148102-EB3D-A8F2-7949-AD40F17B53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143000"/>
            <a:ext cx="8610600" cy="1828800"/>
          </a:xfrm>
        </p:spPr>
        <p:txBody>
          <a:bodyPr/>
          <a:lstStyle/>
          <a:p>
            <a:pPr eaLnBrk="1" hangingPunct="1"/>
            <a:r>
              <a:rPr lang="en-US" altLang="en-US" sz="2400"/>
              <a:t>p=2  Response Variables (Danish, NZ Prices)</a:t>
            </a:r>
          </a:p>
          <a:p>
            <a:pPr eaLnBrk="1" hangingPunct="1"/>
            <a:r>
              <a:rPr lang="en-US" altLang="en-US" sz="2400"/>
              <a:t>k=3  Predictors (Danish, NZ, Other Imports)</a:t>
            </a:r>
          </a:p>
          <a:p>
            <a:pPr eaLnBrk="1" hangingPunct="1"/>
            <a:r>
              <a:rPr lang="en-US" altLang="en-US" sz="2400"/>
              <a:t>n=80 Months of Data</a:t>
            </a:r>
          </a:p>
          <a:p>
            <a:pPr eaLnBrk="1" hangingPunct="1"/>
            <a:r>
              <a:rPr lang="en-US" altLang="en-US" sz="2400"/>
              <a:t>First and last 4 months (x0 is used for intercept term):</a:t>
            </a:r>
          </a:p>
        </p:txBody>
      </p:sp>
      <p:graphicFrame>
        <p:nvGraphicFramePr>
          <p:cNvPr id="8196" name="Object 4" descr="Y and X matrix elements for first 4 and last 4 months">
            <a:extLst>
              <a:ext uri="{FF2B5EF4-FFF2-40B4-BE49-F238E27FC236}">
                <a16:creationId xmlns:a16="http://schemas.microsoft.com/office/drawing/2014/main" id="{CFBD4068-9411-52DC-3977-25B6036C56E2}"/>
              </a:ext>
            </a:extLst>
          </p:cNvPr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6196307"/>
              </p:ext>
            </p:extLst>
          </p:nvPr>
        </p:nvGraphicFramePr>
        <p:xfrm>
          <a:off x="228600" y="3276600"/>
          <a:ext cx="8763000" cy="343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492879" imgH="1597086" progId="Excel.Sheet.8">
                  <p:embed/>
                </p:oleObj>
              </mc:Choice>
              <mc:Fallback>
                <p:oleObj name="Worksheet" r:id="rId2" imgW="4492879" imgH="1597086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276600"/>
                        <a:ext cx="8763000" cy="343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7282C4D6-3103-DFC9-755E-5FF0BFA77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171" y="152400"/>
            <a:ext cx="8763000" cy="715962"/>
          </a:xfrm>
        </p:spPr>
        <p:txBody>
          <a:bodyPr/>
          <a:lstStyle/>
          <a:p>
            <a:pPr eaLnBrk="1" hangingPunct="1"/>
            <a:r>
              <a:rPr lang="en-US" altLang="en-US" dirty="0"/>
              <a:t>Butter Price Example - II</a:t>
            </a:r>
          </a:p>
        </p:txBody>
      </p:sp>
      <p:graphicFrame>
        <p:nvGraphicFramePr>
          <p:cNvPr id="9219" name="Object 8" descr="Matrix computations for the least squares estimate of the matrix of regression coefficients and the within month variance-covariance matrix for the butter price study">
            <a:extLst>
              <a:ext uri="{FF2B5EF4-FFF2-40B4-BE49-F238E27FC236}">
                <a16:creationId xmlns:a16="http://schemas.microsoft.com/office/drawing/2014/main" id="{9CA70A3D-03B6-B931-ED63-5DD5C7181E92}"/>
              </a:ext>
            </a:extLst>
          </p:cNvPr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62792883"/>
              </p:ext>
            </p:extLst>
          </p:nvPr>
        </p:nvGraphicFramePr>
        <p:xfrm>
          <a:off x="228600" y="1066800"/>
          <a:ext cx="8686800" cy="407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419473" imgH="2072607" progId="Excel.Sheet.8">
                  <p:embed/>
                </p:oleObj>
              </mc:Choice>
              <mc:Fallback>
                <p:oleObj name="Worksheet" r:id="rId2" imgW="4419473" imgH="2072607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066800"/>
                        <a:ext cx="8686800" cy="407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0" descr="Fitted Equations for Danish and New Zealand prices as a function of imports">
            <a:extLst>
              <a:ext uri="{FF2B5EF4-FFF2-40B4-BE49-F238E27FC236}">
                <a16:creationId xmlns:a16="http://schemas.microsoft.com/office/drawing/2014/main" id="{5D83DAFC-12D6-5C30-47FE-7E569496B7A9}"/>
              </a:ext>
            </a:extLst>
          </p:cNvPr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8019775"/>
              </p:ext>
            </p:extLst>
          </p:nvPr>
        </p:nvGraphicFramePr>
        <p:xfrm>
          <a:off x="762000" y="5181600"/>
          <a:ext cx="73152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1485" imgH="628785" progId="Equation.3">
                  <p:embed/>
                </p:oleObj>
              </mc:Choice>
              <mc:Fallback>
                <p:oleObj name="Equation" r:id="rId4" imgW="3181485" imgH="62878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181600"/>
                        <a:ext cx="73152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0DAB1AE-CB80-C89C-F53E-EF35DBB27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Hypotheses Regarding 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6D805C6-BFDE-B53E-08EE-211E88507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Many times we have theories to be tested regarding regression coefficients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most basic is that none of the predictors are related to any of the responses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Others may be that the regression coefficients for one or more predictor(s) is same for two or more responses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Others may be that the effects of two or more predictors are the same for one or more response(s)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Tests can be written in the form of H</a:t>
            </a:r>
            <a:r>
              <a:rPr lang="en-US" altLang="en-US" baseline="-25000"/>
              <a:t>0</a:t>
            </a:r>
            <a:r>
              <a:rPr lang="en-US" altLang="en-US"/>
              <a:t>: L</a:t>
            </a:r>
            <a:r>
              <a:rPr lang="en-US" altLang="en-US">
                <a:latin typeface="Symbol" panose="05050102010706020507" pitchFamily="18" charset="2"/>
              </a:rPr>
              <a:t>b</a:t>
            </a:r>
            <a:r>
              <a:rPr lang="en-US" altLang="en-US"/>
              <a:t>M = d for specific matrices L,M,d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FF3B7032-E51C-7E1B-0898-6B103D023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715963"/>
          </a:xfrm>
        </p:spPr>
        <p:txBody>
          <a:bodyPr/>
          <a:lstStyle/>
          <a:p>
            <a:pPr eaLnBrk="1" hangingPunct="1"/>
            <a:r>
              <a:rPr lang="en-US" altLang="en-US"/>
              <a:t>Matrix Set up for General Linear Tests</a:t>
            </a:r>
          </a:p>
        </p:txBody>
      </p:sp>
      <p:graphicFrame>
        <p:nvGraphicFramePr>
          <p:cNvPr id="11267" name="Object 5" descr="Matrix Formulas for the hypothesis (H) and error (E) matrices used in general linear tests">
            <a:extLst>
              <a:ext uri="{FF2B5EF4-FFF2-40B4-BE49-F238E27FC236}">
                <a16:creationId xmlns:a16="http://schemas.microsoft.com/office/drawing/2014/main" id="{8632068E-369C-9F1C-EC96-2EF182F530C4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241738"/>
              </p:ext>
            </p:extLst>
          </p:nvPr>
        </p:nvGraphicFramePr>
        <p:xfrm>
          <a:off x="685800" y="1466850"/>
          <a:ext cx="6248400" cy="469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2768400" progId="Equation.DSMT4">
                  <p:embed/>
                </p:oleObj>
              </mc:Choice>
              <mc:Fallback>
                <p:oleObj name="Equation" r:id="rId2" imgW="3682800" imgH="276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466850"/>
                        <a:ext cx="6248400" cy="469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2D882019-FDA8-BFC2-6C00-B6BAC7E65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304800"/>
          </a:xfrm>
        </p:spPr>
        <p:txBody>
          <a:bodyPr/>
          <a:lstStyle/>
          <a:p>
            <a:pPr algn="l" eaLnBrk="1" hangingPunct="1"/>
            <a:r>
              <a:rPr lang="en-US" altLang="en-US" sz="2400"/>
              <a:t>Three Statistics Based on H and E</a:t>
            </a:r>
          </a:p>
        </p:txBody>
      </p:sp>
      <p:graphicFrame>
        <p:nvGraphicFramePr>
          <p:cNvPr id="12291" name="Object 5" descr="Formulas for computing Wilks' Lambda, Pillai's Trace, and Hotelling-Lawley' Trace based on H and E matrices">
            <a:extLst>
              <a:ext uri="{FF2B5EF4-FFF2-40B4-BE49-F238E27FC236}">
                <a16:creationId xmlns:a16="http://schemas.microsoft.com/office/drawing/2014/main" id="{04ABD96F-115B-1CE3-EEF0-0CD429227315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265294"/>
              </p:ext>
            </p:extLst>
          </p:nvPr>
        </p:nvGraphicFramePr>
        <p:xfrm>
          <a:off x="1687513" y="519113"/>
          <a:ext cx="6757987" cy="633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37160" imgH="5194080" progId="Equation.DSMT4">
                  <p:embed/>
                </p:oleObj>
              </mc:Choice>
              <mc:Fallback>
                <p:oleObj name="Equation" r:id="rId2" imgW="5537160" imgH="5194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19113"/>
                        <a:ext cx="6757987" cy="633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5E270990-8CDE-7862-5CA9-67D9C4B514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39763"/>
          </a:xfrm>
        </p:spPr>
        <p:txBody>
          <a:bodyPr/>
          <a:lstStyle/>
          <a:p>
            <a:pPr eaLnBrk="1" hangingPunct="1"/>
            <a:r>
              <a:rPr lang="en-US" altLang="en-US" sz="3200"/>
              <a:t>Testing Relation Between Price and Quality (I)</a:t>
            </a:r>
          </a:p>
        </p:txBody>
      </p:sp>
      <p:graphicFrame>
        <p:nvGraphicFramePr>
          <p:cNvPr id="13315" name="Object 5" descr="Testing the relation of price and quantity for the butter data. Constructing the hypothesis (H) and error (E) matrices">
            <a:extLst>
              <a:ext uri="{FF2B5EF4-FFF2-40B4-BE49-F238E27FC236}">
                <a16:creationId xmlns:a16="http://schemas.microsoft.com/office/drawing/2014/main" id="{5C08153E-5C14-DCE0-1011-1EE21F783389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697895"/>
              </p:ext>
            </p:extLst>
          </p:nvPr>
        </p:nvGraphicFramePr>
        <p:xfrm>
          <a:off x="152400" y="1066800"/>
          <a:ext cx="8839200" cy="539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19843" imgH="3543300" progId="Equation.3">
                  <p:embed/>
                </p:oleObj>
              </mc:Choice>
              <mc:Fallback>
                <p:oleObj name="Equation" r:id="rId2" imgW="5819843" imgH="3543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066800"/>
                        <a:ext cx="8839200" cy="539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F288DF2-DB93-6A23-8D0F-26B33756E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639763"/>
          </a:xfrm>
        </p:spPr>
        <p:txBody>
          <a:bodyPr/>
          <a:lstStyle/>
          <a:p>
            <a:pPr eaLnBrk="1" hangingPunct="1"/>
            <a:r>
              <a:rPr lang="en-US" altLang="en-US" sz="3200"/>
              <a:t>Testing Relation Between Price and Quality (II)</a:t>
            </a:r>
          </a:p>
        </p:txBody>
      </p:sp>
      <p:graphicFrame>
        <p:nvGraphicFramePr>
          <p:cNvPr id="14339" name="Object 3" descr="Calculation of Wilk's Lambda, Pillai's Trace, and Hotelling-Lawley's trace for the butter study">
            <a:extLst>
              <a:ext uri="{FF2B5EF4-FFF2-40B4-BE49-F238E27FC236}">
                <a16:creationId xmlns:a16="http://schemas.microsoft.com/office/drawing/2014/main" id="{384E6F99-38B9-41D3-3B70-A46F4FAEC28C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783913"/>
              </p:ext>
            </p:extLst>
          </p:nvPr>
        </p:nvGraphicFramePr>
        <p:xfrm>
          <a:off x="444500" y="838200"/>
          <a:ext cx="8178800" cy="555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000943" imgH="4753043" progId="Equation.3">
                  <p:embed/>
                </p:oleObj>
              </mc:Choice>
              <mc:Fallback>
                <p:oleObj name="Equation" r:id="rId2" imgW="7000943" imgH="475304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" y="838200"/>
                        <a:ext cx="8178800" cy="555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7D8F4B5-FBB4-0203-ED02-A0809A794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for a Differential Effect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548F057-C2BA-050A-E68C-7EE5C9F7EC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143000"/>
            <a:ext cx="87630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Hypothesis: Price of Danish and NZ Butter is equally “effected” by quantities of each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H1: Common Effects for each quantity / price, common intercepts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H2: Common Effects for each quantity / price, different intercepts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H3: Common Effects for quantities, different effects across prices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H4: Differential Effects for quantities, common effects across prices</a:t>
            </a:r>
          </a:p>
        </p:txBody>
      </p:sp>
      <p:graphicFrame>
        <p:nvGraphicFramePr>
          <p:cNvPr id="15364" name="Object 4" descr="Four hypotheses regarding effects of quantities on price for the butter study">
            <a:extLst>
              <a:ext uri="{FF2B5EF4-FFF2-40B4-BE49-F238E27FC236}">
                <a16:creationId xmlns:a16="http://schemas.microsoft.com/office/drawing/2014/main" id="{CD78B2E4-4315-9D42-6F95-B811C14F1E2A}"/>
              </a:ext>
            </a:extLst>
          </p:cNvPr>
          <p:cNvGraphicFramePr>
            <a:graphicFrameLocks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9745301"/>
              </p:ext>
            </p:extLst>
          </p:nvPr>
        </p:nvGraphicFramePr>
        <p:xfrm>
          <a:off x="152400" y="3671888"/>
          <a:ext cx="8399463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2885" imgH="981143" progId="Equation.3">
                  <p:embed/>
                </p:oleObj>
              </mc:Choice>
              <mc:Fallback>
                <p:oleObj name="Equation" r:id="rId2" imgW="2952885" imgH="98114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671888"/>
                        <a:ext cx="8399463" cy="281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756D3EBD-964C-9D41-FC37-91BBDA3D8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563563"/>
          </a:xfrm>
        </p:spPr>
        <p:txBody>
          <a:bodyPr/>
          <a:lstStyle/>
          <a:p>
            <a:pPr eaLnBrk="1" hangingPunct="1"/>
            <a:r>
              <a:rPr lang="en-US" altLang="en-US" sz="3200"/>
              <a:t>Matrix Forms for H1:H4</a:t>
            </a:r>
          </a:p>
        </p:txBody>
      </p:sp>
      <p:graphicFrame>
        <p:nvGraphicFramePr>
          <p:cNvPr id="16387" name="Object 5" descr="H, L, and M matrices for the 4 hypotheses">
            <a:extLst>
              <a:ext uri="{FF2B5EF4-FFF2-40B4-BE49-F238E27FC236}">
                <a16:creationId xmlns:a16="http://schemas.microsoft.com/office/drawing/2014/main" id="{7B4A0226-9594-EB0E-4368-F89DF24B930A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86534"/>
              </p:ext>
            </p:extLst>
          </p:nvPr>
        </p:nvGraphicFramePr>
        <p:xfrm>
          <a:off x="381000" y="847725"/>
          <a:ext cx="8153400" cy="585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43685" imgH="3981585" progId="Equation.3">
                  <p:embed/>
                </p:oleObj>
              </mc:Choice>
              <mc:Fallback>
                <p:oleObj name="Equation" r:id="rId2" imgW="5543685" imgH="39815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847725"/>
                        <a:ext cx="8153400" cy="585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50C69CBA-D935-E8D8-4FB4-DDDE4BB17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715963"/>
          </a:xfrm>
        </p:spPr>
        <p:txBody>
          <a:bodyPr/>
          <a:lstStyle/>
          <a:p>
            <a:pPr eaLnBrk="1" hangingPunct="1"/>
            <a:r>
              <a:rPr lang="en-US" altLang="en-US"/>
              <a:t>H and E Matrices</a:t>
            </a:r>
          </a:p>
        </p:txBody>
      </p:sp>
      <p:graphicFrame>
        <p:nvGraphicFramePr>
          <p:cNvPr id="17411" name="Object 5" descr="Formulas for the H and E matrices for the  4 hypotheses">
            <a:extLst>
              <a:ext uri="{FF2B5EF4-FFF2-40B4-BE49-F238E27FC236}">
                <a16:creationId xmlns:a16="http://schemas.microsoft.com/office/drawing/2014/main" id="{BE7B2C63-0005-4A3F-B05D-E91AF2525874}"/>
              </a:ext>
            </a:extLst>
          </p:cNvPr>
          <p:cNvGraphicFramePr>
            <a:graphicFrameLocks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82768132"/>
              </p:ext>
            </p:extLst>
          </p:nvPr>
        </p:nvGraphicFramePr>
        <p:xfrm>
          <a:off x="990600" y="1036638"/>
          <a:ext cx="6692900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320" imgH="711000" progId="Equation.DSMT4">
                  <p:embed/>
                </p:oleObj>
              </mc:Choice>
              <mc:Fallback>
                <p:oleObj name="Equation" r:id="rId2" imgW="2857320" imgH="71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036638"/>
                        <a:ext cx="6692900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7" descr="Calculations of the H and E matrices and other quantities for the 4 hypotheses used in the 3 test statistics">
            <a:extLst>
              <a:ext uri="{FF2B5EF4-FFF2-40B4-BE49-F238E27FC236}">
                <a16:creationId xmlns:a16="http://schemas.microsoft.com/office/drawing/2014/main" id="{94BDECC5-AEA8-E52F-38E9-5A06AD1098F4}"/>
              </a:ext>
            </a:extLst>
          </p:cNvPr>
          <p:cNvGraphicFramePr>
            <a:graphicFrameLocks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54346633"/>
              </p:ext>
            </p:extLst>
          </p:nvPr>
        </p:nvGraphicFramePr>
        <p:xfrm>
          <a:off x="152400" y="3048000"/>
          <a:ext cx="87630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8153400" imgH="981075" progId="Excel.Sheet.8">
                  <p:embed/>
                </p:oleObj>
              </mc:Choice>
              <mc:Fallback>
                <p:oleObj name="Worksheet" r:id="rId4" imgW="8153400" imgH="981075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0"/>
                        <a:ext cx="87630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9" descr="Calculations of Wilks' Lampda and Pillai's Trace test statistics for the 4 hypotheses">
            <a:extLst>
              <a:ext uri="{FF2B5EF4-FFF2-40B4-BE49-F238E27FC236}">
                <a16:creationId xmlns:a16="http://schemas.microsoft.com/office/drawing/2014/main" id="{00C118D9-A8F0-A6FD-8E72-5D87FE241E0F}"/>
              </a:ext>
            </a:extLst>
          </p:cNvPr>
          <p:cNvGraphicFramePr>
            <a:graphicFrameLocks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78739171"/>
              </p:ext>
            </p:extLst>
          </p:nvPr>
        </p:nvGraphicFramePr>
        <p:xfrm>
          <a:off x="304800" y="4535488"/>
          <a:ext cx="86868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5095875" imgH="819150" progId="Excel.Sheet.8">
                  <p:embed/>
                </p:oleObj>
              </mc:Choice>
              <mc:Fallback>
                <p:oleObj name="Worksheet" r:id="rId6" imgW="5095875" imgH="819150" progId="Excel.Shee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535488"/>
                        <a:ext cx="86868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11">
            <a:extLst>
              <a:ext uri="{FF2B5EF4-FFF2-40B4-BE49-F238E27FC236}">
                <a16:creationId xmlns:a16="http://schemas.microsoft.com/office/drawing/2014/main" id="{32238057-B9B6-8D89-31C6-B02E5F3E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19800"/>
            <a:ext cx="67818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Note:  F</a:t>
            </a:r>
            <a:r>
              <a:rPr lang="en-US" altLang="en-US" b="1" baseline="-25000">
                <a:solidFill>
                  <a:srgbClr val="FFFF00"/>
                </a:solidFill>
                <a:latin typeface="Berlin Sans FB Demi" panose="020E0802020502020306" pitchFamily="34" charset="0"/>
              </a:rPr>
              <a:t>.05,6,75</a:t>
            </a: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=2.22, F</a:t>
            </a:r>
            <a:r>
              <a:rPr lang="en-US" altLang="en-US" b="1" baseline="-25000">
                <a:solidFill>
                  <a:srgbClr val="FFFF00"/>
                </a:solidFill>
                <a:latin typeface="Berlin Sans FB Demi" panose="020E0802020502020306" pitchFamily="34" charset="0"/>
              </a:rPr>
              <a:t>.05,5,75</a:t>
            </a: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=2.34,   F</a:t>
            </a:r>
            <a:r>
              <a:rPr lang="en-US" altLang="en-US" b="1" baseline="-25000">
                <a:solidFill>
                  <a:srgbClr val="FFFF00"/>
                </a:solidFill>
                <a:latin typeface="Berlin Sans FB Demi" panose="020E0802020502020306" pitchFamily="34" charset="0"/>
              </a:rPr>
              <a:t>.05,4,150</a:t>
            </a: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=2.44, F</a:t>
            </a:r>
            <a:r>
              <a:rPr lang="en-US" altLang="en-US" b="1" baseline="-25000">
                <a:solidFill>
                  <a:srgbClr val="FFFF00"/>
                </a:solidFill>
                <a:latin typeface="Berlin Sans FB Demi" panose="020E0802020502020306" pitchFamily="34" charset="0"/>
              </a:rPr>
              <a:t>.05,4,75</a:t>
            </a: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=2.49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FF00"/>
                </a:solidFill>
                <a:latin typeface="Berlin Sans FB Demi" panose="020E0802020502020306" pitchFamily="34" charset="0"/>
              </a:rPr>
              <a:t>All 4 hypotheses are rejected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erlin Sans FB Demi"/>
        <a:ea typeface=""/>
        <a:cs typeface=""/>
      </a:majorFont>
      <a:minorFont>
        <a:latin typeface="Berlin Sans FB Dem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405</Words>
  <Application>Microsoft Office PowerPoint</Application>
  <PresentationFormat>On-screen Show (4:3)</PresentationFormat>
  <Paragraphs>49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Berlin Sans FB Demi</vt:lpstr>
      <vt:lpstr>Calibri</vt:lpstr>
      <vt:lpstr>Symbol</vt:lpstr>
      <vt:lpstr>Default Design</vt:lpstr>
      <vt:lpstr>Microsoft Office Excel Chart</vt:lpstr>
      <vt:lpstr>MathType 7.0 Equation</vt:lpstr>
      <vt:lpstr>Microsoft Equation 3.0</vt:lpstr>
      <vt:lpstr>Microsoft Office Excel Worksheet</vt:lpstr>
      <vt:lpstr>MathType 6.0 Equation</vt:lpstr>
      <vt:lpstr>Multivariate Regression</vt:lpstr>
      <vt:lpstr>Data</vt:lpstr>
      <vt:lpstr>Plot of Danish and NZ Butter Prices in Britain</vt:lpstr>
      <vt:lpstr>Plots of Danish and NZ Price and Imports</vt:lpstr>
      <vt:lpstr>Multivariate Regression Model</vt:lpstr>
      <vt:lpstr>Least Squares Estimators</vt:lpstr>
      <vt:lpstr>Butter Price Example - I</vt:lpstr>
      <vt:lpstr>Butter Price Example - II</vt:lpstr>
      <vt:lpstr>Testing Hypotheses Regarding b</vt:lpstr>
      <vt:lpstr>Matrix Set up for General Linear Tests</vt:lpstr>
      <vt:lpstr>Three Statistics Based on H and E</vt:lpstr>
      <vt:lpstr>Testing Relation Between Price and Quality (I)</vt:lpstr>
      <vt:lpstr>Testing Relation Between Price and Quality (II)</vt:lpstr>
      <vt:lpstr>Testing for a Differential Effect</vt:lpstr>
      <vt:lpstr>Matrix Forms for H1:H4</vt:lpstr>
      <vt:lpstr>H and E Matrices</vt:lpstr>
    </vt:vector>
  </TitlesOfParts>
  <Company>University of Florida,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Multivariate Regression</dc:title>
  <dc:creator>winner</dc:creator>
  <cp:lastModifiedBy>Winner,Lawrence Herman</cp:lastModifiedBy>
  <cp:revision>41</cp:revision>
  <dcterms:created xsi:type="dcterms:W3CDTF">2007-08-01T18:38:39Z</dcterms:created>
  <dcterms:modified xsi:type="dcterms:W3CDTF">2025-12-19T14:47:58Z</dcterms:modified>
</cp:coreProperties>
</file>