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0000CC"/>
    <a:srgbClr val="666633"/>
    <a:srgbClr val="9900FF"/>
    <a:srgbClr val="003366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8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1301B-A489-221A-A49C-EF33B5D469A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dirty="0"/>
              <a:t>Empirical Example of Joint Probability Distributions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9661E3-AEC9-BCEA-2D16-2299410388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NBA Over/Under and Total Points 2006/07-2018/19 Regular Season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Source: Covers.com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9BBEE2-B2E6-7093-82AF-83E6E56E1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298BCF-A75E-2053-8691-F65A306E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1A5D9-FD16-CB4E-E538-E5756EBB4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305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CAF61-B3AD-C84A-AA7D-1441FE161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036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3A7F5-616F-26E7-0B94-CE48A8494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447"/>
            <a:ext cx="10515600" cy="475351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69086-996B-8B98-4886-0304362EE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5C90C-6CA9-F595-1F37-533C6A904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69863-B40D-E1BD-DCDE-1D876B53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8655D-1274-68FD-47C7-1C39B98AA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3AD8F-9FC4-85E7-4D48-C020FD82B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59C80-2089-3CB0-F006-3DEA8DA7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9AEAC-58D5-D5E7-ED7B-58561678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65F1B-31F3-EACE-8BBF-17972DA2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2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D3C28-8472-7DE4-4EF2-E820015F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6745B-BDDF-FDBE-1A2D-FE48B178B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4CFD2-38D0-3A7A-2537-EBD11526E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B18FA2-9C94-7EA3-47F3-2585E9DF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56CBD-4462-1DC1-D038-7D2F3EFA2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3166B-F2A5-F588-758B-7AFACA5A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520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EF43-F671-0DF1-231C-DC62D7DF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D8C11-229D-88A5-A2B7-311FFA6B55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7D5D4-B0F1-B083-FA6F-2C15AD619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C6B99-BDD3-5CD8-E275-D51EAC0B7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2A1725-A5DA-0039-7634-5BE33D752A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09F38E-BEBE-138B-8F65-3FEA93596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FD7DE7-0BA3-3F00-8CAD-C89470E07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959976-0F5F-A912-4973-F8646F7B2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37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D2F0-9C64-DE56-4E1A-47857AB15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4150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B68A39-36B4-11A7-0FC1-09ED83038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A038D-6E05-6EE0-BC26-24C7AA5CE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60E0D0-A935-5BA2-9521-1EDCFF5F5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987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78988-E050-34C5-581D-9A720928D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AE0380-2BD8-A829-6DA1-25C77E11F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499A5-0F1D-BA28-9E59-8FAABC399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1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7816E-521B-C099-5996-46F38F2C9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7F4B2-4DD6-DF8B-10FA-157E50A33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C37B25-3873-7FC0-20BB-21FF6589C9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0076-2BB8-2EE6-A59C-E0F937FB0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8737B9-779D-F7B0-C820-0054A89F3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2FB72B-0BA9-752C-E6BD-1C1978C5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772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46851-8713-90F3-1A7E-F79C8828B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0925B3-E6F9-288A-822F-6C822D7575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A8CEB1-EB08-0B25-2FB3-B2FEDD488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86C1C-4261-4420-97F8-4BA503DAA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F7D8D-EC58-07B8-83B7-2A2BEFCEC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F35EB-6883-E61A-33EE-15B1AE5C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024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4C063-FB7B-F3E7-443D-74AA2202A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70FDAD-C8D5-AF51-07FE-CA295FCB47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86E69-3662-1272-C443-DBB8D1FF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8826D-571C-18C5-E20F-A42D2046A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86DB0-03C0-C7B0-A3EB-863A741D0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34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0B8930-3121-84CC-8EB7-87507113A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B230E-5DCA-1C34-A93C-F2C0373F93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85496-0E70-C27B-7B0D-0D7FAA065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D21DDA-4019-63D2-8A00-4DC045E18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B88E4-55B7-6BA2-62B4-BADF23DB2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061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C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137CA2-9A52-7BCB-1DD6-B2716B53D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9DB4D-B57D-9512-D580-3466CD78F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D12E8-03CA-C06A-56BB-0749EC312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4E8D2-5943-437C-B833-A7FAED44675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6ACF8-40C9-411E-D1DC-85CCAB787D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9CDA9-516F-462B-AB46-900C75586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16AD-FBE9-4DD5-B95D-B41E79DCB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43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Excel_Worksheet1.xls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w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B891-7FE8-9355-32FC-2A96A323ED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Application of Empirical Joint Probability Distributions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B27185-A23E-F23A-28D7-6E6E8E5749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NBA Regular Season Over/Under Betting Lines and Actual Total Points – 2006/07-2018/19 Regular Seasons</a:t>
            </a:r>
          </a:p>
          <a:p>
            <a:endParaRPr lang="en-US" dirty="0"/>
          </a:p>
          <a:p>
            <a:r>
              <a:rPr lang="en-US" sz="1200" dirty="0"/>
              <a:t>Data Source:  </a:t>
            </a:r>
            <a:r>
              <a:rPr lang="en-US" sz="1200"/>
              <a:t>covers.com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228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1F13C-563B-AD0C-6FBF-D00D064A0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55C20-7B4A-4ECB-F330-CDC2F5C1C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328" y="1423447"/>
            <a:ext cx="11095348" cy="4753516"/>
          </a:xfrm>
        </p:spPr>
        <p:txBody>
          <a:bodyPr>
            <a:normAutofit/>
          </a:bodyPr>
          <a:lstStyle/>
          <a:p>
            <a:r>
              <a:rPr lang="en-US" dirty="0"/>
              <a:t>Population: N = 15749 National Basketball Association Games from 2006/07-2018/19 Seasons</a:t>
            </a:r>
          </a:p>
          <a:p>
            <a:endParaRPr lang="en-US" dirty="0"/>
          </a:p>
          <a:p>
            <a:r>
              <a:rPr lang="en-US" dirty="0"/>
              <a:t>Variables observed for each game:</a:t>
            </a:r>
          </a:p>
          <a:p>
            <a:pPr lvl="1"/>
            <a:r>
              <a:rPr lang="en-US" dirty="0"/>
              <a:t>X = Over/Under Betting Line set pre-game for Total Points Scored in Game</a:t>
            </a:r>
          </a:p>
          <a:p>
            <a:pPr lvl="1"/>
            <a:r>
              <a:rPr lang="en-US" dirty="0"/>
              <a:t>Y = Total Points Actually Scored in Game</a:t>
            </a:r>
          </a:p>
          <a:p>
            <a:pPr lvl="1"/>
            <a:r>
              <a:rPr lang="en-US" dirty="0"/>
              <a:t>Z = Over/Under Betting Range (Representing a Partition of Sample Space of Over/Under), Used in Demonstrating Expectations, Variances, and Covariances</a:t>
            </a:r>
          </a:p>
          <a:p>
            <a:pPr lvl="1"/>
            <a:endParaRPr lang="en-US" dirty="0"/>
          </a:p>
          <a:p>
            <a:r>
              <a:rPr lang="en-US" dirty="0"/>
              <a:t>Note: all computations for Standard Deviations, Variances, and Covariances are adjusted to use N, not N-1 as divisor</a:t>
            </a:r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9A907-CB96-E0E7-90C1-4A9FA51D3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8016"/>
            <a:ext cx="10515600" cy="374345"/>
          </a:xfrm>
        </p:spPr>
        <p:txBody>
          <a:bodyPr>
            <a:normAutofit fontScale="90000"/>
          </a:bodyPr>
          <a:lstStyle/>
          <a:p>
            <a:r>
              <a:rPr lang="en-US" dirty="0"/>
              <a:t>Univariate Summaries</a:t>
            </a:r>
          </a:p>
        </p:txBody>
      </p:sp>
      <p:graphicFrame>
        <p:nvGraphicFramePr>
          <p:cNvPr id="4" name="Object 3" descr="Population summaries for Over/Under lines (X) and Total Points (Y) and breakdown of games into 10 rangers for the O/U lines">
            <a:extLst>
              <a:ext uri="{FF2B5EF4-FFF2-40B4-BE49-F238E27FC236}">
                <a16:creationId xmlns:a16="http://schemas.microsoft.com/office/drawing/2014/main" id="{C3E1252D-3F30-11F9-E278-9DECDB95B6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408919"/>
              </p:ext>
            </p:extLst>
          </p:nvPr>
        </p:nvGraphicFramePr>
        <p:xfrm>
          <a:off x="500932" y="880220"/>
          <a:ext cx="9927866" cy="40690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600570" imgH="2295461" progId="Excel.Sheet.12">
                  <p:embed/>
                </p:oleObj>
              </mc:Choice>
              <mc:Fallback>
                <p:oleObj name="Worksheet" r:id="rId2" imgW="5600570" imgH="229546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0932" y="880220"/>
                        <a:ext cx="9927866" cy="40690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 descr="Formulas for population mean and variance">
            <a:extLst>
              <a:ext uri="{FF2B5EF4-FFF2-40B4-BE49-F238E27FC236}">
                <a16:creationId xmlns:a16="http://schemas.microsoft.com/office/drawing/2014/main" id="{C7AB558E-4150-6014-D25E-FDD5F98033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5059221"/>
              </p:ext>
            </p:extLst>
          </p:nvPr>
        </p:nvGraphicFramePr>
        <p:xfrm>
          <a:off x="1638203" y="5147834"/>
          <a:ext cx="7290991" cy="1462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86120" imgH="939600" progId="Equation.DSMT4">
                  <p:embed/>
                </p:oleObj>
              </mc:Choice>
              <mc:Fallback>
                <p:oleObj name="Equation" r:id="rId4" imgW="468612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38203" y="5147834"/>
                        <a:ext cx="7290991" cy="1462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81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C71AA6-EE0D-0E15-DB5E-6483A97C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86981"/>
          </a:xfrm>
        </p:spPr>
        <p:txBody>
          <a:bodyPr/>
          <a:lstStyle/>
          <a:p>
            <a:r>
              <a:rPr lang="en-US" dirty="0"/>
              <a:t>Histograms</a:t>
            </a:r>
          </a:p>
        </p:txBody>
      </p:sp>
      <p:pic>
        <p:nvPicPr>
          <p:cNvPr id="3" name="Picture 2" descr="Histograms of Over/Under lines and total points">
            <a:extLst>
              <a:ext uri="{FF2B5EF4-FFF2-40B4-BE49-F238E27FC236}">
                <a16:creationId xmlns:a16="http://schemas.microsoft.com/office/drawing/2014/main" id="{24E5655F-E2CD-8E5F-C609-ACA31852B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473" y="1065229"/>
            <a:ext cx="10448041" cy="555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872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8DB68-A95C-2CB7-60E8-2136FC2FC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49274"/>
          </a:xfrm>
        </p:spPr>
        <p:txBody>
          <a:bodyPr/>
          <a:lstStyle/>
          <a:p>
            <a:r>
              <a:rPr lang="en-US" dirty="0"/>
              <a:t>Raincloud Plot with Boxplots</a:t>
            </a:r>
          </a:p>
        </p:txBody>
      </p:sp>
      <p:pic>
        <p:nvPicPr>
          <p:cNvPr id="4" name="Picture 3" descr="Raincloud plots of Over/Under lines (coral) and total points (green) with boxplots for middle 50% of values">
            <a:extLst>
              <a:ext uri="{FF2B5EF4-FFF2-40B4-BE49-F238E27FC236}">
                <a16:creationId xmlns:a16="http://schemas.microsoft.com/office/drawing/2014/main" id="{98CAAC14-8E14-D605-D6C2-E9E4E7E685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632" y="1082800"/>
            <a:ext cx="11098491" cy="556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05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F7FB-AC8E-0CC3-277F-1F5E7865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68" y="166647"/>
            <a:ext cx="11260136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Bivariate Association Between Over/Under (X) and Total Points (Y) - I</a:t>
            </a:r>
          </a:p>
        </p:txBody>
      </p:sp>
      <p:graphicFrame>
        <p:nvGraphicFramePr>
          <p:cNvPr id="3" name="Object 2" descr="Means, Variances, covariance and correlation for Over/Under and Total Points with Conditional mean and variance for Total Points given Over/Under">
            <a:extLst>
              <a:ext uri="{FF2B5EF4-FFF2-40B4-BE49-F238E27FC236}">
                <a16:creationId xmlns:a16="http://schemas.microsoft.com/office/drawing/2014/main" id="{3E8A6899-DA02-8D4F-B15E-821E3053FF4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2015265"/>
              </p:ext>
            </p:extLst>
          </p:nvPr>
        </p:nvGraphicFramePr>
        <p:xfrm>
          <a:off x="379413" y="1208088"/>
          <a:ext cx="11558587" cy="517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016920" imgH="4038480" progId="Equation.DSMT4">
                  <p:embed/>
                </p:oleObj>
              </mc:Choice>
              <mc:Fallback>
                <p:oleObj name="Equation" r:id="rId2" imgW="9016920" imgH="4038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79413" y="1208088"/>
                        <a:ext cx="11558587" cy="51784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0232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F7FB-AC8E-0CC3-277F-1F5E7865A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968" y="166647"/>
            <a:ext cx="11260136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Bivariate Association Between Over/Under (X) and Total Points (Y) - II</a:t>
            </a:r>
          </a:p>
        </p:txBody>
      </p:sp>
      <p:pic>
        <p:nvPicPr>
          <p:cNvPr id="7" name="Picture 6" descr="Data, Regression line, line of equality, and horizontal line at mean of Y">
            <a:extLst>
              <a:ext uri="{FF2B5EF4-FFF2-40B4-BE49-F238E27FC236}">
                <a16:creationId xmlns:a16="http://schemas.microsoft.com/office/drawing/2014/main" id="{00847D30-1B71-D065-B465-26A2078BAC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14" y="996670"/>
            <a:ext cx="11365690" cy="569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89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1CF2-8591-9AE1-545A-3076642D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422"/>
            <a:ext cx="10515600" cy="681249"/>
          </a:xfrm>
        </p:spPr>
        <p:txBody>
          <a:bodyPr/>
          <a:lstStyle/>
          <a:p>
            <a:r>
              <a:rPr lang="en-US" dirty="0"/>
              <a:t>Conditional Distributions of X and Y Given Z - 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648E46-943E-3606-FE02-8C9BAA23B146}"/>
              </a:ext>
            </a:extLst>
          </p:cNvPr>
          <p:cNvSpPr txBox="1"/>
          <p:nvPr/>
        </p:nvSpPr>
        <p:spPr>
          <a:xfrm>
            <a:off x="461176" y="5184250"/>
            <a:ext cx="111954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</a:t>
            </a:r>
          </a:p>
          <a:p>
            <a:r>
              <a:rPr lang="en-US" dirty="0"/>
              <a:t>  1) The conditional means of X (Over/Under) and Y (Total Points) are very similar with each level of z  (</a:t>
            </a:r>
            <a:r>
              <a:rPr lang="en-US" dirty="0" err="1"/>
              <a:t>corr</a:t>
            </a:r>
            <a:r>
              <a:rPr lang="en-US" dirty="0"/>
              <a:t> = .999)</a:t>
            </a:r>
          </a:p>
          <a:p>
            <a:r>
              <a:rPr lang="en-US" dirty="0"/>
              <a:t>  2) The conditional means of X and Y are increasing in z (which is a partition of the Over/Under range) – not surprising</a:t>
            </a:r>
          </a:p>
          <a:p>
            <a:r>
              <a:rPr lang="en-US" dirty="0"/>
              <a:t>  3) The conditional correlations between X and Y are much smaller within z levels than overall (</a:t>
            </a:r>
            <a:r>
              <a:rPr lang="en-US" dirty="0" err="1">
                <a:latin typeface="Symbol" panose="05050102010706020507" pitchFamily="18" charset="2"/>
              </a:rPr>
              <a:t>r</a:t>
            </a:r>
            <a:r>
              <a:rPr lang="en-US" baseline="-25000" dirty="0" err="1"/>
              <a:t>XY</a:t>
            </a:r>
            <a:r>
              <a:rPr lang="en-US" dirty="0"/>
              <a:t> = 0.568)</a:t>
            </a:r>
          </a:p>
          <a:p>
            <a:r>
              <a:rPr lang="en-US" dirty="0"/>
              <a:t>  4) The highest conditional correlations are in the two extreme z levels (low score and high score games)</a:t>
            </a:r>
          </a:p>
        </p:txBody>
      </p:sp>
      <p:graphicFrame>
        <p:nvGraphicFramePr>
          <p:cNvPr id="6" name="Object 5" descr="Conditional means of O/U (X) and Total Points (Y) given Z (OU Range group) ">
            <a:extLst>
              <a:ext uri="{FF2B5EF4-FFF2-40B4-BE49-F238E27FC236}">
                <a16:creationId xmlns:a16="http://schemas.microsoft.com/office/drawing/2014/main" id="{9EF3041D-5CAE-1F21-C94E-03F5CD4A2E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177108"/>
              </p:ext>
            </p:extLst>
          </p:nvPr>
        </p:nvGraphicFramePr>
        <p:xfrm>
          <a:off x="157204" y="1150399"/>
          <a:ext cx="11414618" cy="3731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438972" imgH="2105012" progId="Excel.Sheet.12">
                  <p:embed/>
                </p:oleObj>
              </mc:Choice>
              <mc:Fallback>
                <p:oleObj name="Worksheet" r:id="rId2" imgW="6438972" imgH="2105012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7204" y="1150399"/>
                        <a:ext cx="11414618" cy="37317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615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1CF2-8591-9AE1-545A-3076642D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25420"/>
          </a:xfrm>
        </p:spPr>
        <p:txBody>
          <a:bodyPr>
            <a:normAutofit fontScale="90000"/>
          </a:bodyPr>
          <a:lstStyle/>
          <a:p>
            <a:r>
              <a:rPr lang="en-US" dirty="0"/>
              <a:t>Conditional Distributions of X and Y Given Z - II</a:t>
            </a:r>
          </a:p>
        </p:txBody>
      </p:sp>
      <p:pic>
        <p:nvPicPr>
          <p:cNvPr id="8" name="Picture 7" descr="Plots of Conditional means of O/U (X) and Total Points (Y) given Z (OU Range group) ">
            <a:extLst>
              <a:ext uri="{FF2B5EF4-FFF2-40B4-BE49-F238E27FC236}">
                <a16:creationId xmlns:a16="http://schemas.microsoft.com/office/drawing/2014/main" id="{BCD621AB-3696-BDB3-93F0-57CE422F2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1" y="1083492"/>
            <a:ext cx="11062915" cy="554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079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61CF2-8591-9AE1-545A-3076642DD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430003"/>
          </a:xfrm>
        </p:spPr>
        <p:txBody>
          <a:bodyPr>
            <a:normAutofit fontScale="90000"/>
          </a:bodyPr>
          <a:lstStyle/>
          <a:p>
            <a:r>
              <a:rPr lang="en-US" dirty="0"/>
              <a:t>Associations Between X and Y Given Z </a:t>
            </a:r>
          </a:p>
        </p:txBody>
      </p:sp>
      <p:pic>
        <p:nvPicPr>
          <p:cNvPr id="4" name="Picture 3" descr="Associations between Y and X given Z">
            <a:extLst>
              <a:ext uri="{FF2B5EF4-FFF2-40B4-BE49-F238E27FC236}">
                <a16:creationId xmlns:a16="http://schemas.microsoft.com/office/drawing/2014/main" id="{92F8C891-6875-455C-550B-7BE9D2B5F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198" y="905508"/>
            <a:ext cx="11449879" cy="5736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190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FD07-6801-963C-23BB-D09F2EAA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6"/>
            <a:ext cx="10515600" cy="620836"/>
          </a:xfrm>
        </p:spPr>
        <p:txBody>
          <a:bodyPr/>
          <a:lstStyle/>
          <a:p>
            <a:r>
              <a:rPr lang="en-US" dirty="0"/>
              <a:t>Conditional Expectations, Variances, and Covariances - I</a:t>
            </a:r>
          </a:p>
        </p:txBody>
      </p:sp>
      <p:graphicFrame>
        <p:nvGraphicFramePr>
          <p:cNvPr id="3" name="Object 2" descr="Formulas for Conditional Means, variances, and covariances ">
            <a:extLst>
              <a:ext uri="{FF2B5EF4-FFF2-40B4-BE49-F238E27FC236}">
                <a16:creationId xmlns:a16="http://schemas.microsoft.com/office/drawing/2014/main" id="{EAD14862-3093-3E51-875C-1B37831F5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2573206"/>
              </p:ext>
            </p:extLst>
          </p:nvPr>
        </p:nvGraphicFramePr>
        <p:xfrm>
          <a:off x="776399" y="705150"/>
          <a:ext cx="9918700" cy="302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912080" imgH="2412720" progId="Equation.DSMT4">
                  <p:embed/>
                </p:oleObj>
              </mc:Choice>
              <mc:Fallback>
                <p:oleObj name="Equation" r:id="rId2" imgW="7912080" imgH="241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76399" y="705150"/>
                        <a:ext cx="9918700" cy="302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 descr="Computations of conditional meams, variances, covariances, and correlations for points data">
            <a:extLst>
              <a:ext uri="{FF2B5EF4-FFF2-40B4-BE49-F238E27FC236}">
                <a16:creationId xmlns:a16="http://schemas.microsoft.com/office/drawing/2014/main" id="{5A02D8C9-D7BC-0369-1B06-EFC0153096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3263800"/>
              </p:ext>
            </p:extLst>
          </p:nvPr>
        </p:nvGraphicFramePr>
        <p:xfrm>
          <a:off x="838200" y="3847463"/>
          <a:ext cx="8242465" cy="2693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1414993" imgH="3730981" progId="Excel.Sheet.12">
                  <p:embed/>
                </p:oleObj>
              </mc:Choice>
              <mc:Fallback>
                <p:oleObj name="Worksheet" r:id="rId4" imgW="11414993" imgH="37309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8200" y="3847463"/>
                        <a:ext cx="8242465" cy="26936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5133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7FD07-6801-963C-23BB-D09F2EAA1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246"/>
            <a:ext cx="10515600" cy="469761"/>
          </a:xfrm>
        </p:spPr>
        <p:txBody>
          <a:bodyPr>
            <a:normAutofit fontScale="90000"/>
          </a:bodyPr>
          <a:lstStyle/>
          <a:p>
            <a:r>
              <a:rPr lang="en-US" dirty="0"/>
              <a:t>Conditional Expectations, Variances, and Covariances - II</a:t>
            </a:r>
          </a:p>
        </p:txBody>
      </p:sp>
      <p:graphicFrame>
        <p:nvGraphicFramePr>
          <p:cNvPr id="3" name="Object 2" descr="Formulas for using coditional means, variances, and covariances to obtain marginal means, variances, and covariances">
            <a:extLst>
              <a:ext uri="{FF2B5EF4-FFF2-40B4-BE49-F238E27FC236}">
                <a16:creationId xmlns:a16="http://schemas.microsoft.com/office/drawing/2014/main" id="{EAD14862-3093-3E51-875C-1B37831F5B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8689029"/>
              </p:ext>
            </p:extLst>
          </p:nvPr>
        </p:nvGraphicFramePr>
        <p:xfrm>
          <a:off x="929612" y="652007"/>
          <a:ext cx="9486596" cy="49202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10200" imgH="4051080" progId="Equation.DSMT4">
                  <p:embed/>
                </p:oleObj>
              </mc:Choice>
              <mc:Fallback>
                <p:oleObj name="Equation" r:id="rId2" imgW="7810200" imgH="4051080" progId="Equation.DSMT4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EAD14862-3093-3E51-875C-1B37831F5B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9612" y="652007"/>
                        <a:ext cx="9486596" cy="49202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BFDC756-2290-82B7-7595-7EA0C1CD554C}"/>
              </a:ext>
            </a:extLst>
          </p:cNvPr>
          <p:cNvSpPr txBox="1"/>
          <p:nvPr/>
        </p:nvSpPr>
        <p:spPr>
          <a:xfrm>
            <a:off x="596348" y="5709685"/>
            <a:ext cx="92314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Marginal Mean = Probability weighted average of conditional means</a:t>
            </a:r>
          </a:p>
          <a:p>
            <a:pPr marL="342900" indent="-342900">
              <a:buAutoNum type="arabicParenR"/>
            </a:pPr>
            <a:r>
              <a:rPr lang="en-US" dirty="0"/>
              <a:t>Marginal Variance = Mean(Conditional Variances) + Variance(Conditional Means)</a:t>
            </a:r>
          </a:p>
          <a:p>
            <a:pPr marL="342900" indent="-342900">
              <a:buAutoNum type="arabicParenR"/>
            </a:pPr>
            <a:r>
              <a:rPr lang="en-US" dirty="0"/>
              <a:t>Marginal Covariance = Mean(Conditional Covariances) + Covariance(Conditional Means)</a:t>
            </a:r>
          </a:p>
        </p:txBody>
      </p:sp>
    </p:spTree>
    <p:extLst>
      <p:ext uri="{BB962C8B-B14F-4D97-AF65-F5344CB8AC3E}">
        <p14:creationId xmlns:p14="http://schemas.microsoft.com/office/powerpoint/2010/main" val="42286505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D5FBA-8304-A05F-7553-8EAAE4FF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859" y="269710"/>
            <a:ext cx="10515600" cy="408179"/>
          </a:xfrm>
        </p:spPr>
        <p:txBody>
          <a:bodyPr>
            <a:normAutofit fontScale="90000"/>
          </a:bodyPr>
          <a:lstStyle/>
          <a:p>
            <a:r>
              <a:rPr lang="en-US" dirty="0"/>
              <a:t>Application: NBA Over/Under (X), Total Points (Y), OU Group (Z)</a:t>
            </a:r>
          </a:p>
        </p:txBody>
      </p:sp>
      <p:graphicFrame>
        <p:nvGraphicFramePr>
          <p:cNvPr id="3" name="Object 2" descr="Tables of values of conditional means, variances, and covariances for points data">
            <a:extLst>
              <a:ext uri="{FF2B5EF4-FFF2-40B4-BE49-F238E27FC236}">
                <a16:creationId xmlns:a16="http://schemas.microsoft.com/office/drawing/2014/main" id="{D7ACE203-4DAB-8609-4A22-209BDDA509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2230857"/>
              </p:ext>
            </p:extLst>
          </p:nvPr>
        </p:nvGraphicFramePr>
        <p:xfrm>
          <a:off x="1804945" y="745426"/>
          <a:ext cx="7593219" cy="2480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8241982" imgH="2693055" progId="Excel.Sheet.12">
                  <p:embed/>
                </p:oleObj>
              </mc:Choice>
              <mc:Fallback>
                <p:oleObj name="Worksheet" r:id="rId2" imgW="8241982" imgH="2693055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04945" y="745426"/>
                        <a:ext cx="7593219" cy="2480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 descr="Using the values of conditional means, variances, and covariances for points data to obtain marginal means, variances, and covariances">
            <a:extLst>
              <a:ext uri="{FF2B5EF4-FFF2-40B4-BE49-F238E27FC236}">
                <a16:creationId xmlns:a16="http://schemas.microsoft.com/office/drawing/2014/main" id="{851BAFB5-A711-2A72-4452-F0604A2F4C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3716831"/>
              </p:ext>
            </p:extLst>
          </p:nvPr>
        </p:nvGraphicFramePr>
        <p:xfrm>
          <a:off x="419100" y="3429000"/>
          <a:ext cx="11174413" cy="329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08880" imgH="2743200" progId="Equation.DSMT4">
                  <p:embed/>
                </p:oleObj>
              </mc:Choice>
              <mc:Fallback>
                <p:oleObj name="Equation" r:id="rId4" imgW="9308880" imgH="274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9100" y="3429000"/>
                        <a:ext cx="11174413" cy="3292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380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</TotalTime>
  <Words>372</Words>
  <Application>Microsoft Office PowerPoint</Application>
  <PresentationFormat>Widescreen</PresentationFormat>
  <Paragraphs>32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Symbol</vt:lpstr>
      <vt:lpstr>Office Theme</vt:lpstr>
      <vt:lpstr>Worksheet</vt:lpstr>
      <vt:lpstr>Equation</vt:lpstr>
      <vt:lpstr>Application of Empirical Joint Probability Distributions</vt:lpstr>
      <vt:lpstr>Data Description</vt:lpstr>
      <vt:lpstr>Univariate Summaries</vt:lpstr>
      <vt:lpstr>Histograms</vt:lpstr>
      <vt:lpstr>Raincloud Plot with Boxplots</vt:lpstr>
      <vt:lpstr>Bivariate Association Between Over/Under (X) and Total Points (Y) - I</vt:lpstr>
      <vt:lpstr>Bivariate Association Between Over/Under (X) and Total Points (Y) - II</vt:lpstr>
      <vt:lpstr>Conditional Distributions of X and Y Given Z - I</vt:lpstr>
      <vt:lpstr>Conditional Distributions of X and Y Given Z - II</vt:lpstr>
      <vt:lpstr>Associations Between X and Y Given Z </vt:lpstr>
      <vt:lpstr>Conditional Expectations, Variances, and Covariances - I</vt:lpstr>
      <vt:lpstr>Conditional Expectations, Variances, and Covariances - II</vt:lpstr>
      <vt:lpstr>Application: NBA Over/Under (X), Total Points (Y), OU Group (Z)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Winner,Lawrence Herman</dc:creator>
  <cp:lastModifiedBy>Winner,Lawrence Herman</cp:lastModifiedBy>
  <cp:revision>49</cp:revision>
  <dcterms:created xsi:type="dcterms:W3CDTF">2023-08-17T11:22:32Z</dcterms:created>
  <dcterms:modified xsi:type="dcterms:W3CDTF">2025-12-17T15:17:14Z</dcterms:modified>
</cp:coreProperties>
</file>