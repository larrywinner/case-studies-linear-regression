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3" autoAdjust="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cases\big20_air_samp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Random Coefficient Regression - 10 City Pair Air Markets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big20_air_samp!$X$8</c:f>
              <c:strCache>
                <c:ptCount val="1"/>
                <c:pt idx="0">
                  <c:v>Overall</c:v>
                </c:pt>
              </c:strCache>
            </c:strRef>
          </c:tx>
          <c:spPr>
            <a:ln w="3810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big20_air_samp!$X$9:$X$13</c:f>
              <c:numCache>
                <c:formatCode>General</c:formatCode>
                <c:ptCount val="5"/>
                <c:pt idx="0">
                  <c:v>7.0957411150099245</c:v>
                </c:pt>
                <c:pt idx="1">
                  <c:v>7.161061302432338</c:v>
                </c:pt>
                <c:pt idx="2">
                  <c:v>7.2263814898547505</c:v>
                </c:pt>
                <c:pt idx="3">
                  <c:v>7.2917016772771639</c:v>
                </c:pt>
                <c:pt idx="4">
                  <c:v>7.3570218646995773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17F-4918-94A4-618556A8E4BF}"/>
            </c:ext>
          </c:extLst>
        </c:ser>
        <c:ser>
          <c:idx val="1"/>
          <c:order val="1"/>
          <c:tx>
            <c:strRef>
              <c:f>big20_air_samp!$Y$8</c:f>
              <c:strCache>
                <c:ptCount val="1"/>
                <c:pt idx="0">
                  <c:v>CityPair1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big20_air_samp!$Y$9:$Y$13</c:f>
              <c:numCache>
                <c:formatCode>General</c:formatCode>
                <c:ptCount val="5"/>
                <c:pt idx="0">
                  <c:v>7.1821303542940509</c:v>
                </c:pt>
                <c:pt idx="1">
                  <c:v>7.215848311305332</c:v>
                </c:pt>
                <c:pt idx="2">
                  <c:v>7.2495662683166131</c:v>
                </c:pt>
                <c:pt idx="3">
                  <c:v>7.2832842253278942</c:v>
                </c:pt>
                <c:pt idx="4">
                  <c:v>7.3170021823391753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17F-4918-94A4-618556A8E4BF}"/>
            </c:ext>
          </c:extLst>
        </c:ser>
        <c:ser>
          <c:idx val="2"/>
          <c:order val="2"/>
          <c:tx>
            <c:strRef>
              <c:f>big20_air_samp!$Z$8</c:f>
              <c:strCache>
                <c:ptCount val="1"/>
                <c:pt idx="0">
                  <c:v>CityPair2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big20_air_samp!$Z$9:$Z$13</c:f>
              <c:numCache>
                <c:formatCode>General</c:formatCode>
                <c:ptCount val="5"/>
                <c:pt idx="0">
                  <c:v>7.2606457690603499</c:v>
                </c:pt>
                <c:pt idx="1">
                  <c:v>7.3391305794324415</c:v>
                </c:pt>
                <c:pt idx="2">
                  <c:v>7.4176153898045332</c:v>
                </c:pt>
                <c:pt idx="3">
                  <c:v>7.4961002001766248</c:v>
                </c:pt>
                <c:pt idx="4">
                  <c:v>7.5745850105487165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17F-4918-94A4-618556A8E4BF}"/>
            </c:ext>
          </c:extLst>
        </c:ser>
        <c:ser>
          <c:idx val="3"/>
          <c:order val="3"/>
          <c:tx>
            <c:strRef>
              <c:f>big20_air_samp!$AA$8</c:f>
              <c:strCache>
                <c:ptCount val="1"/>
                <c:pt idx="0">
                  <c:v>CityPair3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big20_air_samp!$AA$9:$AA$13</c:f>
              <c:numCache>
                <c:formatCode>General</c:formatCode>
                <c:ptCount val="5"/>
                <c:pt idx="0">
                  <c:v>8.2093560950928648</c:v>
                </c:pt>
                <c:pt idx="1">
                  <c:v>8.2577840908608877</c:v>
                </c:pt>
                <c:pt idx="2">
                  <c:v>8.3062120866289106</c:v>
                </c:pt>
                <c:pt idx="3">
                  <c:v>8.3546400823969336</c:v>
                </c:pt>
                <c:pt idx="4">
                  <c:v>8.4030680781649565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D17F-4918-94A4-618556A8E4BF}"/>
            </c:ext>
          </c:extLst>
        </c:ser>
        <c:ser>
          <c:idx val="4"/>
          <c:order val="4"/>
          <c:tx>
            <c:strRef>
              <c:f>big20_air_samp!$AB$8</c:f>
              <c:strCache>
                <c:ptCount val="1"/>
                <c:pt idx="0">
                  <c:v>CityPair4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big20_air_samp!$AB$9:$AB$13</c:f>
              <c:numCache>
                <c:formatCode>General</c:formatCode>
                <c:ptCount val="5"/>
                <c:pt idx="0">
                  <c:v>7.3254847559868814</c:v>
                </c:pt>
                <c:pt idx="1">
                  <c:v>7.4349824030016389</c:v>
                </c:pt>
                <c:pt idx="2">
                  <c:v>7.5444800500163964</c:v>
                </c:pt>
                <c:pt idx="3">
                  <c:v>7.6539776970311539</c:v>
                </c:pt>
                <c:pt idx="4">
                  <c:v>7.7634753440459114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17F-4918-94A4-618556A8E4BF}"/>
            </c:ext>
          </c:extLst>
        </c:ser>
        <c:ser>
          <c:idx val="5"/>
          <c:order val="5"/>
          <c:tx>
            <c:strRef>
              <c:f>big20_air_samp!$AC$8</c:f>
              <c:strCache>
                <c:ptCount val="1"/>
                <c:pt idx="0">
                  <c:v>CityPair5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big20_air_samp!$AC$9:$AC$13</c:f>
              <c:numCache>
                <c:formatCode>General</c:formatCode>
                <c:ptCount val="5"/>
                <c:pt idx="0">
                  <c:v>6.0276181592752209</c:v>
                </c:pt>
                <c:pt idx="1">
                  <c:v>6.0908274521706334</c:v>
                </c:pt>
                <c:pt idx="2">
                  <c:v>6.1540367450660458</c:v>
                </c:pt>
                <c:pt idx="3">
                  <c:v>6.2172460379614582</c:v>
                </c:pt>
                <c:pt idx="4">
                  <c:v>6.2804553308568707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D17F-4918-94A4-618556A8E4BF}"/>
            </c:ext>
          </c:extLst>
        </c:ser>
        <c:ser>
          <c:idx val="6"/>
          <c:order val="6"/>
          <c:tx>
            <c:strRef>
              <c:f>big20_air_samp!$AD$8</c:f>
              <c:strCache>
                <c:ptCount val="1"/>
                <c:pt idx="0">
                  <c:v>CityPair6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big20_air_samp!$AD$9:$AD$13</c:f>
              <c:numCache>
                <c:formatCode>General</c:formatCode>
                <c:ptCount val="5"/>
                <c:pt idx="0">
                  <c:v>6.957055183020179</c:v>
                </c:pt>
                <c:pt idx="1">
                  <c:v>7.0028749869607623</c:v>
                </c:pt>
                <c:pt idx="2">
                  <c:v>7.0486947909013455</c:v>
                </c:pt>
                <c:pt idx="3">
                  <c:v>7.0945145948419288</c:v>
                </c:pt>
                <c:pt idx="4">
                  <c:v>7.1403343987825121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D17F-4918-94A4-618556A8E4BF}"/>
            </c:ext>
          </c:extLst>
        </c:ser>
        <c:ser>
          <c:idx val="7"/>
          <c:order val="7"/>
          <c:tx>
            <c:strRef>
              <c:f>big20_air_samp!$AE$8</c:f>
              <c:strCache>
                <c:ptCount val="1"/>
                <c:pt idx="0">
                  <c:v>CityPair7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big20_air_samp!$AE$9:$AE$13</c:f>
              <c:numCache>
                <c:formatCode>General</c:formatCode>
                <c:ptCount val="5"/>
                <c:pt idx="0">
                  <c:v>7.0481684937521241</c:v>
                </c:pt>
                <c:pt idx="1">
                  <c:v>7.1666482345843523</c:v>
                </c:pt>
                <c:pt idx="2">
                  <c:v>7.2851279754165805</c:v>
                </c:pt>
                <c:pt idx="3">
                  <c:v>7.4036077162488088</c:v>
                </c:pt>
                <c:pt idx="4">
                  <c:v>7.522087457081037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D17F-4918-94A4-618556A8E4BF}"/>
            </c:ext>
          </c:extLst>
        </c:ser>
        <c:ser>
          <c:idx val="8"/>
          <c:order val="8"/>
          <c:tx>
            <c:strRef>
              <c:f>big20_air_samp!$AF$8</c:f>
              <c:strCache>
                <c:ptCount val="1"/>
                <c:pt idx="0">
                  <c:v>CityPair8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big20_air_samp!$AF$9:$AF$13</c:f>
              <c:numCache>
                <c:formatCode>General</c:formatCode>
                <c:ptCount val="5"/>
                <c:pt idx="0">
                  <c:v>6.5020067166995421</c:v>
                </c:pt>
                <c:pt idx="1">
                  <c:v>6.5962384082606187</c:v>
                </c:pt>
                <c:pt idx="2">
                  <c:v>6.6904700998216953</c:v>
                </c:pt>
                <c:pt idx="3">
                  <c:v>6.7847017913827719</c:v>
                </c:pt>
                <c:pt idx="4">
                  <c:v>6.8789334829438484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D17F-4918-94A4-618556A8E4BF}"/>
            </c:ext>
          </c:extLst>
        </c:ser>
        <c:ser>
          <c:idx val="9"/>
          <c:order val="9"/>
          <c:tx>
            <c:strRef>
              <c:f>big20_air_samp!$AG$8</c:f>
              <c:strCache>
                <c:ptCount val="1"/>
                <c:pt idx="0">
                  <c:v>CityPair9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big20_air_samp!$AG$9:$AG$13</c:f>
              <c:numCache>
                <c:formatCode>General</c:formatCode>
                <c:ptCount val="5"/>
                <c:pt idx="0">
                  <c:v>8.0772997895432681</c:v>
                </c:pt>
                <c:pt idx="1">
                  <c:v>8.1061373294202248</c:v>
                </c:pt>
                <c:pt idx="2">
                  <c:v>8.1349748692971815</c:v>
                </c:pt>
                <c:pt idx="3">
                  <c:v>8.1638124091741382</c:v>
                </c:pt>
                <c:pt idx="4">
                  <c:v>8.1926499490510949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D17F-4918-94A4-618556A8E4BF}"/>
            </c:ext>
          </c:extLst>
        </c:ser>
        <c:ser>
          <c:idx val="10"/>
          <c:order val="10"/>
          <c:tx>
            <c:strRef>
              <c:f>big20_air_samp!$AH$8</c:f>
              <c:strCache>
                <c:ptCount val="1"/>
                <c:pt idx="0">
                  <c:v>CityPair10</c:v>
                </c:pt>
              </c:strCache>
            </c:strRef>
          </c:tx>
          <c:marker>
            <c:symbol val="none"/>
          </c:marker>
          <c:xVal>
            <c:numRef>
              <c:f>big20_air_samp!$W$9:$W$13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big20_air_samp!$AH$9:$AH$13</c:f>
              <c:numCache>
                <c:formatCode>General</c:formatCode>
                <c:ptCount val="5"/>
                <c:pt idx="0">
                  <c:v>6.3676458333747643</c:v>
                </c:pt>
                <c:pt idx="1">
                  <c:v>6.4001412283264854</c:v>
                </c:pt>
                <c:pt idx="2">
                  <c:v>6.4326366232782064</c:v>
                </c:pt>
                <c:pt idx="3">
                  <c:v>6.4651320182299274</c:v>
                </c:pt>
                <c:pt idx="4">
                  <c:v>6.4976274131816485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D17F-4918-94A4-618556A8E4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39392"/>
        <c:axId val="36549760"/>
      </c:scatterChart>
      <c:valAx>
        <c:axId val="36539392"/>
        <c:scaling>
          <c:orientation val="minMax"/>
          <c:max val="4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Year-1996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36549760"/>
        <c:crosses val="autoZero"/>
        <c:crossBetween val="midCat"/>
        <c:majorUnit val="1"/>
      </c:valAx>
      <c:valAx>
        <c:axId val="36549760"/>
        <c:scaling>
          <c:orientation val="minMax"/>
          <c:min val="6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ln(Revenue)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36539392"/>
        <c:crosses val="autoZero"/>
        <c:crossBetween val="midCat"/>
        <c:majorUnit val="0.5"/>
      </c:valAx>
      <c:spPr>
        <a:solidFill>
          <a:srgbClr val="FFFFCC"/>
        </a:solidFill>
      </c:spPr>
    </c:plotArea>
    <c:legend>
      <c:legendPos val="r"/>
      <c:overlay val="0"/>
    </c:legend>
    <c:plotVisOnly val="1"/>
    <c:dispBlanksAs val="gap"/>
    <c:showDLblsOverMax val="0"/>
  </c:chart>
  <c:spPr>
    <a:solidFill>
      <a:srgbClr val="CCECFF"/>
    </a:solidFill>
  </c:sp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FF6B2-9ADB-4950-99AE-3E41121364C7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EF35AB-163C-4FDC-82A6-A241143F32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11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D1BC1-2102-4135-96FE-84F081A967E7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24691-8E66-4571-91A4-96624F4F03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28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47D80-2D3D-41D3-8241-ECDE5CF04788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FD919C-C146-4646-B2D8-5F30EF0347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3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57238-7B07-4F3E-80A1-1C829CDAE172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EE2EA-3AF2-4B3F-8E4C-464A3783C3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967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4B4E1-E7CD-4D9F-9E2A-C169CCEA3B13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BEB30-FBC8-490F-9AD8-68572FA5DB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71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42521-185F-4AC7-88B8-779217290743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083F0B-5AFC-49CB-A554-AC77D520A5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29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4CFC2-E7B7-4F89-A1EB-1D66CCCCB880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EE16C-6522-400B-ACA3-DCC2BD829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808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ECFEA-5A85-4AC2-9C98-2B7E0A2B384D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7B3A8-392C-407E-8AEF-C57409A713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71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05416-6896-4547-9DD6-CCE9D1835936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14C54A-1CD3-4A83-B547-6C785581C5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68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34AFB5-F280-4B39-9CF2-381DA7B1D329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E7CB5E-501C-4483-AE6B-B7E0A1CDEB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29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87F2C-B3F4-420F-B904-530C70081F96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754B3-F3A2-4D05-A0D7-25BADF4C71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77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92052F5-7639-45CD-8DFF-B4ECD8C2AE59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E517E9A-2364-492A-A086-96FFC5F90BC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Random Coefficients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Air Revenues versus Year for 10 City Pairs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1400" dirty="0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1400" dirty="0"/>
              <a:t>M.L. </a:t>
            </a:r>
            <a:r>
              <a:rPr lang="en-US" sz="1400" dirty="0" err="1"/>
              <a:t>Gumpertz</a:t>
            </a:r>
            <a:r>
              <a:rPr lang="en-US" sz="1400" dirty="0"/>
              <a:t> and S.G. </a:t>
            </a:r>
            <a:r>
              <a:rPr lang="en-US" sz="1400" dirty="0" err="1"/>
              <a:t>Pantula</a:t>
            </a:r>
            <a:r>
              <a:rPr lang="en-US" sz="1400" dirty="0"/>
              <a:t> (1989). “A Simple Approach to Inferences in Random Coefficient Models,” </a:t>
            </a:r>
            <a:r>
              <a:rPr lang="en-US" sz="1400" i="1" dirty="0"/>
              <a:t>The American Statistician</a:t>
            </a:r>
            <a:r>
              <a:rPr lang="en-US" sz="1400" dirty="0"/>
              <a:t>, Vol. 43, pp. 203-210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Basic Model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990600"/>
          </a:xfrm>
        </p:spPr>
        <p:txBody>
          <a:bodyPr/>
          <a:lstStyle/>
          <a:p>
            <a:pPr eaLnBrk="1" hangingPunct="1"/>
            <a:r>
              <a:rPr lang="en-US" altLang="en-US" sz="2800"/>
              <a:t>Simple Linear Regression where each of </a:t>
            </a:r>
            <a:r>
              <a:rPr lang="en-US" altLang="en-US" sz="2800" i="1"/>
              <a:t>n</a:t>
            </a:r>
            <a:r>
              <a:rPr lang="en-US" altLang="en-US" sz="2800"/>
              <a:t> experimental units is observed at </a:t>
            </a:r>
            <a:r>
              <a:rPr lang="en-US" altLang="en-US" sz="2800" i="1"/>
              <a:t>t</a:t>
            </a:r>
            <a:r>
              <a:rPr lang="en-US" altLang="en-US" sz="2800"/>
              <a:t> points in time (typically) </a:t>
            </a:r>
          </a:p>
        </p:txBody>
      </p:sp>
      <p:graphicFrame>
        <p:nvGraphicFramePr>
          <p:cNvPr id="3076" name="Object 2" descr="Random Coefficient Regression Model&#10;Variance amd Covariance Structur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993007"/>
              </p:ext>
            </p:extLst>
          </p:nvPr>
        </p:nvGraphicFramePr>
        <p:xfrm>
          <a:off x="306388" y="2133600"/>
          <a:ext cx="8183562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11680" imgH="2412720" progId="Equation.DSMT4">
                  <p:embed/>
                </p:oleObj>
              </mc:Choice>
              <mc:Fallback>
                <p:oleObj name="Equation" r:id="rId2" imgW="4711680" imgH="24127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2133600"/>
                        <a:ext cx="8183562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4111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General Model (</a:t>
            </a:r>
            <a:r>
              <a:rPr lang="en-US" sz="3200" dirty="0" err="1"/>
              <a:t>Gumpertz</a:t>
            </a:r>
            <a:r>
              <a:rPr lang="en-US" sz="3200" dirty="0"/>
              <a:t> and </a:t>
            </a:r>
            <a:r>
              <a:rPr lang="en-US" sz="3200" dirty="0" err="1"/>
              <a:t>Pantula</a:t>
            </a:r>
            <a:r>
              <a:rPr lang="en-US" sz="3200" dirty="0"/>
              <a:t> (1989))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19100" y="766763"/>
            <a:ext cx="8229600" cy="1290637"/>
          </a:xfrm>
        </p:spPr>
        <p:txBody>
          <a:bodyPr/>
          <a:lstStyle/>
          <a:p>
            <a:pPr eaLnBrk="1" hangingPunct="1"/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Possibly Multiple Linear Regression where each of </a:t>
            </a:r>
            <a:r>
              <a:rPr lang="en-US" alt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experimental units is observed at </a:t>
            </a:r>
            <a:r>
              <a:rPr lang="en-US" alt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points in time, based on regression with </a:t>
            </a:r>
            <a:r>
              <a:rPr lang="en-US" alt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parameters</a:t>
            </a:r>
          </a:p>
          <a:p>
            <a:pPr eaLnBrk="1" hangingPunct="1"/>
            <a:endParaRPr lang="en-US" altLang="en-US" dirty="0"/>
          </a:p>
        </p:txBody>
      </p:sp>
      <p:graphicFrame>
        <p:nvGraphicFramePr>
          <p:cNvPr id="4100" name="Object 2" descr="Matrix form of General model&#10;Mean, Variance-covariance matrix and distribution of random response vector for ith observation uni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07690"/>
              </p:ext>
            </p:extLst>
          </p:nvPr>
        </p:nvGraphicFramePr>
        <p:xfrm>
          <a:off x="228600" y="2057400"/>
          <a:ext cx="8828087" cy="471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79680" imgH="2286000" progId="Equation.DSMT4">
                  <p:embed/>
                </p:oleObj>
              </mc:Choice>
              <mc:Fallback>
                <p:oleObj name="Equation" r:id="rId2" imgW="4279680" imgH="228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8828087" cy="471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15400" cy="5635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Estimating Individual/Population Regression Parameters</a:t>
            </a:r>
          </a:p>
        </p:txBody>
      </p:sp>
      <p:graphicFrame>
        <p:nvGraphicFramePr>
          <p:cNvPr id="5123" name="Object 2" descr="Estimating individual and prpulation regression coefficients and their sampling distribution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49802"/>
              </p:ext>
            </p:extLst>
          </p:nvPr>
        </p:nvGraphicFramePr>
        <p:xfrm>
          <a:off x="176421" y="1066800"/>
          <a:ext cx="8714958" cy="530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97280" imgH="2311200" progId="Equation.DSMT4">
                  <p:embed/>
                </p:oleObj>
              </mc:Choice>
              <mc:Fallback>
                <p:oleObj name="Equation" r:id="rId2" imgW="3797280" imgH="231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21" y="1066800"/>
                        <a:ext cx="8714958" cy="530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Estimating Variance Parameters - I</a:t>
            </a:r>
          </a:p>
        </p:txBody>
      </p:sp>
      <p:graphicFrame>
        <p:nvGraphicFramePr>
          <p:cNvPr id="6147" name="Object 2" descr="Estimating the error variance based on individual units' error sums of squar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741952"/>
              </p:ext>
            </p:extLst>
          </p:nvPr>
        </p:nvGraphicFramePr>
        <p:xfrm>
          <a:off x="265113" y="838200"/>
          <a:ext cx="8445500" cy="562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0000" imgH="2755800" progId="Equation.DSMT4">
                  <p:embed/>
                </p:oleObj>
              </mc:Choice>
              <mc:Fallback>
                <p:oleObj name="Equation" r:id="rId2" imgW="4140000" imgH="275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838200"/>
                        <a:ext cx="8445500" cy="562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Estimating Variance Parameters - II</a:t>
            </a:r>
          </a:p>
        </p:txBody>
      </p:sp>
      <p:graphicFrame>
        <p:nvGraphicFramePr>
          <p:cNvPr id="7171" name="Object 2" descr="Estimating the variance-covariance matrix of the random regression coefficien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438370"/>
              </p:ext>
            </p:extLst>
          </p:nvPr>
        </p:nvGraphicFramePr>
        <p:xfrm>
          <a:off x="811213" y="1233488"/>
          <a:ext cx="7521575" cy="506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73520" imgH="3149280" progId="Equation.DSMT4">
                  <p:embed/>
                </p:oleObj>
              </mc:Choice>
              <mc:Fallback>
                <p:oleObj name="Equation" r:id="rId2" imgW="4673520" imgH="31492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233488"/>
                        <a:ext cx="7521575" cy="506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Estimating Variance Parameters - III</a:t>
            </a:r>
          </a:p>
        </p:txBody>
      </p:sp>
      <p:graphicFrame>
        <p:nvGraphicFramePr>
          <p:cNvPr id="7171" name="Object 2" descr="Estimating the variance-covariance matrix of the random regression coefficients.&#10;Estimating variance-covariance matrix of the estimated mean regression coefficient vecto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38294"/>
              </p:ext>
            </p:extLst>
          </p:nvPr>
        </p:nvGraphicFramePr>
        <p:xfrm>
          <a:off x="422275" y="723900"/>
          <a:ext cx="8299450" cy="608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55920" imgH="3784320" progId="Equation.DSMT4">
                  <p:embed/>
                </p:oleObj>
              </mc:Choice>
              <mc:Fallback>
                <p:oleObj name="Equation" r:id="rId2" imgW="5155920" imgH="3784320" progId="Equation.DSMT4">
                  <p:embed/>
                  <p:pic>
                    <p:nvPicPr>
                      <p:cNvPr id="717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723900"/>
                        <a:ext cx="8299450" cy="608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615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563562"/>
          </a:xfrm>
        </p:spPr>
        <p:txBody>
          <a:bodyPr/>
          <a:lstStyle/>
          <a:p>
            <a:r>
              <a:rPr lang="en-US" altLang="en-US" sz="3600" dirty="0"/>
              <a:t>Example – Annual Air Revenues for 10 Markets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2438400"/>
          </a:xfrm>
        </p:spPr>
        <p:txBody>
          <a:bodyPr/>
          <a:lstStyle/>
          <a:p>
            <a:r>
              <a:rPr lang="en-US" altLang="en-US" sz="2800"/>
              <a:t>Random Sample of n = 10 large air markets (City Pairs), each observed over 5 years</a:t>
            </a:r>
          </a:p>
          <a:p>
            <a:r>
              <a:rPr lang="en-US" altLang="en-US" sz="2800"/>
              <a:t>Y = ln(Average Fare * Average weekly Passengers)</a:t>
            </a:r>
          </a:p>
          <a:p>
            <a:r>
              <a:rPr lang="en-US" altLang="en-US" sz="2800"/>
              <a:t>X = Year (1996/7=0, 2000/1=4) – Note: All Cities have same levels of X (not necessary for the method)</a:t>
            </a:r>
            <a:r>
              <a:rPr lang="en-US" altLang="en-US"/>
              <a:t> </a:t>
            </a:r>
          </a:p>
        </p:txBody>
      </p:sp>
      <p:graphicFrame>
        <p:nvGraphicFramePr>
          <p:cNvPr id="8196" name="Object 2" descr="Data for Y=ln(Revenue) and X=Year-1996 for 10 city pai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082578"/>
              </p:ext>
            </p:extLst>
          </p:nvPr>
        </p:nvGraphicFramePr>
        <p:xfrm>
          <a:off x="228600" y="3505200"/>
          <a:ext cx="8610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86850" imgH="1209675" progId="Excel.Sheet.8">
                  <p:embed/>
                </p:oleObj>
              </mc:Choice>
              <mc:Fallback>
                <p:oleObj name="Worksheet" r:id="rId2" imgW="9086850" imgH="1209675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05200"/>
                        <a:ext cx="86106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 descr="Inverse of X'X matrix for each city pai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871642"/>
              </p:ext>
            </p:extLst>
          </p:nvPr>
        </p:nvGraphicFramePr>
        <p:xfrm>
          <a:off x="3124200" y="5334000"/>
          <a:ext cx="282416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333545" imgH="609539" progId="Excel.Sheet.8">
                  <p:embed/>
                </p:oleObj>
              </mc:Choice>
              <mc:Fallback>
                <p:oleObj name="Worksheet" r:id="rId4" imgW="1333545" imgH="609539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334000"/>
                        <a:ext cx="2824163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/>
          <a:lstStyle/>
          <a:p>
            <a:r>
              <a:rPr lang="en-US" altLang="en-US" sz="3600" dirty="0"/>
              <a:t>Air Revenue Data II</a:t>
            </a:r>
          </a:p>
        </p:txBody>
      </p:sp>
      <p:graphicFrame>
        <p:nvGraphicFramePr>
          <p:cNvPr id="9220" name="Object 4" descr="Estimated regression coefficients, fitted values, residuals, Error sum of squares and coefficient deviations for each city pai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562896"/>
              </p:ext>
            </p:extLst>
          </p:nvPr>
        </p:nvGraphicFramePr>
        <p:xfrm>
          <a:off x="152400" y="838200"/>
          <a:ext cx="7153275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53332" imgH="5010180" progId="Excel.Sheet.8">
                  <p:embed/>
                </p:oleObj>
              </mc:Choice>
              <mc:Fallback>
                <p:oleObj name="Worksheet" r:id="rId2" imgW="7153332" imgH="501018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838200"/>
                        <a:ext cx="7153275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Estimated overall mean regression coefficient vector&#10;Estimated error variance&#10;Estimated Variance-Covariance matrix of random coefficients&#10;Estimated Variance-covariance matrix for estimated population mean regression coefficients and standard err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70819"/>
              </p:ext>
            </p:extLst>
          </p:nvPr>
        </p:nvGraphicFramePr>
        <p:xfrm>
          <a:off x="7543800" y="990600"/>
          <a:ext cx="1371600" cy="4902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342957" imgH="3810000" progId="Excel.Sheet.8">
                  <p:embed/>
                </p:oleObj>
              </mc:Choice>
              <mc:Fallback>
                <p:oleObj name="Worksheet" r:id="rId4" imgW="1342957" imgH="3810000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43800" y="990600"/>
                        <a:ext cx="1371600" cy="4902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7BBF33-0475-E223-616C-800C0C1D7D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Plot of Fitted Model with Separate Lines for Each City Pair</a:t>
            </a:r>
          </a:p>
        </p:txBody>
      </p:sp>
      <p:graphicFrame>
        <p:nvGraphicFramePr>
          <p:cNvPr id="2" name="Chart 1" descr="Plot of estimated overall mean regression equation and individual random equa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51258"/>
              </p:ext>
            </p:extLst>
          </p:nvPr>
        </p:nvGraphicFramePr>
        <p:xfrm>
          <a:off x="235793" y="288414"/>
          <a:ext cx="8672413" cy="6281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213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Office Theme</vt:lpstr>
      <vt:lpstr>MathType 7.0 Equation</vt:lpstr>
      <vt:lpstr>Worksheet</vt:lpstr>
      <vt:lpstr>Random Coefficients Regression</vt:lpstr>
      <vt:lpstr>Basic Model</vt:lpstr>
      <vt:lpstr>General Model (Gumpertz and Pantula (1989))</vt:lpstr>
      <vt:lpstr>Estimating Individual/Population Regression Parameters</vt:lpstr>
      <vt:lpstr>Estimating Variance Parameters - I</vt:lpstr>
      <vt:lpstr>Estimating Variance Parameters - II</vt:lpstr>
      <vt:lpstr>Estimating Variance Parameters - III</vt:lpstr>
      <vt:lpstr>Example – Annual Air Revenues for 10 Markets</vt:lpstr>
      <vt:lpstr>Air Revenue Data II</vt:lpstr>
      <vt:lpstr>Plot of Fitted Model with Separate Lines for Each City Pair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Coefficients Regression</dc:title>
  <dc:creator>winner</dc:creator>
  <cp:lastModifiedBy>Winner,Lawrence Herman</cp:lastModifiedBy>
  <cp:revision>42</cp:revision>
  <dcterms:created xsi:type="dcterms:W3CDTF">2009-12-08T14:51:26Z</dcterms:created>
  <dcterms:modified xsi:type="dcterms:W3CDTF">2026-03-18T13:17:17Z</dcterms:modified>
</cp:coreProperties>
</file>